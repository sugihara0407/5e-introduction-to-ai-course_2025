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8" r:id="rId2"/>
    <p:sldId id="272" r:id="rId3"/>
    <p:sldId id="259" r:id="rId4"/>
    <p:sldId id="271" r:id="rId5"/>
    <p:sldId id="266" r:id="rId6"/>
    <p:sldId id="267" r:id="rId7"/>
    <p:sldId id="268" r:id="rId8"/>
    <p:sldId id="269" r:id="rId9"/>
    <p:sldId id="261" r:id="rId10"/>
    <p:sldId id="264" r:id="rId11"/>
    <p:sldId id="257" r:id="rId12"/>
    <p:sldId id="265" r:id="rId13"/>
    <p:sldId id="260" r:id="rId14"/>
    <p:sldId id="262" r:id="rId15"/>
    <p:sldId id="263" r:id="rId16"/>
    <p:sldId id="270" r:id="rId17"/>
    <p:sldId id="273" r:id="rId18"/>
    <p:sldId id="274"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424" autoAdjust="0"/>
  </p:normalViewPr>
  <p:slideViewPr>
    <p:cSldViewPr snapToGrid="0">
      <p:cViewPr varScale="1">
        <p:scale>
          <a:sx n="54" d="100"/>
          <a:sy n="54" d="100"/>
        </p:scale>
        <p:origin x="178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A17FB5-C91E-4527-B828-4F3307A3F60B}"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58022E-C717-4CDB-8CAD-57D6542066B3}" type="slidenum">
              <a:rPr kumimoji="1" lang="ja-JP" altLang="en-US" smtClean="0"/>
              <a:t>‹#›</a:t>
            </a:fld>
            <a:endParaRPr kumimoji="1" lang="ja-JP" altLang="en-US"/>
          </a:p>
        </p:txBody>
      </p:sp>
    </p:spTree>
    <p:extLst>
      <p:ext uri="{BB962C8B-B14F-4D97-AF65-F5344CB8AC3E}">
        <p14:creationId xmlns:p14="http://schemas.microsoft.com/office/powerpoint/2010/main" val="42316497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time I used machine learning to predict test scores.</a:t>
            </a:r>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1</a:t>
            </a:fld>
            <a:endParaRPr kumimoji="1" lang="ja-JP" altLang="en-US"/>
          </a:p>
        </p:txBody>
      </p:sp>
    </p:spTree>
    <p:extLst>
      <p:ext uri="{BB962C8B-B14F-4D97-AF65-F5344CB8AC3E}">
        <p14:creationId xmlns:p14="http://schemas.microsoft.com/office/powerpoint/2010/main" val="1393648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There are two reasons why we used machine learning.</a:t>
            </a:r>
          </a:p>
          <a:p>
            <a:r>
              <a:rPr kumimoji="1" lang="en-US" altLang="ja-JP" dirty="0"/>
              <a:t>First, for large-scale tests like national mock exams, it's important to know your test score at the end of the test. However, this takes time.</a:t>
            </a:r>
          </a:p>
          <a:p>
            <a:r>
              <a:rPr kumimoji="1" lang="en-US" altLang="ja-JP" dirty="0"/>
              <a:t>Second, studying is extremely difficult, and if possible, you want to avoid failing in the shortest possible time.</a:t>
            </a:r>
          </a:p>
          <a:p>
            <a:r>
              <a:rPr kumimoji="1" lang="en-US" altLang="ja-JP" dirty="0"/>
              <a:t>↓</a:t>
            </a:r>
          </a:p>
          <a:p>
            <a:r>
              <a:rPr kumimoji="1" lang="en-US" altLang="ja-JP" dirty="0"/>
              <a:t>For these reasons, we need to predict test scores.</a:t>
            </a:r>
          </a:p>
          <a:p>
            <a:endParaRPr kumimoji="1" lang="en-US" altLang="ja-JP" dirty="0"/>
          </a:p>
          <a:p>
            <a:r>
              <a:rPr kumimoji="1" lang="ja-JP" altLang="en-US" dirty="0"/>
              <a:t>機械学習を行った理由は二つある。</a:t>
            </a:r>
            <a:endParaRPr kumimoji="1" lang="en-US" altLang="ja-JP" dirty="0"/>
          </a:p>
          <a:p>
            <a:r>
              <a:rPr kumimoji="1" lang="ja-JP" altLang="en-US" dirty="0"/>
              <a:t>一つ目の理由として、全国模試などの大きい規模のテストではテスト終わりに自分のテストの点数を把握することが大切。しかしそれには時間がかかる。</a:t>
            </a:r>
            <a:endParaRPr kumimoji="1" lang="en-US" altLang="ja-JP" dirty="0"/>
          </a:p>
          <a:p>
            <a:r>
              <a:rPr kumimoji="1" lang="ja-JP" altLang="en-US" dirty="0"/>
              <a:t>二つ目の理由として、勉強はめっちゃ大変、できれば最低の時間で赤点を回避したい。</a:t>
            </a:r>
            <a:endParaRPr kumimoji="1" lang="en-US" altLang="ja-JP" dirty="0"/>
          </a:p>
          <a:p>
            <a:r>
              <a:rPr kumimoji="1" lang="ja-JP" altLang="en-US" dirty="0"/>
              <a:t>↓</a:t>
            </a:r>
            <a:endParaRPr kumimoji="1" lang="en-US" altLang="ja-JP" dirty="0"/>
          </a:p>
          <a:p>
            <a:r>
              <a:rPr kumimoji="1" lang="ja-JP" altLang="en-US" dirty="0"/>
              <a:t>これらの理由からテストの点数を予測する必要がある</a:t>
            </a:r>
            <a:endParaRPr kumimoji="1" lang="en-US" altLang="ja-JP"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2</a:t>
            </a:fld>
            <a:endParaRPr kumimoji="1" lang="ja-JP" altLang="en-US"/>
          </a:p>
        </p:txBody>
      </p:sp>
    </p:spTree>
    <p:extLst>
      <p:ext uri="{BB962C8B-B14F-4D97-AF65-F5344CB8AC3E}">
        <p14:creationId xmlns:p14="http://schemas.microsoft.com/office/powerpoint/2010/main" val="332932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The dataset used here is Timothy Adeyemi's Student Performance dataset. This dataset includes information that affects grades, such as study time and attendance.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r>
              <a:rPr kumimoji="1" lang="en-US" altLang="ja-JP" dirty="0"/>
              <a:t>Among these data, we will use the data for </a:t>
            </a:r>
            <a:r>
              <a:rPr kumimoji="1" lang="en-US" altLang="ja-JP" dirty="0" err="1"/>
              <a:t>Hours_Studied</a:t>
            </a:r>
            <a:r>
              <a:rPr kumimoji="1" lang="en-US" altLang="ja-JP" dirty="0"/>
              <a:t>, </a:t>
            </a:r>
            <a:r>
              <a:rPr kumimoji="1" lang="en-US" altLang="ja-JP" dirty="0" err="1"/>
              <a:t>Attendance,Motivation_Level</a:t>
            </a:r>
            <a:r>
              <a:rPr kumimoji="1" lang="en-US" altLang="ja-JP" dirty="0"/>
              <a:t>, and </a:t>
            </a:r>
            <a:r>
              <a:rPr kumimoji="1" lang="en-US" altLang="ja-JP" dirty="0" err="1"/>
              <a:t>Sleep_Hours</a:t>
            </a:r>
            <a:r>
              <a:rPr kumimoji="1" lang="en-US" altLang="ja-JP" dirty="0"/>
              <a:t> to make predictions.</a:t>
            </a:r>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3</a:t>
            </a:fld>
            <a:endParaRPr kumimoji="1" lang="ja-JP" altLang="en-US"/>
          </a:p>
        </p:txBody>
      </p:sp>
    </p:spTree>
    <p:extLst>
      <p:ext uri="{BB962C8B-B14F-4D97-AF65-F5344CB8AC3E}">
        <p14:creationId xmlns:p14="http://schemas.microsoft.com/office/powerpoint/2010/main" val="3731979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 algorithm used is as follows:</a:t>
            </a:r>
          </a:p>
          <a:p>
            <a:r>
              <a:rPr kumimoji="1" lang="ja-JP" altLang="en-US" dirty="0"/>
              <a:t>・</a:t>
            </a:r>
            <a:r>
              <a:rPr kumimoji="1" lang="en-US" altLang="ja-JP" dirty="0"/>
              <a:t>Linear </a:t>
            </a:r>
            <a:r>
              <a:rPr kumimoji="1" lang="en-US" altLang="ja-JP" dirty="0" err="1"/>
              <a:t>regretrion</a:t>
            </a:r>
            <a:r>
              <a:rPr kumimoji="1" lang="en-US" altLang="ja-JP" dirty="0"/>
              <a:t> is an analytical method used to predict the value of one variable based on the value of another variable.</a:t>
            </a:r>
            <a:r>
              <a:rPr kumimoji="1" lang="ja-JP" altLang="en-US" dirty="0"/>
              <a:t>。</a:t>
            </a:r>
            <a:endParaRPr kumimoji="1" lang="en-US" altLang="ja-JP" dirty="0"/>
          </a:p>
          <a:p>
            <a:r>
              <a:rPr kumimoji="1" lang="ja-JP" altLang="en-US" dirty="0"/>
              <a:t>・</a:t>
            </a:r>
            <a:r>
              <a:rPr kumimoji="1" lang="en-US" altLang="ja-JP" dirty="0"/>
              <a:t>Lasso </a:t>
            </a:r>
            <a:r>
              <a:rPr kumimoji="1" lang="en-US" altLang="ja-JP" dirty="0" err="1"/>
              <a:t>regretion</a:t>
            </a:r>
            <a:r>
              <a:rPr kumimoji="1" lang="en-US" altLang="ja-JP" dirty="0"/>
              <a:t> is a training method that adds an L1 regularization term (the sum of the absolute values ​​of the regression coefficients) to a linear regression model. By forcibly setting the coefficients of unimportant explanatory variables to zero, unnecessary features are automatically removed, simplifying the model and preventing overfitting.</a:t>
            </a:r>
          </a:p>
          <a:p>
            <a:r>
              <a:rPr kumimoji="1" lang="ja-JP" altLang="en-US" dirty="0"/>
              <a:t>・</a:t>
            </a:r>
            <a:r>
              <a:rPr kumimoji="1" lang="en-US" altLang="ja-JP" dirty="0"/>
              <a:t>Ridge regression is a method that suppresses overfitting by adding L2 regularization to a linear regression model.</a:t>
            </a:r>
          </a:p>
          <a:p>
            <a:r>
              <a:rPr kumimoji="1" lang="ja-JP" altLang="en-US" dirty="0"/>
              <a:t>・</a:t>
            </a:r>
            <a:r>
              <a:rPr kumimoji="1" lang="en-US" altLang="ja-JP" dirty="0"/>
              <a:t>Hoober regret is a type of robust regression.</a:t>
            </a:r>
          </a:p>
          <a:p>
            <a:r>
              <a:rPr kumimoji="1" lang="en-US" altLang="ja-JP" dirty="0"/>
              <a:t>Adding a Hoober function to the loss for regression.</a:t>
            </a:r>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4</a:t>
            </a:fld>
            <a:endParaRPr kumimoji="1" lang="ja-JP" altLang="en-US"/>
          </a:p>
        </p:txBody>
      </p:sp>
    </p:spTree>
    <p:extLst>
      <p:ext uri="{BB962C8B-B14F-4D97-AF65-F5344CB8AC3E}">
        <p14:creationId xmlns:p14="http://schemas.microsoft.com/office/powerpoint/2010/main" val="32270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AF8BB-FA69-CD55-ED1B-D88AF2F0F2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78C615-1D71-1B8B-6865-9D6B0E799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669D9C-4901-103A-0726-B10E32595243}"/>
              </a:ext>
            </a:extLst>
          </p:cNvPr>
          <p:cNvSpPr>
            <a:spLocks noGrp="1"/>
          </p:cNvSpPr>
          <p:nvPr>
            <p:ph type="body" idx="1"/>
          </p:nvPr>
        </p:nvSpPr>
        <p:spPr/>
        <p:txBody>
          <a:bodyPr/>
          <a:lstStyle/>
          <a:p>
            <a:r>
              <a:rPr kumimoji="1" lang="en-US" altLang="ja-JP" dirty="0"/>
              <a:t>The elements are shown in this diagram. </a:t>
            </a:r>
          </a:p>
          <a:p>
            <a:r>
              <a:rPr kumimoji="1" lang="en-US" altLang="ja-JP" dirty="0"/>
              <a:t>After standardization, the table will look like this</a:t>
            </a:r>
          </a:p>
          <a:p>
            <a:endParaRPr kumimoji="1" lang="en-US" altLang="ja-JP" dirty="0"/>
          </a:p>
          <a:p>
            <a:r>
              <a:rPr kumimoji="1" lang="ja-JP" altLang="en-US" dirty="0"/>
              <a:t>要素はこの図になります。</a:t>
            </a:r>
            <a:endParaRPr kumimoji="1" lang="en-US" altLang="ja-JP" dirty="0"/>
          </a:p>
          <a:p>
            <a:r>
              <a:rPr kumimoji="1" lang="ja-JP" altLang="en-US" dirty="0"/>
              <a:t>標準化を行ったらこの表になります</a:t>
            </a:r>
          </a:p>
        </p:txBody>
      </p:sp>
      <p:sp>
        <p:nvSpPr>
          <p:cNvPr id="4" name="スライド番号プレースホルダー 3">
            <a:extLst>
              <a:ext uri="{FF2B5EF4-FFF2-40B4-BE49-F238E27FC236}">
                <a16:creationId xmlns:a16="http://schemas.microsoft.com/office/drawing/2014/main" id="{E176775A-A64C-6144-9831-3C3AA764E782}"/>
              </a:ext>
            </a:extLst>
          </p:cNvPr>
          <p:cNvSpPr>
            <a:spLocks noGrp="1"/>
          </p:cNvSpPr>
          <p:nvPr>
            <p:ph type="sldNum" sz="quarter" idx="5"/>
          </p:nvPr>
        </p:nvSpPr>
        <p:spPr/>
        <p:txBody>
          <a:bodyPr/>
          <a:lstStyle/>
          <a:p>
            <a:fld id="{9A58022E-C717-4CDB-8CAD-57D6542066B3}" type="slidenum">
              <a:rPr kumimoji="1" lang="ja-JP" altLang="en-US" smtClean="0"/>
              <a:t>5</a:t>
            </a:fld>
            <a:endParaRPr kumimoji="1" lang="ja-JP" altLang="en-US"/>
          </a:p>
        </p:txBody>
      </p:sp>
    </p:spTree>
    <p:extLst>
      <p:ext uri="{BB962C8B-B14F-4D97-AF65-F5344CB8AC3E}">
        <p14:creationId xmlns:p14="http://schemas.microsoft.com/office/powerpoint/2010/main" val="1106827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87DA9-3CBC-71ED-79B7-64BFB7148E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6F9298-36D7-6E4F-74F9-92DCF1D2B4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4F37A7-11D7-95DE-8734-3605213DCAB3}"/>
              </a:ext>
            </a:extLst>
          </p:cNvPr>
          <p:cNvSpPr>
            <a:spLocks noGrp="1"/>
          </p:cNvSpPr>
          <p:nvPr>
            <p:ph type="body" idx="1"/>
          </p:nvPr>
        </p:nvSpPr>
        <p:spPr/>
        <p:txBody>
          <a:bodyPr/>
          <a:lstStyle/>
          <a:p>
            <a:r>
              <a:rPr kumimoji="1" lang="en-US" altLang="ja-JP" dirty="0"/>
              <a:t>The results of linear regression and lasso regression are shown in the graph below.</a:t>
            </a:r>
          </a:p>
          <a:p>
            <a:r>
              <a:rPr kumimoji="1" lang="en-US" altLang="ja-JP" dirty="0"/>
              <a:t>The results of lasso regression seem to have a bit more error.</a:t>
            </a:r>
          </a:p>
          <a:p>
            <a:endParaRPr kumimoji="1" lang="en-US" altLang="ja-JP" dirty="0"/>
          </a:p>
          <a:p>
            <a:r>
              <a:rPr kumimoji="1" lang="ja-JP" altLang="en-US" dirty="0"/>
              <a:t>線形回帰、ラッソ回帰を行った結果、このような図になっています。</a:t>
            </a:r>
            <a:endParaRPr kumimoji="1" lang="en-US" altLang="ja-JP" dirty="0"/>
          </a:p>
          <a:p>
            <a:r>
              <a:rPr kumimoji="1" lang="ja-JP" altLang="en-US" dirty="0"/>
              <a:t>ラッソ回帰では結果から少し誤差が多いように思える。</a:t>
            </a:r>
          </a:p>
        </p:txBody>
      </p:sp>
      <p:sp>
        <p:nvSpPr>
          <p:cNvPr id="4" name="スライド番号プレースホルダー 3">
            <a:extLst>
              <a:ext uri="{FF2B5EF4-FFF2-40B4-BE49-F238E27FC236}">
                <a16:creationId xmlns:a16="http://schemas.microsoft.com/office/drawing/2014/main" id="{F804E95A-3F38-F9DA-C5EA-DEBF179B60BD}"/>
              </a:ext>
            </a:extLst>
          </p:cNvPr>
          <p:cNvSpPr>
            <a:spLocks noGrp="1"/>
          </p:cNvSpPr>
          <p:nvPr>
            <p:ph type="sldNum" sz="quarter" idx="5"/>
          </p:nvPr>
        </p:nvSpPr>
        <p:spPr/>
        <p:txBody>
          <a:bodyPr/>
          <a:lstStyle/>
          <a:p>
            <a:fld id="{9A58022E-C717-4CDB-8CAD-57D6542066B3}" type="slidenum">
              <a:rPr kumimoji="1" lang="ja-JP" altLang="en-US" smtClean="0"/>
              <a:t>6</a:t>
            </a:fld>
            <a:endParaRPr kumimoji="1" lang="ja-JP" altLang="en-US"/>
          </a:p>
        </p:txBody>
      </p:sp>
    </p:spTree>
    <p:extLst>
      <p:ext uri="{BB962C8B-B14F-4D97-AF65-F5344CB8AC3E}">
        <p14:creationId xmlns:p14="http://schemas.microsoft.com/office/powerpoint/2010/main" val="2396504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CC82-750A-A250-C9D9-E11E0B70BC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1B0AC8-347B-250F-DFA9-B112BDC203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172F913-0FE6-22E0-46BF-D459C2E69A9D}"/>
              </a:ext>
            </a:extLst>
          </p:cNvPr>
          <p:cNvSpPr>
            <a:spLocks noGrp="1"/>
          </p:cNvSpPr>
          <p:nvPr>
            <p:ph type="body" idx="1"/>
          </p:nvPr>
        </p:nvSpPr>
        <p:spPr/>
        <p:txBody>
          <a:bodyPr/>
          <a:lstStyle/>
          <a:p>
            <a:r>
              <a:rPr kumimoji="1" lang="en-US" altLang="ja-JP" dirty="0"/>
              <a:t>The results of Ridge regression and Huber regression are shown in the graph below.</a:t>
            </a:r>
          </a:p>
          <a:p>
            <a:r>
              <a:rPr kumimoji="1" lang="en-US" altLang="ja-JP" dirty="0"/>
              <a:t>It seems that Huber regression has less error in the results.</a:t>
            </a:r>
          </a:p>
          <a:p>
            <a:r>
              <a:rPr kumimoji="1" lang="en-US" altLang="ja-JP" dirty="0"/>
              <a:t>When compared to the previous results, the results are similar and not much has changed.</a:t>
            </a:r>
          </a:p>
          <a:p>
            <a:endParaRPr kumimoji="1" lang="en-US" altLang="ja-JP" dirty="0"/>
          </a:p>
          <a:p>
            <a:r>
              <a:rPr kumimoji="1" lang="ja-JP" altLang="en-US" dirty="0"/>
              <a:t>リッジ回帰、フーバー回帰を行った結果、このような図になっています。</a:t>
            </a:r>
            <a:endParaRPr kumimoji="1" lang="en-US" altLang="ja-JP" dirty="0"/>
          </a:p>
          <a:p>
            <a:r>
              <a:rPr kumimoji="1" lang="ja-JP" altLang="en-US" dirty="0"/>
              <a:t>フーバー回帰のほうが結果から誤差が少ないように思える。</a:t>
            </a:r>
          </a:p>
          <a:p>
            <a:r>
              <a:rPr kumimoji="1" lang="ja-JP" altLang="en-US" dirty="0"/>
              <a:t>先ほどの結果と比較すると同じような結</a:t>
            </a:r>
            <a:endParaRPr kumimoji="1" lang="en-US" altLang="ja-JP" dirty="0"/>
          </a:p>
          <a:p>
            <a:r>
              <a:rPr kumimoji="1" lang="ja-JP" altLang="en-US" dirty="0"/>
              <a:t>果となり、変化があまり見られなかった。</a:t>
            </a:r>
          </a:p>
        </p:txBody>
      </p:sp>
      <p:sp>
        <p:nvSpPr>
          <p:cNvPr id="4" name="スライド番号プレースホルダー 3">
            <a:extLst>
              <a:ext uri="{FF2B5EF4-FFF2-40B4-BE49-F238E27FC236}">
                <a16:creationId xmlns:a16="http://schemas.microsoft.com/office/drawing/2014/main" id="{EA3F6D19-2DC1-DA07-1400-2D51C9905D4F}"/>
              </a:ext>
            </a:extLst>
          </p:cNvPr>
          <p:cNvSpPr>
            <a:spLocks noGrp="1"/>
          </p:cNvSpPr>
          <p:nvPr>
            <p:ph type="sldNum" sz="quarter" idx="5"/>
          </p:nvPr>
        </p:nvSpPr>
        <p:spPr/>
        <p:txBody>
          <a:bodyPr/>
          <a:lstStyle/>
          <a:p>
            <a:fld id="{9A58022E-C717-4CDB-8CAD-57D6542066B3}" type="slidenum">
              <a:rPr kumimoji="1" lang="ja-JP" altLang="en-US" smtClean="0"/>
              <a:t>7</a:t>
            </a:fld>
            <a:endParaRPr kumimoji="1" lang="ja-JP" altLang="en-US"/>
          </a:p>
        </p:txBody>
      </p:sp>
    </p:spTree>
    <p:extLst>
      <p:ext uri="{BB962C8B-B14F-4D97-AF65-F5344CB8AC3E}">
        <p14:creationId xmlns:p14="http://schemas.microsoft.com/office/powerpoint/2010/main" val="4045193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Summary</a:t>
            </a:r>
          </a:p>
          <a:p>
            <a:r>
              <a:rPr lang="ja-JP" altLang="en-US" dirty="0"/>
              <a:t>・</a:t>
            </a:r>
            <a:r>
              <a:rPr lang="en-US" altLang="ja-JP" dirty="0"/>
              <a:t>This time, analysis was performed using four analysis methods.</a:t>
            </a:r>
          </a:p>
          <a:p>
            <a:r>
              <a:rPr lang="ja-JP" altLang="en-US" dirty="0"/>
              <a:t>・</a:t>
            </a:r>
            <a:r>
              <a:rPr lang="en-US" altLang="ja-JP" dirty="0"/>
              <a:t>The results showed little error and a good R2 score. Therefore, it is thought that scores can be estimated to a certain extent from the data.</a:t>
            </a:r>
          </a:p>
          <a:p>
            <a:r>
              <a:rPr lang="ja-JP" altLang="en-US" dirty="0"/>
              <a:t>・</a:t>
            </a:r>
            <a:r>
              <a:rPr lang="en-US" altLang="ja-JP" dirty="0"/>
              <a:t>Unsupervised learning was performed using all four methods, but no changes were observed, so other methods will need to be considered.</a:t>
            </a:r>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8</a:t>
            </a:fld>
            <a:endParaRPr kumimoji="1" lang="ja-JP" altLang="en-US"/>
          </a:p>
        </p:txBody>
      </p:sp>
    </p:spTree>
    <p:extLst>
      <p:ext uri="{BB962C8B-B14F-4D97-AF65-F5344CB8AC3E}">
        <p14:creationId xmlns:p14="http://schemas.microsoft.com/office/powerpoint/2010/main" val="3520335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5E9FE-5AEA-DB9F-3479-38955769C1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8A6E2C-2620-50FE-C012-9F252866C7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B13042-0A82-159C-F951-429E1BA162F7}"/>
              </a:ext>
            </a:extLst>
          </p:cNvPr>
          <p:cNvSpPr>
            <a:spLocks noGrp="1"/>
          </p:cNvSpPr>
          <p:nvPr>
            <p:ph type="body" idx="1"/>
          </p:nvPr>
        </p:nvSpPr>
        <p:spPr/>
        <p:txBody>
          <a:bodyPr/>
          <a:lstStyle/>
          <a:p>
            <a:r>
              <a:rPr kumimoji="1" lang="ja-JP" altLang="en-US" dirty="0"/>
              <a:t>テストの点数を機械学習で予測を行いました</a:t>
            </a:r>
          </a:p>
        </p:txBody>
      </p:sp>
      <p:sp>
        <p:nvSpPr>
          <p:cNvPr id="4" name="スライド番号プレースホルダー 3">
            <a:extLst>
              <a:ext uri="{FF2B5EF4-FFF2-40B4-BE49-F238E27FC236}">
                <a16:creationId xmlns:a16="http://schemas.microsoft.com/office/drawing/2014/main" id="{606A6AEF-38F9-F68D-7382-64E386755178}"/>
              </a:ext>
            </a:extLst>
          </p:cNvPr>
          <p:cNvSpPr>
            <a:spLocks noGrp="1"/>
          </p:cNvSpPr>
          <p:nvPr>
            <p:ph type="sldNum" sz="quarter" idx="5"/>
          </p:nvPr>
        </p:nvSpPr>
        <p:spPr/>
        <p:txBody>
          <a:bodyPr/>
          <a:lstStyle/>
          <a:p>
            <a:fld id="{9A58022E-C717-4CDB-8CAD-57D6542066B3}" type="slidenum">
              <a:rPr kumimoji="1" lang="ja-JP" altLang="en-US" smtClean="0"/>
              <a:t>10</a:t>
            </a:fld>
            <a:endParaRPr kumimoji="1" lang="ja-JP" altLang="en-US"/>
          </a:p>
        </p:txBody>
      </p:sp>
    </p:spTree>
    <p:extLst>
      <p:ext uri="{BB962C8B-B14F-4D97-AF65-F5344CB8AC3E}">
        <p14:creationId xmlns:p14="http://schemas.microsoft.com/office/powerpoint/2010/main" val="3802946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BC0D-35EF-1D5C-0AE1-A4A0D63428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F0CC41-586E-C6B2-4476-A64508FDFC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5DF9CB-B66A-2C97-F4C2-30E6EA55A9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今回使用したデータセットは</a:t>
            </a:r>
            <a:r>
              <a:rPr lang="en-US" altLang="ja-JP" cap="all" dirty="0"/>
              <a:t>Timothy Adeyemi</a:t>
            </a:r>
            <a:r>
              <a:rPr lang="ja-JP" altLang="en-US" cap="all" dirty="0"/>
              <a:t>の</a:t>
            </a:r>
            <a:r>
              <a:rPr lang="en-US" altLang="ja-JP" dirty="0"/>
              <a:t>Student Performance</a:t>
            </a:r>
            <a:r>
              <a:rPr lang="ja-JP" altLang="en-US" dirty="0"/>
              <a:t>というデータセットです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このデータセットには勉強時間、出席数などの成績に影響を与える情報を含みます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そのデータの中でも今回は</a:t>
            </a:r>
            <a:r>
              <a:rPr lang="en-US" altLang="ja-JP" dirty="0" err="1"/>
              <a:t>Hours_Studied</a:t>
            </a:r>
            <a:r>
              <a:rPr lang="en-US" altLang="ja-JP" dirty="0"/>
              <a:t>, Attendance, </a:t>
            </a:r>
            <a:r>
              <a:rPr lang="en-US" altLang="ja-JP" dirty="0" err="1"/>
              <a:t>Sleep_Hours</a:t>
            </a:r>
            <a:r>
              <a:rPr lang="ja-JP" altLang="en-US" dirty="0"/>
              <a:t>のデータを用いて予測を行う</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1454F8A5-65F7-498A-8F09-C23BD06996DC}"/>
              </a:ext>
            </a:extLst>
          </p:cNvPr>
          <p:cNvSpPr>
            <a:spLocks noGrp="1"/>
          </p:cNvSpPr>
          <p:nvPr>
            <p:ph type="sldNum" sz="quarter" idx="5"/>
          </p:nvPr>
        </p:nvSpPr>
        <p:spPr/>
        <p:txBody>
          <a:bodyPr/>
          <a:lstStyle/>
          <a:p>
            <a:fld id="{9A58022E-C717-4CDB-8CAD-57D6542066B3}" type="slidenum">
              <a:rPr kumimoji="1" lang="ja-JP" altLang="en-US" smtClean="0"/>
              <a:t>12</a:t>
            </a:fld>
            <a:endParaRPr kumimoji="1" lang="ja-JP" altLang="en-US"/>
          </a:p>
        </p:txBody>
      </p:sp>
    </p:spTree>
    <p:extLst>
      <p:ext uri="{BB962C8B-B14F-4D97-AF65-F5344CB8AC3E}">
        <p14:creationId xmlns:p14="http://schemas.microsoft.com/office/powerpoint/2010/main" val="619356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A multiple regression analysis was performed using </a:t>
            </a:r>
            <a:r>
              <a:rPr lang="en-US" altLang="ja-JP" dirty="0" err="1"/>
              <a:t>Hours_Studied</a:t>
            </a:r>
            <a:r>
              <a:rPr lang="en-US" altLang="ja-JP" dirty="0"/>
              <a:t>, Attendance, and </a:t>
            </a:r>
            <a:r>
              <a:rPr lang="en-US" altLang="ja-JP" dirty="0" err="1"/>
              <a:t>Sleep_Hours</a:t>
            </a:r>
            <a:r>
              <a:rPr lang="en-US" altLang="ja-JP" dirty="0"/>
              <a:t>, and the R2_score was 0.544, so it is thought that the factors used have a slight effect on the grades.</a:t>
            </a:r>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13</a:t>
            </a:fld>
            <a:endParaRPr kumimoji="1" lang="ja-JP" altLang="en-US"/>
          </a:p>
        </p:txBody>
      </p:sp>
    </p:spTree>
    <p:extLst>
      <p:ext uri="{BB962C8B-B14F-4D97-AF65-F5344CB8AC3E}">
        <p14:creationId xmlns:p14="http://schemas.microsoft.com/office/powerpoint/2010/main" val="3197736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When machine learning was performed on these combinations of data, the R2_score was low for both. Therefore, it can be seen that these combinations are not suitable.</a:t>
            </a:r>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14</a:t>
            </a:fld>
            <a:endParaRPr kumimoji="1" lang="ja-JP" altLang="en-US"/>
          </a:p>
        </p:txBody>
      </p:sp>
    </p:spTree>
    <p:extLst>
      <p:ext uri="{BB962C8B-B14F-4D97-AF65-F5344CB8AC3E}">
        <p14:creationId xmlns:p14="http://schemas.microsoft.com/office/powerpoint/2010/main" val="1504604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When machine learning was performed using the combination of </a:t>
            </a:r>
            <a:r>
              <a:rPr kumimoji="1" lang="en-US" altLang="ja-JP" dirty="0" err="1"/>
              <a:t>Hours_Studied</a:t>
            </a:r>
            <a:r>
              <a:rPr kumimoji="1" lang="en-US" altLang="ja-JP" dirty="0"/>
              <a:t> and Attendance, the R2_score was 60%. Therefore, it is considered to be quite suitable for predicting grades.</a:t>
            </a:r>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15</a:t>
            </a:fld>
            <a:endParaRPr kumimoji="1" lang="ja-JP" altLang="en-US"/>
          </a:p>
        </p:txBody>
      </p:sp>
    </p:spTree>
    <p:extLst>
      <p:ext uri="{BB962C8B-B14F-4D97-AF65-F5344CB8AC3E}">
        <p14:creationId xmlns:p14="http://schemas.microsoft.com/office/powerpoint/2010/main" val="3732485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Bad combinations like the ones in the red box have low scores, so you can see that they are not good inputs.</a:t>
            </a:r>
          </a:p>
          <a:p>
            <a:r>
              <a:rPr kumimoji="1" lang="en-US" altLang="ja-JP" dirty="0"/>
              <a:t>The results in the blue box show that the test results show that </a:t>
            </a:r>
            <a:r>
              <a:rPr kumimoji="1" lang="en-US" altLang="ja-JP" dirty="0" err="1"/>
              <a:t>Hours_Studied</a:t>
            </a:r>
            <a:r>
              <a:rPr kumimoji="1" lang="en-US" altLang="ja-JP" dirty="0"/>
              <a:t> and Attendance have a significant impact on accuracy.</a:t>
            </a:r>
          </a:p>
          <a:p>
            <a:r>
              <a:rPr kumimoji="1" lang="ja-JP" altLang="en-US" dirty="0"/>
              <a:t>赤枠のようなよくない組み合わせではスコアが低いため、いい入力ではないことがわかる</a:t>
            </a:r>
            <a:endParaRPr kumimoji="1" lang="en-US" altLang="ja-JP" dirty="0"/>
          </a:p>
          <a:p>
            <a:r>
              <a:rPr kumimoji="1" lang="ja-JP" altLang="en-US" dirty="0"/>
              <a:t>青枠の結果からテスト成績は、</a:t>
            </a:r>
            <a:r>
              <a:rPr lang="ja-JP" altLang="en-US" dirty="0"/>
              <a:t>・</a:t>
            </a:r>
            <a:r>
              <a:rPr lang="en-US" altLang="ja-JP" dirty="0" err="1"/>
              <a:t>Hours_Studied</a:t>
            </a:r>
            <a:r>
              <a:rPr lang="ja-JP" altLang="en-US" dirty="0"/>
              <a:t>、・</a:t>
            </a:r>
            <a:r>
              <a:rPr lang="en-US" altLang="ja-JP" dirty="0"/>
              <a:t>Attendance</a:t>
            </a:r>
            <a:r>
              <a:rPr lang="ja-JP" altLang="en-US" dirty="0"/>
              <a:t>が精度に大きく影響を与えることがわった。</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A58022E-C717-4CDB-8CAD-57D6542066B3}" type="slidenum">
              <a:rPr kumimoji="1" lang="ja-JP" altLang="en-US" smtClean="0"/>
              <a:t>16</a:t>
            </a:fld>
            <a:endParaRPr kumimoji="1" lang="ja-JP" altLang="en-US"/>
          </a:p>
        </p:txBody>
      </p:sp>
    </p:spTree>
    <p:extLst>
      <p:ext uri="{BB962C8B-B14F-4D97-AF65-F5344CB8AC3E}">
        <p14:creationId xmlns:p14="http://schemas.microsoft.com/office/powerpoint/2010/main" val="1824866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0869C-A250-AA47-A273-0CBA26DAC4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F14EB2-0002-916C-751D-A9FEB719FC2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9EFCB6-715B-058C-E712-AB46FC135A5E}"/>
              </a:ext>
            </a:extLst>
          </p:cNvPr>
          <p:cNvSpPr>
            <a:spLocks noGrp="1"/>
          </p:cNvSpPr>
          <p:nvPr>
            <p:ph type="body" idx="1"/>
          </p:nvPr>
        </p:nvSpPr>
        <p:spPr/>
        <p:txBody>
          <a:bodyPr/>
          <a:lstStyle/>
          <a:p>
            <a:r>
              <a:rPr kumimoji="1" lang="en-US" altLang="ja-JP" dirty="0"/>
              <a:t>The algorithm used is as follows:</a:t>
            </a:r>
          </a:p>
          <a:p>
            <a:r>
              <a:rPr kumimoji="1" lang="ja-JP" altLang="en-US" dirty="0"/>
              <a:t>・</a:t>
            </a:r>
            <a:r>
              <a:rPr kumimoji="1" lang="en-US" altLang="ja-JP" dirty="0"/>
              <a:t>Linear </a:t>
            </a:r>
            <a:r>
              <a:rPr kumimoji="1" lang="en-US" altLang="ja-JP" dirty="0" err="1"/>
              <a:t>regretrion</a:t>
            </a:r>
            <a:r>
              <a:rPr kumimoji="1" lang="en-US" altLang="ja-JP" dirty="0"/>
              <a:t> is an analytical method used to predict the value of one variable based on the value of another variable.</a:t>
            </a:r>
            <a:r>
              <a:rPr kumimoji="1" lang="ja-JP" altLang="en-US" dirty="0"/>
              <a:t>。</a:t>
            </a:r>
            <a:endParaRPr kumimoji="1" lang="en-US" altLang="ja-JP" dirty="0"/>
          </a:p>
          <a:p>
            <a:r>
              <a:rPr kumimoji="1" lang="ja-JP" altLang="en-US" dirty="0"/>
              <a:t>・</a:t>
            </a:r>
            <a:r>
              <a:rPr kumimoji="1" lang="en-US" altLang="ja-JP" dirty="0"/>
              <a:t>Lasso </a:t>
            </a:r>
            <a:r>
              <a:rPr kumimoji="1" lang="en-US" altLang="ja-JP" dirty="0" err="1"/>
              <a:t>regretion</a:t>
            </a:r>
            <a:r>
              <a:rPr kumimoji="1" lang="en-US" altLang="ja-JP" dirty="0"/>
              <a:t> is a training method that adds an L1 regularization term (the sum of the absolute values ​​of the regression coefficients) to a linear regression model. By forcibly setting the coefficients of unimportant explanatory variables to zero, unnecessary features are automatically removed, simplifying the model and preventing overfitting.</a:t>
            </a:r>
          </a:p>
          <a:p>
            <a:r>
              <a:rPr kumimoji="1" lang="ja-JP" altLang="en-US" dirty="0"/>
              <a:t>・</a:t>
            </a:r>
            <a:r>
              <a:rPr kumimoji="1" lang="en-US" altLang="ja-JP" dirty="0"/>
              <a:t>Ridge regression is a method that suppresses overfitting by adding L2 regularization to a linear regression model.</a:t>
            </a:r>
          </a:p>
          <a:p>
            <a:r>
              <a:rPr kumimoji="1" lang="ja-JP" altLang="en-US" dirty="0"/>
              <a:t>・</a:t>
            </a:r>
            <a:r>
              <a:rPr kumimoji="1" lang="en-US" altLang="ja-JP" dirty="0"/>
              <a:t>Hoober regret is a type of robust regression.</a:t>
            </a:r>
          </a:p>
          <a:p>
            <a:r>
              <a:rPr kumimoji="1" lang="en-US" altLang="ja-JP" dirty="0"/>
              <a:t>Adding a Hoober function to the loss for regression.</a:t>
            </a:r>
            <a:endParaRPr kumimoji="1" lang="ja-JP" altLang="en-US" dirty="0"/>
          </a:p>
        </p:txBody>
      </p:sp>
      <p:sp>
        <p:nvSpPr>
          <p:cNvPr id="4" name="スライド番号プレースホルダー 3">
            <a:extLst>
              <a:ext uri="{FF2B5EF4-FFF2-40B4-BE49-F238E27FC236}">
                <a16:creationId xmlns:a16="http://schemas.microsoft.com/office/drawing/2014/main" id="{920EFD85-5FB7-581C-DBCA-FD3FADBC71C2}"/>
              </a:ext>
            </a:extLst>
          </p:cNvPr>
          <p:cNvSpPr>
            <a:spLocks noGrp="1"/>
          </p:cNvSpPr>
          <p:nvPr>
            <p:ph type="sldNum" sz="quarter" idx="5"/>
          </p:nvPr>
        </p:nvSpPr>
        <p:spPr/>
        <p:txBody>
          <a:bodyPr/>
          <a:lstStyle/>
          <a:p>
            <a:fld id="{9A58022E-C717-4CDB-8CAD-57D6542066B3}" type="slidenum">
              <a:rPr kumimoji="1" lang="ja-JP" altLang="en-US" smtClean="0"/>
              <a:t>17</a:t>
            </a:fld>
            <a:endParaRPr kumimoji="1" lang="ja-JP" altLang="en-US"/>
          </a:p>
        </p:txBody>
      </p:sp>
    </p:spTree>
    <p:extLst>
      <p:ext uri="{BB962C8B-B14F-4D97-AF65-F5344CB8AC3E}">
        <p14:creationId xmlns:p14="http://schemas.microsoft.com/office/powerpoint/2010/main" val="1209735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CA892-9F05-C60D-FB90-FB58CF0CBC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E94B85-C3C1-1794-1B6C-8BE379EDDE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3951AE-5B55-1373-6711-1FDEBD92F1E0}"/>
              </a:ext>
            </a:extLst>
          </p:cNvPr>
          <p:cNvSpPr>
            <a:spLocks noGrp="1"/>
          </p:cNvSpPr>
          <p:nvPr>
            <p:ph type="body" idx="1"/>
          </p:nvPr>
        </p:nvSpPr>
        <p:spPr/>
        <p:txBody>
          <a:bodyPr/>
          <a:lstStyle/>
          <a:p>
            <a:r>
              <a:rPr lang="ja-JP" altLang="en-US" dirty="0"/>
              <a:t>まとめです。</a:t>
            </a:r>
            <a:endParaRPr lang="en-US" altLang="ja-JP" dirty="0"/>
          </a:p>
          <a:p>
            <a:r>
              <a:rPr lang="ja-JP" altLang="en-US" dirty="0"/>
              <a:t>今回は四つの解析手法で解析を行った。</a:t>
            </a:r>
            <a:endParaRPr lang="en-US" altLang="ja-JP" dirty="0"/>
          </a:p>
          <a:p>
            <a:r>
              <a:rPr kumimoji="1" lang="ja-JP" altLang="en-US" dirty="0"/>
              <a:t>結果から誤差が少なく、</a:t>
            </a:r>
            <a:r>
              <a:rPr kumimoji="1" lang="en-US" altLang="ja-JP" dirty="0"/>
              <a:t>R2score</a:t>
            </a:r>
            <a:r>
              <a:rPr kumimoji="1" lang="ja-JP" altLang="en-US" dirty="0"/>
              <a:t>もよい結果が見られた。</a:t>
            </a:r>
            <a:endParaRPr kumimoji="1" lang="en-US" altLang="ja-JP" dirty="0"/>
          </a:p>
          <a:p>
            <a:r>
              <a:rPr lang="ja-JP" altLang="en-US" dirty="0"/>
              <a:t>そのため、データからある程度、点数の推測ができると考えられる。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・四つの手法で教師なし学習を行ったが、変化が見られなかったので他の他の手法を扱う必要がある。</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B1A5685-EE5D-5BED-436B-EBA0DB54568E}"/>
              </a:ext>
            </a:extLst>
          </p:cNvPr>
          <p:cNvSpPr>
            <a:spLocks noGrp="1"/>
          </p:cNvSpPr>
          <p:nvPr>
            <p:ph type="sldNum" sz="quarter" idx="5"/>
          </p:nvPr>
        </p:nvSpPr>
        <p:spPr/>
        <p:txBody>
          <a:bodyPr/>
          <a:lstStyle/>
          <a:p>
            <a:fld id="{9A58022E-C717-4CDB-8CAD-57D6542066B3}" type="slidenum">
              <a:rPr kumimoji="1" lang="ja-JP" altLang="en-US" smtClean="0"/>
              <a:t>18</a:t>
            </a:fld>
            <a:endParaRPr kumimoji="1" lang="ja-JP" altLang="en-US"/>
          </a:p>
        </p:txBody>
      </p:sp>
    </p:spTree>
    <p:extLst>
      <p:ext uri="{BB962C8B-B14F-4D97-AF65-F5344CB8AC3E}">
        <p14:creationId xmlns:p14="http://schemas.microsoft.com/office/powerpoint/2010/main" val="261852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531035-BC57-06A2-1F77-724B008AA7D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01EBA1E-7FED-A693-B4A7-5DA894218D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B25DE0A-719F-FB93-E92C-66FBA3E25FD5}"/>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75384F99-AF82-9790-FD6F-3B7AE4D456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FE4EE9-FF5F-AEDC-4A44-492E023B2673}"/>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2148052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133F8-8963-963B-43F6-AC7CA0E11C8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ECF4884-3E69-08BC-72D3-7A769530DAB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0ECF53-4058-C39B-979C-D88173B4A44F}"/>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A6D918AD-BD82-5CB2-ACBF-6B911833A4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D82041-06CA-A589-EC76-BEBD53856C73}"/>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51932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13A044-F94B-E25C-3B02-E7D4DAC7BC2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DEABE29-4ED5-7E81-8E22-04DE5AF3CF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0FED731-AD4A-07B3-D532-A7DE708C9902}"/>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CC0DFE6E-CED9-E2CE-62C4-6CF9E2A56A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44B2349-F523-6971-38A7-B48F90FAE170}"/>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1709288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7A5C44-43E4-FC2D-21FD-7222341C0F3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C6B7F0-EAA6-8B9F-6386-41DF1A2BD11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0DB0578-1C31-F1BB-87E1-E47D9BAB777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AA6A5AA-FFE2-69C8-75C4-7D0EB0F96482}"/>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535D3D2C-504C-D276-9807-654EBBB24DD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4846714-DAC2-5742-8916-F737737BF9B4}"/>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1323738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36B7BA-70A9-C22F-9725-42966054569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351076E-8C51-DE23-015D-B7EB0DB537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1596553-A862-3C40-92BD-447A0D218AA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7B557D4-26E0-CD41-A39F-706BDEC10D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6FCE8D-07A9-A998-1720-F56C6DE585E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FB57A4C-6F81-9684-8AC0-E6ABABEA869B}"/>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8" name="フッター プレースホルダー 7">
            <a:extLst>
              <a:ext uri="{FF2B5EF4-FFF2-40B4-BE49-F238E27FC236}">
                <a16:creationId xmlns:a16="http://schemas.microsoft.com/office/drawing/2014/main" id="{807DBF3B-AAC3-32EE-28B3-333827C4C13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F74D72F-AECE-BB45-6356-A359F41E8B7E}"/>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279401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E9C7EE-A952-D9EF-E97F-DB65EDABAA6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063A4F6-96D7-05D0-8D84-862EDA1746A7}"/>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4" name="フッター プレースホルダー 3">
            <a:extLst>
              <a:ext uri="{FF2B5EF4-FFF2-40B4-BE49-F238E27FC236}">
                <a16:creationId xmlns:a16="http://schemas.microsoft.com/office/drawing/2014/main" id="{8D4A348B-FAA3-3D22-2AA2-BCA0E63EA19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7D65988-FADC-A896-BA8F-51EBD851732C}"/>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428774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B63986F-C7E0-63E8-C330-BF6E3D312487}"/>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3" name="フッター プレースホルダー 2">
            <a:extLst>
              <a:ext uri="{FF2B5EF4-FFF2-40B4-BE49-F238E27FC236}">
                <a16:creationId xmlns:a16="http://schemas.microsoft.com/office/drawing/2014/main" id="{7691FFF1-430C-63D9-0DCC-B5233B0E075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58DC5BA-3609-7D78-D8C7-8C15B617C7D8}"/>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4048894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E1758A-BD94-0E37-E90E-DCD5C4E23DF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79F6E9F-B43F-BEC2-0093-AB74DEEE53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1A01276-0C24-678E-93A1-D0C47D9BC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2C0503C-FFB9-CC3D-BBD5-695267FD40CC}"/>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0AC0B5A7-1525-B63B-6962-ACB65FABC03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3B9C3E-5178-6A4A-1549-2EA7DEC45700}"/>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3932143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F6C0C2-FD02-47E7-153B-3D559021DA9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8281560-D623-68CE-E76F-166055D1F7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859522F-9BCC-0A05-2481-515762575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D145916-C61B-0BF6-14D9-FBDA8CCF5D8B}"/>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89919874-D93D-B4A2-775D-6BCF729DF7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9180E9E-204B-4624-642A-0B5BDCA6F0DA}"/>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4090593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909521-C513-2311-ADCC-77C7AFDC941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6DB0794-FA39-7D35-CCD9-6FDEF7FF742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BE0BA9-8D19-04EE-7AB3-A05F81D4990A}"/>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EFCA5C31-CA7F-D94F-11DB-F04E1D0F52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F81E83-394E-5F0F-7B2F-C7A0193CC5A9}"/>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1636191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6F0807B-2B84-A8A7-4261-7B22D18B46C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E1BF489-017E-3572-DE75-45E49D22F1A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763DF7-6405-6204-08F0-C1200C09DE33}"/>
              </a:ext>
            </a:extLst>
          </p:cNvPr>
          <p:cNvSpPr>
            <a:spLocks noGrp="1"/>
          </p:cNvSpPr>
          <p:nvPr>
            <p:ph type="dt" sz="half" idx="10"/>
          </p:nvPr>
        </p:nvSpPr>
        <p:spPr/>
        <p:txBody>
          <a:body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F7CFEF44-6EC2-6FE9-3970-8155B8E697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E3F1227-DF3E-CBDF-9EAF-BD415E1C7CE2}"/>
              </a:ext>
            </a:extLst>
          </p:cNvPr>
          <p:cNvSpPr>
            <a:spLocks noGrp="1"/>
          </p:cNvSpPr>
          <p:nvPr>
            <p:ph type="sldNum" sz="quarter" idx="12"/>
          </p:nvPr>
        </p:nvSpPr>
        <p:spPr/>
        <p:txBody>
          <a:body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1786156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87568B5-2AA8-0318-61A5-B0DFE80D2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8803860-5789-B81F-333C-2F3D53D118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A51BAB9-B9AE-0674-EE13-F8848FBB8B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2497EC-58BF-4693-99E2-19A7BEEE66D0}"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4E7D6F26-3D8C-D7D3-5F5C-583B8F5A4C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647D704-61EF-F9E7-BA3F-117A23031A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7C085D-E20C-4997-8CF4-FBB3D160F414}" type="slidenum">
              <a:rPr kumimoji="1" lang="ja-JP" altLang="en-US" smtClean="0"/>
              <a:t>‹#›</a:t>
            </a:fld>
            <a:endParaRPr kumimoji="1" lang="ja-JP" altLang="en-US"/>
          </a:p>
        </p:txBody>
      </p:sp>
    </p:spTree>
    <p:extLst>
      <p:ext uri="{BB962C8B-B14F-4D97-AF65-F5344CB8AC3E}">
        <p14:creationId xmlns:p14="http://schemas.microsoft.com/office/powerpoint/2010/main" val="3359282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678D36-2DD2-D735-B9DD-4F06FEE33893}"/>
              </a:ext>
            </a:extLst>
          </p:cNvPr>
          <p:cNvSpPr txBox="1"/>
          <p:nvPr/>
        </p:nvSpPr>
        <p:spPr>
          <a:xfrm>
            <a:off x="4180668" y="4418879"/>
            <a:ext cx="5939726" cy="523220"/>
          </a:xfrm>
          <a:prstGeom prst="rect">
            <a:avLst/>
          </a:prstGeom>
          <a:noFill/>
        </p:spPr>
        <p:txBody>
          <a:bodyPr wrap="square" rtlCol="0">
            <a:spAutoFit/>
          </a:bodyPr>
          <a:lstStyle/>
          <a:p>
            <a:r>
              <a:rPr kumimoji="1" lang="en-US" altLang="ja-JP" sz="2800" dirty="0"/>
              <a:t>5-E-4   Satoru Kato</a:t>
            </a:r>
          </a:p>
        </p:txBody>
      </p:sp>
      <p:sp>
        <p:nvSpPr>
          <p:cNvPr id="5" name="テキスト ボックス 4">
            <a:extLst>
              <a:ext uri="{FF2B5EF4-FFF2-40B4-BE49-F238E27FC236}">
                <a16:creationId xmlns:a16="http://schemas.microsoft.com/office/drawing/2014/main" id="{739CA579-F9B8-382E-DD9F-543C8B2FE293}"/>
              </a:ext>
            </a:extLst>
          </p:cNvPr>
          <p:cNvSpPr txBox="1"/>
          <p:nvPr/>
        </p:nvSpPr>
        <p:spPr>
          <a:xfrm>
            <a:off x="1375474" y="2782669"/>
            <a:ext cx="10449731" cy="646331"/>
          </a:xfrm>
          <a:prstGeom prst="rect">
            <a:avLst/>
          </a:prstGeom>
          <a:noFill/>
        </p:spPr>
        <p:txBody>
          <a:bodyPr wrap="square">
            <a:spAutoFit/>
          </a:bodyPr>
          <a:lstStyle/>
          <a:p>
            <a:r>
              <a:rPr lang="ja-JP" altLang="en-US" sz="3600" dirty="0"/>
              <a:t>Predicting test scores using machine learning</a:t>
            </a:r>
          </a:p>
        </p:txBody>
      </p:sp>
    </p:spTree>
    <p:extLst>
      <p:ext uri="{BB962C8B-B14F-4D97-AF65-F5344CB8AC3E}">
        <p14:creationId xmlns:p14="http://schemas.microsoft.com/office/powerpoint/2010/main" val="1779469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9669E99-42CE-4209-0B80-8599D7085AC6}"/>
              </a:ext>
            </a:extLst>
          </p:cNvPr>
          <p:cNvSpPr txBox="1"/>
          <p:nvPr/>
        </p:nvSpPr>
        <p:spPr>
          <a:xfrm>
            <a:off x="470262" y="352697"/>
            <a:ext cx="2181498" cy="461665"/>
          </a:xfrm>
          <a:prstGeom prst="rect">
            <a:avLst/>
          </a:prstGeom>
          <a:noFill/>
        </p:spPr>
        <p:txBody>
          <a:bodyPr wrap="square" rtlCol="0">
            <a:spAutoFit/>
          </a:bodyPr>
          <a:lstStyle/>
          <a:p>
            <a:r>
              <a:rPr lang="ja-JP" altLang="en-US" sz="2400" dirty="0"/>
              <a:t>・</a:t>
            </a:r>
            <a:r>
              <a:rPr lang="en-US" altLang="ja-JP" sz="2400" dirty="0"/>
              <a:t>purpose</a:t>
            </a:r>
            <a:endParaRPr kumimoji="1" lang="ja-JP" altLang="en-US" sz="2400" dirty="0"/>
          </a:p>
        </p:txBody>
      </p:sp>
      <p:sp>
        <p:nvSpPr>
          <p:cNvPr id="3" name="四角形: 角を丸くする 2">
            <a:extLst>
              <a:ext uri="{FF2B5EF4-FFF2-40B4-BE49-F238E27FC236}">
                <a16:creationId xmlns:a16="http://schemas.microsoft.com/office/drawing/2014/main" id="{FC7D741D-1857-4EC4-1288-F45F9856A1C5}"/>
              </a:ext>
            </a:extLst>
          </p:cNvPr>
          <p:cNvSpPr/>
          <p:nvPr/>
        </p:nvSpPr>
        <p:spPr>
          <a:xfrm>
            <a:off x="102965" y="947057"/>
            <a:ext cx="5860867" cy="30736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48E4117-A770-F48A-0DAA-9E84462CE1D7}"/>
              </a:ext>
            </a:extLst>
          </p:cNvPr>
          <p:cNvSpPr txBox="1"/>
          <p:nvPr/>
        </p:nvSpPr>
        <p:spPr>
          <a:xfrm>
            <a:off x="2401088" y="1110342"/>
            <a:ext cx="1154483" cy="461665"/>
          </a:xfrm>
          <a:prstGeom prst="rect">
            <a:avLst/>
          </a:prstGeom>
          <a:noFill/>
        </p:spPr>
        <p:txBody>
          <a:bodyPr wrap="none" rtlCol="0">
            <a:spAutoFit/>
          </a:bodyPr>
          <a:lstStyle/>
          <a:p>
            <a:r>
              <a:rPr kumimoji="1" lang="en-US" altLang="ja-JP" sz="2400" dirty="0"/>
              <a:t>Case1:</a:t>
            </a:r>
            <a:endParaRPr kumimoji="1" lang="ja-JP" altLang="en-US" sz="2400" dirty="0"/>
          </a:p>
        </p:txBody>
      </p:sp>
      <p:sp>
        <p:nvSpPr>
          <p:cNvPr id="5" name="四角形: 角を丸くする 4">
            <a:extLst>
              <a:ext uri="{FF2B5EF4-FFF2-40B4-BE49-F238E27FC236}">
                <a16:creationId xmlns:a16="http://schemas.microsoft.com/office/drawing/2014/main" id="{646E599F-3DD6-7DAD-BF86-AE876A90DE83}"/>
              </a:ext>
            </a:extLst>
          </p:cNvPr>
          <p:cNvSpPr/>
          <p:nvPr/>
        </p:nvSpPr>
        <p:spPr>
          <a:xfrm>
            <a:off x="6096000" y="947057"/>
            <a:ext cx="5717178" cy="307361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376FA7C-102C-76F8-42D2-B8BAD08109CE}"/>
              </a:ext>
            </a:extLst>
          </p:cNvPr>
          <p:cNvSpPr txBox="1"/>
          <p:nvPr/>
        </p:nvSpPr>
        <p:spPr>
          <a:xfrm>
            <a:off x="8261957" y="1110342"/>
            <a:ext cx="1154483" cy="461665"/>
          </a:xfrm>
          <a:prstGeom prst="rect">
            <a:avLst/>
          </a:prstGeom>
          <a:noFill/>
        </p:spPr>
        <p:txBody>
          <a:bodyPr wrap="none" rtlCol="0">
            <a:spAutoFit/>
          </a:bodyPr>
          <a:lstStyle/>
          <a:p>
            <a:r>
              <a:rPr kumimoji="1" lang="en-US" altLang="ja-JP" sz="2400" dirty="0"/>
              <a:t>Case2:</a:t>
            </a:r>
            <a:endParaRPr kumimoji="1" lang="ja-JP" altLang="en-US" sz="2400" dirty="0"/>
          </a:p>
        </p:txBody>
      </p:sp>
      <p:sp>
        <p:nvSpPr>
          <p:cNvPr id="7" name="テキスト ボックス 6">
            <a:extLst>
              <a:ext uri="{FF2B5EF4-FFF2-40B4-BE49-F238E27FC236}">
                <a16:creationId xmlns:a16="http://schemas.microsoft.com/office/drawing/2014/main" id="{321FCC73-AA88-12BD-BA64-7A304B923698}"/>
              </a:ext>
            </a:extLst>
          </p:cNvPr>
          <p:cNvSpPr txBox="1"/>
          <p:nvPr/>
        </p:nvSpPr>
        <p:spPr>
          <a:xfrm>
            <a:off x="151795" y="1572007"/>
            <a:ext cx="5713424" cy="923330"/>
          </a:xfrm>
          <a:prstGeom prst="rect">
            <a:avLst/>
          </a:prstGeom>
          <a:noFill/>
        </p:spPr>
        <p:txBody>
          <a:bodyPr wrap="none" rtlCol="0">
            <a:spAutoFit/>
          </a:bodyPr>
          <a:lstStyle/>
          <a:p>
            <a:r>
              <a:rPr lang="en-US" altLang="ja-JP" dirty="0"/>
              <a:t>In large-scale tests such as national mock exams,</a:t>
            </a:r>
          </a:p>
          <a:p>
            <a:r>
              <a:rPr lang="en-US" altLang="ja-JP" dirty="0"/>
              <a:t>it is important to know your test score at the end of </a:t>
            </a:r>
          </a:p>
          <a:p>
            <a:r>
              <a:rPr lang="en-US" altLang="ja-JP" dirty="0"/>
              <a:t>the test, </a:t>
            </a:r>
            <a:r>
              <a:rPr lang="en-US" altLang="ja-JP" dirty="0">
                <a:solidFill>
                  <a:srgbClr val="FF0000"/>
                </a:solidFill>
              </a:rPr>
              <a:t>but this takes a lot of time.</a:t>
            </a:r>
            <a:endParaRPr kumimoji="1" lang="ja-JP" altLang="en-US" dirty="0">
              <a:solidFill>
                <a:srgbClr val="FF0000"/>
              </a:solidFill>
            </a:endParaRPr>
          </a:p>
        </p:txBody>
      </p:sp>
      <p:sp>
        <p:nvSpPr>
          <p:cNvPr id="9" name="テキスト ボックス 8">
            <a:extLst>
              <a:ext uri="{FF2B5EF4-FFF2-40B4-BE49-F238E27FC236}">
                <a16:creationId xmlns:a16="http://schemas.microsoft.com/office/drawing/2014/main" id="{6A4F5FDF-69E3-BB2D-EEEA-DCBA5BB3AE80}"/>
              </a:ext>
            </a:extLst>
          </p:cNvPr>
          <p:cNvSpPr txBox="1"/>
          <p:nvPr/>
        </p:nvSpPr>
        <p:spPr>
          <a:xfrm>
            <a:off x="6098178" y="1572007"/>
            <a:ext cx="6093822" cy="646331"/>
          </a:xfrm>
          <a:prstGeom prst="rect">
            <a:avLst/>
          </a:prstGeom>
          <a:noFill/>
        </p:spPr>
        <p:txBody>
          <a:bodyPr wrap="square">
            <a:spAutoFit/>
          </a:bodyPr>
          <a:lstStyle/>
          <a:p>
            <a:r>
              <a:rPr lang="en-US" altLang="ja-JP" dirty="0"/>
              <a:t>Studying is extremely difficult, and we want to avoid failing in the shortest possible time.</a:t>
            </a:r>
            <a:endParaRPr lang="ja-JP" altLang="en-US" dirty="0"/>
          </a:p>
        </p:txBody>
      </p:sp>
      <p:sp>
        <p:nvSpPr>
          <p:cNvPr id="10" name="矢印: 下 9">
            <a:extLst>
              <a:ext uri="{FF2B5EF4-FFF2-40B4-BE49-F238E27FC236}">
                <a16:creationId xmlns:a16="http://schemas.microsoft.com/office/drawing/2014/main" id="{B52AF2A9-9C3C-FB58-77D0-640E83CBC6B9}"/>
              </a:ext>
            </a:extLst>
          </p:cNvPr>
          <p:cNvSpPr/>
          <p:nvPr/>
        </p:nvSpPr>
        <p:spPr>
          <a:xfrm>
            <a:off x="5455920" y="4153366"/>
            <a:ext cx="1280160" cy="896873"/>
          </a:xfrm>
          <a:prstGeom prst="down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85C9B7C1-5DB9-8437-1FFC-DC9AAB51C67F}"/>
              </a:ext>
            </a:extLst>
          </p:cNvPr>
          <p:cNvSpPr txBox="1"/>
          <p:nvPr/>
        </p:nvSpPr>
        <p:spPr>
          <a:xfrm>
            <a:off x="3947457" y="5285993"/>
            <a:ext cx="4556463" cy="461665"/>
          </a:xfrm>
          <a:prstGeom prst="rect">
            <a:avLst/>
          </a:prstGeom>
          <a:noFill/>
        </p:spPr>
        <p:txBody>
          <a:bodyPr wrap="square">
            <a:spAutoFit/>
          </a:bodyPr>
          <a:lstStyle/>
          <a:p>
            <a:r>
              <a:rPr lang="ja-JP" altLang="en-US" sz="2400" dirty="0"/>
              <a:t>Predict test scores from data</a:t>
            </a:r>
          </a:p>
        </p:txBody>
      </p:sp>
    </p:spTree>
    <p:extLst>
      <p:ext uri="{BB962C8B-B14F-4D97-AF65-F5344CB8AC3E}">
        <p14:creationId xmlns:p14="http://schemas.microsoft.com/office/powerpoint/2010/main" val="3337213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FE9A2-7BC7-7DD8-B8F7-1ABECF7CFF2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9D1E528-7FD5-89B6-174A-6D86894087DC}"/>
              </a:ext>
            </a:extLst>
          </p:cNvPr>
          <p:cNvSpPr txBox="1"/>
          <p:nvPr/>
        </p:nvSpPr>
        <p:spPr>
          <a:xfrm>
            <a:off x="650928" y="681925"/>
            <a:ext cx="10011905" cy="1477328"/>
          </a:xfrm>
          <a:prstGeom prst="rect">
            <a:avLst/>
          </a:prstGeom>
          <a:noFill/>
        </p:spPr>
        <p:txBody>
          <a:bodyPr wrap="square" rtlCol="0">
            <a:spAutoFit/>
          </a:bodyPr>
          <a:lstStyle/>
          <a:p>
            <a:r>
              <a:rPr lang="en-US" altLang="ja-JP" cap="all" dirty="0"/>
              <a:t>Dataset used</a:t>
            </a:r>
          </a:p>
          <a:p>
            <a:r>
              <a:rPr lang="ja-JP" altLang="en-US" cap="all" dirty="0"/>
              <a:t>→</a:t>
            </a:r>
            <a:r>
              <a:rPr lang="en-US" altLang="ja-JP" cap="all" dirty="0"/>
              <a:t>Timothy Adeyemi ‘ </a:t>
            </a:r>
            <a:r>
              <a:rPr lang="en-US" altLang="ja-JP" dirty="0"/>
              <a:t>S  Student Performance</a:t>
            </a:r>
          </a:p>
          <a:p>
            <a:r>
              <a:rPr lang="en-US" altLang="ja-JP" dirty="0"/>
              <a:t>link</a:t>
            </a:r>
            <a:r>
              <a:rPr lang="ja-JP" altLang="en-US" dirty="0"/>
              <a:t>：</a:t>
            </a:r>
            <a:r>
              <a:rPr lang="en-US" altLang="ja-JP" dirty="0"/>
              <a:t>https://www.kaggle.com/datasets/timothyadeyemi/student-performance</a:t>
            </a:r>
          </a:p>
          <a:p>
            <a:r>
              <a:rPr kumimoji="1" lang="ja-JP" altLang="en-US" dirty="0"/>
              <a:t>→</a:t>
            </a:r>
            <a:r>
              <a:rPr lang="en-US" altLang="ja-JP" dirty="0"/>
              <a:t>This dataset contains information on study time, attendance, and other aspects that affect academic performance.</a:t>
            </a:r>
            <a:endParaRPr kumimoji="1" lang="en-US" altLang="ja-JP" dirty="0"/>
          </a:p>
        </p:txBody>
      </p:sp>
      <p:sp>
        <p:nvSpPr>
          <p:cNvPr id="6" name="テキスト ボックス 5">
            <a:extLst>
              <a:ext uri="{FF2B5EF4-FFF2-40B4-BE49-F238E27FC236}">
                <a16:creationId xmlns:a16="http://schemas.microsoft.com/office/drawing/2014/main" id="{3D78DE60-4054-72C8-5B9A-503C88C4C1F9}"/>
              </a:ext>
            </a:extLst>
          </p:cNvPr>
          <p:cNvSpPr txBox="1"/>
          <p:nvPr/>
        </p:nvSpPr>
        <p:spPr>
          <a:xfrm>
            <a:off x="650928" y="2515315"/>
            <a:ext cx="6098582" cy="461665"/>
          </a:xfrm>
          <a:prstGeom prst="rect">
            <a:avLst/>
          </a:prstGeom>
          <a:noFill/>
        </p:spPr>
        <p:txBody>
          <a:bodyPr wrap="square">
            <a:spAutoFit/>
          </a:bodyPr>
          <a:lstStyle/>
          <a:p>
            <a:r>
              <a:rPr lang="en-US" altLang="ja-JP" sz="2400" dirty="0"/>
              <a:t>Data used this time:</a:t>
            </a:r>
            <a:endParaRPr lang="ja-JP" altLang="en-US" sz="2400" dirty="0"/>
          </a:p>
        </p:txBody>
      </p:sp>
      <p:pic>
        <p:nvPicPr>
          <p:cNvPr id="4" name="図 3">
            <a:extLst>
              <a:ext uri="{FF2B5EF4-FFF2-40B4-BE49-F238E27FC236}">
                <a16:creationId xmlns:a16="http://schemas.microsoft.com/office/drawing/2014/main" id="{9C546236-3455-1A79-8F3B-DEAFB8A6FE1B}"/>
              </a:ext>
            </a:extLst>
          </p:cNvPr>
          <p:cNvPicPr>
            <a:picLocks noChangeAspect="1"/>
          </p:cNvPicPr>
          <p:nvPr/>
        </p:nvPicPr>
        <p:blipFill>
          <a:blip r:embed="rId3"/>
          <a:stretch>
            <a:fillRect/>
          </a:stretch>
        </p:blipFill>
        <p:spPr>
          <a:xfrm>
            <a:off x="1407522" y="2990249"/>
            <a:ext cx="9005704" cy="2491332"/>
          </a:xfrm>
          <a:prstGeom prst="rect">
            <a:avLst/>
          </a:prstGeom>
        </p:spPr>
      </p:pic>
    </p:spTree>
    <p:extLst>
      <p:ext uri="{BB962C8B-B14F-4D97-AF65-F5344CB8AC3E}">
        <p14:creationId xmlns:p14="http://schemas.microsoft.com/office/powerpoint/2010/main" val="4046750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C2C2CA0-90B0-9118-2794-FB7676EF3387}"/>
              </a:ext>
            </a:extLst>
          </p:cNvPr>
          <p:cNvSpPr txBox="1"/>
          <p:nvPr/>
        </p:nvSpPr>
        <p:spPr>
          <a:xfrm>
            <a:off x="716242" y="553840"/>
            <a:ext cx="9734044" cy="5724644"/>
          </a:xfrm>
          <a:prstGeom prst="rect">
            <a:avLst/>
          </a:prstGeom>
          <a:noFill/>
        </p:spPr>
        <p:txBody>
          <a:bodyPr wrap="square">
            <a:spAutoFit/>
          </a:bodyPr>
          <a:lstStyle/>
          <a:p>
            <a:pPr lvl="0">
              <a:defRPr/>
            </a:pPr>
            <a:r>
              <a:rPr lang="en-US" altLang="ja-JP" sz="2400" dirty="0"/>
              <a:t>Used algorithm</a:t>
            </a: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linear regression</a:t>
            </a:r>
          </a:p>
          <a:p>
            <a:pPr lvl="0">
              <a:defRPr/>
            </a:pPr>
            <a:r>
              <a:rPr lang="ja-JP" altLang="en-US" dirty="0">
                <a:solidFill>
                  <a:prstClr val="black"/>
                </a:solidFill>
              </a:rPr>
              <a:t>・</a:t>
            </a:r>
            <a:r>
              <a:rPr lang="en-US" altLang="ja-JP" dirty="0">
                <a:solidFill>
                  <a:prstClr val="black"/>
                </a:solidFill>
              </a:rPr>
              <a:t>An analytical method used to predict the value of one variable from the value of another variable</a:t>
            </a:r>
          </a:p>
          <a:p>
            <a:pPr lvl="0">
              <a:defRPr/>
            </a:pP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Lasso regression</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rPr>
              <a:t>・</a:t>
            </a:r>
            <a:r>
              <a:rPr lang="en-US" altLang="ja-JP" dirty="0">
                <a:solidFill>
                  <a:prstClr val="black"/>
                </a:solidFill>
              </a:rPr>
              <a:t>This is a learning method that adds an L1 regularization term (the sum of the absolute values ​​of the regression coefficients) to a linear regression model. By forcibly setting the coefficients of explanatory variables with low importance to zero, unnecessary features are automatically deleted, simplifying the model and preventing overfitting.</a:t>
            </a:r>
          </a:p>
          <a:p>
            <a:pPr lvl="0">
              <a:defRPr/>
            </a:pPr>
            <a:endParaRPr lang="en-US" altLang="ja-JP" dirty="0">
              <a:solidFill>
                <a:prstClr val="black"/>
              </a:solidFill>
              <a:latin typeface="游ゴシック" panose="02110004020202020204"/>
              <a:ea typeface="游ゴシック" panose="020B0400000000000000" pitchFamily="50" charset="-128"/>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Ridge regression</a:t>
            </a:r>
          </a:p>
          <a:p>
            <a:pPr lvl="0">
              <a:defRPr/>
            </a:pPr>
            <a:r>
              <a:rPr lang="ja-JP" altLang="en-US" dirty="0"/>
              <a:t>・</a:t>
            </a:r>
            <a:r>
              <a:rPr lang="en-US" altLang="ja-JP" dirty="0"/>
              <a:t>Ridge regression is a method that suppresses overfitting by adding L2 regularization to a linear regression model.</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endParaRPr lang="en-US" altLang="ja-JP" dirty="0">
              <a:solidFill>
                <a:prstClr val="black"/>
              </a:solidFill>
              <a:latin typeface="游ゴシック" panose="02110004020202020204"/>
              <a:ea typeface="游ゴシック" panose="020B0400000000000000" pitchFamily="50" charset="-128"/>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 hoover regression</a:t>
            </a:r>
          </a:p>
          <a:p>
            <a:pPr lvl="0">
              <a:defRPr/>
            </a:pPr>
            <a:r>
              <a:rPr lang="ja-JP" altLang="en-US" dirty="0">
                <a:solidFill>
                  <a:prstClr val="black"/>
                </a:solidFill>
              </a:rPr>
              <a:t>・</a:t>
            </a:r>
            <a:r>
              <a:rPr lang="en-US" altLang="ja-JP" dirty="0">
                <a:solidFill>
                  <a:prstClr val="black"/>
                </a:solidFill>
              </a:rPr>
              <a:t>A type of robust regression</a:t>
            </a:r>
          </a:p>
          <a:p>
            <a:pPr lvl="0">
              <a:defRPr/>
            </a:pPr>
            <a:r>
              <a:rPr lang="ja-JP" altLang="en-US" dirty="0">
                <a:solidFill>
                  <a:prstClr val="black"/>
                </a:solidFill>
              </a:rPr>
              <a:t>→</a:t>
            </a:r>
            <a:r>
              <a:rPr lang="en-US" altLang="ja-JP" dirty="0">
                <a:solidFill>
                  <a:prstClr val="black"/>
                </a:solidFill>
              </a:rPr>
              <a:t>A learning method that minimizes the impact of outliers when the training data contains them.</a:t>
            </a:r>
          </a:p>
          <a:p>
            <a:pPr lvl="0">
              <a:defRPr/>
            </a:pPr>
            <a:r>
              <a:rPr lang="ja-JP" altLang="en-US" dirty="0">
                <a:solidFill>
                  <a:prstClr val="black"/>
                </a:solidFill>
              </a:rPr>
              <a:t>・</a:t>
            </a:r>
            <a:r>
              <a:rPr lang="en-US" altLang="ja-JP" dirty="0">
                <a:solidFill>
                  <a:prstClr val="black"/>
                </a:solidFill>
              </a:rPr>
              <a:t>Regression is performed by adding a Huber function to the loss.</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2350961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58EDF-EB9D-E68D-9F0B-49C856919EAA}"/>
            </a:ext>
          </a:extLst>
        </p:cNvPr>
        <p:cNvGrpSpPr/>
        <p:nvPr/>
      </p:nvGrpSpPr>
      <p:grpSpPr>
        <a:xfrm>
          <a:off x="0" y="0"/>
          <a:ext cx="0" cy="0"/>
          <a:chOff x="0" y="0"/>
          <a:chExt cx="0" cy="0"/>
        </a:xfrm>
      </p:grpSpPr>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F53089FB-E7A6-4C2C-4CB7-7DD173844612}"/>
              </a:ext>
            </a:extLst>
          </p:cNvPr>
          <p:cNvPicPr>
            <a:picLocks noChangeAspect="1"/>
          </p:cNvPicPr>
          <p:nvPr/>
        </p:nvPicPr>
        <p:blipFill>
          <a:blip r:embed="rId3">
            <a:extLst>
              <a:ext uri="{28A0092B-C50C-407E-A947-70E740481C1C}">
                <a14:useLocalDpi xmlns:a14="http://schemas.microsoft.com/office/drawing/2010/main" val="0"/>
              </a:ext>
            </a:extLst>
          </a:blip>
          <a:srcRect t="15792"/>
          <a:stretch>
            <a:fillRect/>
          </a:stretch>
        </p:blipFill>
        <p:spPr>
          <a:xfrm>
            <a:off x="7112087" y="798060"/>
            <a:ext cx="2188667" cy="2786471"/>
          </a:xfrm>
          <a:prstGeom prst="rect">
            <a:avLst/>
          </a:prstGeom>
        </p:spPr>
      </p:pic>
      <p:sp>
        <p:nvSpPr>
          <p:cNvPr id="12" name="テキスト ボックス 11">
            <a:extLst>
              <a:ext uri="{FF2B5EF4-FFF2-40B4-BE49-F238E27FC236}">
                <a16:creationId xmlns:a16="http://schemas.microsoft.com/office/drawing/2014/main" id="{9025D185-D90B-C0B6-2A15-33A34CB947FC}"/>
              </a:ext>
            </a:extLst>
          </p:cNvPr>
          <p:cNvSpPr txBox="1"/>
          <p:nvPr/>
        </p:nvSpPr>
        <p:spPr>
          <a:xfrm>
            <a:off x="1136135" y="490655"/>
            <a:ext cx="1418375" cy="369332"/>
          </a:xfrm>
          <a:prstGeom prst="rect">
            <a:avLst/>
          </a:prstGeom>
          <a:noFill/>
        </p:spPr>
        <p:txBody>
          <a:bodyPr wrap="square">
            <a:spAutoFit/>
          </a:bodyPr>
          <a:lstStyle/>
          <a:p>
            <a:r>
              <a:rPr lang="en-US" altLang="ja-JP" dirty="0"/>
              <a:t>X element</a:t>
            </a:r>
          </a:p>
        </p:txBody>
      </p:sp>
      <p:sp>
        <p:nvSpPr>
          <p:cNvPr id="13" name="テキスト ボックス 12">
            <a:extLst>
              <a:ext uri="{FF2B5EF4-FFF2-40B4-BE49-F238E27FC236}">
                <a16:creationId xmlns:a16="http://schemas.microsoft.com/office/drawing/2014/main" id="{B380F916-A52D-2A33-58A9-1ACC45DE467A}"/>
              </a:ext>
            </a:extLst>
          </p:cNvPr>
          <p:cNvSpPr txBox="1"/>
          <p:nvPr/>
        </p:nvSpPr>
        <p:spPr>
          <a:xfrm>
            <a:off x="7168570" y="514804"/>
            <a:ext cx="1418375" cy="369332"/>
          </a:xfrm>
          <a:prstGeom prst="rect">
            <a:avLst/>
          </a:prstGeom>
          <a:noFill/>
        </p:spPr>
        <p:txBody>
          <a:bodyPr wrap="square">
            <a:spAutoFit/>
          </a:bodyPr>
          <a:lstStyle/>
          <a:p>
            <a:r>
              <a:rPr lang="en-US" altLang="ja-JP" dirty="0"/>
              <a:t>Y element</a:t>
            </a:r>
          </a:p>
        </p:txBody>
      </p:sp>
      <p:sp>
        <p:nvSpPr>
          <p:cNvPr id="2" name="テキスト ボックス 1">
            <a:extLst>
              <a:ext uri="{FF2B5EF4-FFF2-40B4-BE49-F238E27FC236}">
                <a16:creationId xmlns:a16="http://schemas.microsoft.com/office/drawing/2014/main" id="{3A1A6D50-E11F-3AD3-F466-904FE3B7E4D4}"/>
              </a:ext>
            </a:extLst>
          </p:cNvPr>
          <p:cNvSpPr txBox="1"/>
          <p:nvPr/>
        </p:nvSpPr>
        <p:spPr>
          <a:xfrm>
            <a:off x="222843" y="121323"/>
            <a:ext cx="5118315" cy="369332"/>
          </a:xfrm>
          <a:prstGeom prst="rect">
            <a:avLst/>
          </a:prstGeom>
          <a:noFill/>
        </p:spPr>
        <p:txBody>
          <a:bodyPr wrap="square">
            <a:spAutoFit/>
          </a:bodyPr>
          <a:lstStyle/>
          <a:p>
            <a:r>
              <a:rPr lang="en-US" altLang="ja-JP" dirty="0"/>
              <a:t>Element</a:t>
            </a:r>
          </a:p>
        </p:txBody>
      </p:sp>
      <p:sp>
        <p:nvSpPr>
          <p:cNvPr id="5" name="テキスト ボックス 4">
            <a:extLst>
              <a:ext uri="{FF2B5EF4-FFF2-40B4-BE49-F238E27FC236}">
                <a16:creationId xmlns:a16="http://schemas.microsoft.com/office/drawing/2014/main" id="{8DA2A37E-6D28-EBC0-2F8E-6F754BB23E47}"/>
              </a:ext>
            </a:extLst>
          </p:cNvPr>
          <p:cNvSpPr txBox="1"/>
          <p:nvPr/>
        </p:nvSpPr>
        <p:spPr>
          <a:xfrm>
            <a:off x="1136135" y="3632705"/>
            <a:ext cx="2848036" cy="369332"/>
          </a:xfrm>
          <a:prstGeom prst="rect">
            <a:avLst/>
          </a:prstGeom>
          <a:noFill/>
        </p:spPr>
        <p:txBody>
          <a:bodyPr wrap="square">
            <a:spAutoFit/>
          </a:bodyPr>
          <a:lstStyle/>
          <a:p>
            <a:r>
              <a:rPr lang="en-US" altLang="ja-JP" dirty="0"/>
              <a:t>X element(standard)</a:t>
            </a:r>
          </a:p>
        </p:txBody>
      </p:sp>
      <p:pic>
        <p:nvPicPr>
          <p:cNvPr id="10" name="図 9" descr="テーブル&#10;&#10;AI 生成コンテンツは誤りを含む可能性があります。">
            <a:extLst>
              <a:ext uri="{FF2B5EF4-FFF2-40B4-BE49-F238E27FC236}">
                <a16:creationId xmlns:a16="http://schemas.microsoft.com/office/drawing/2014/main" id="{EA626A4B-020D-CF95-D0E2-578518AC7F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57" y="4217403"/>
            <a:ext cx="5660032" cy="2482009"/>
          </a:xfrm>
          <a:prstGeom prst="rect">
            <a:avLst/>
          </a:prstGeom>
        </p:spPr>
      </p:pic>
      <p:pic>
        <p:nvPicPr>
          <p:cNvPr id="14" name="図 13" descr="テーブル&#10;&#10;AI 生成コンテンツは誤りを含む可能性があります。">
            <a:extLst>
              <a:ext uri="{FF2B5EF4-FFF2-40B4-BE49-F238E27FC236}">
                <a16:creationId xmlns:a16="http://schemas.microsoft.com/office/drawing/2014/main" id="{D5B591D5-9060-322D-85B0-ABD45776DD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135" y="1229319"/>
            <a:ext cx="4828179" cy="2188020"/>
          </a:xfrm>
          <a:prstGeom prst="rect">
            <a:avLst/>
          </a:prstGeom>
        </p:spPr>
      </p:pic>
    </p:spTree>
    <p:extLst>
      <p:ext uri="{BB962C8B-B14F-4D97-AF65-F5344CB8AC3E}">
        <p14:creationId xmlns:p14="http://schemas.microsoft.com/office/powerpoint/2010/main" val="279619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D638-CC52-661B-0437-9D7260F7FDB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FC22E6F-72DA-4921-89BC-5C99FCD7B158}"/>
              </a:ext>
            </a:extLst>
          </p:cNvPr>
          <p:cNvSpPr txBox="1"/>
          <p:nvPr/>
        </p:nvSpPr>
        <p:spPr>
          <a:xfrm>
            <a:off x="275093" y="149121"/>
            <a:ext cx="5118315" cy="523220"/>
          </a:xfrm>
          <a:prstGeom prst="rect">
            <a:avLst/>
          </a:prstGeom>
          <a:noFill/>
        </p:spPr>
        <p:txBody>
          <a:bodyPr wrap="square">
            <a:spAutoFit/>
          </a:bodyPr>
          <a:lstStyle/>
          <a:p>
            <a:r>
              <a:rPr lang="en-US" altLang="ja-JP" sz="2800" dirty="0"/>
              <a:t>result</a:t>
            </a:r>
            <a:endParaRPr lang="en-US" altLang="ja-JP" dirty="0"/>
          </a:p>
        </p:txBody>
      </p:sp>
      <p:sp>
        <p:nvSpPr>
          <p:cNvPr id="5" name="テキスト ボックス 4">
            <a:extLst>
              <a:ext uri="{FF2B5EF4-FFF2-40B4-BE49-F238E27FC236}">
                <a16:creationId xmlns:a16="http://schemas.microsoft.com/office/drawing/2014/main" id="{25DDB7AA-1DD1-5D13-CDCC-33A06C51CD43}"/>
              </a:ext>
            </a:extLst>
          </p:cNvPr>
          <p:cNvSpPr txBox="1"/>
          <p:nvPr/>
        </p:nvSpPr>
        <p:spPr>
          <a:xfrm>
            <a:off x="275095" y="1414888"/>
            <a:ext cx="2859991" cy="369332"/>
          </a:xfrm>
          <a:prstGeom prst="rect">
            <a:avLst/>
          </a:prstGeom>
          <a:noFill/>
        </p:spPr>
        <p:txBody>
          <a:bodyPr wrap="square">
            <a:spAutoFit/>
          </a:bodyPr>
          <a:lstStyle/>
          <a:p>
            <a:r>
              <a:rPr lang="en-US" altLang="ja-JP" dirty="0"/>
              <a:t>Actual and Predictions</a:t>
            </a:r>
          </a:p>
        </p:txBody>
      </p:sp>
      <p:sp>
        <p:nvSpPr>
          <p:cNvPr id="6" name="テキスト ボックス 5">
            <a:extLst>
              <a:ext uri="{FF2B5EF4-FFF2-40B4-BE49-F238E27FC236}">
                <a16:creationId xmlns:a16="http://schemas.microsoft.com/office/drawing/2014/main" id="{747F032F-D1A6-0974-6EAE-90A5A5119CFC}"/>
              </a:ext>
            </a:extLst>
          </p:cNvPr>
          <p:cNvSpPr txBox="1"/>
          <p:nvPr/>
        </p:nvSpPr>
        <p:spPr>
          <a:xfrm>
            <a:off x="6096000" y="1428872"/>
            <a:ext cx="3322320" cy="369332"/>
          </a:xfrm>
          <a:prstGeom prst="rect">
            <a:avLst/>
          </a:prstGeom>
          <a:noFill/>
        </p:spPr>
        <p:txBody>
          <a:bodyPr wrap="square">
            <a:spAutoFit/>
          </a:bodyPr>
          <a:lstStyle/>
          <a:p>
            <a:r>
              <a:rPr lang="en-US" altLang="ja-JP" dirty="0"/>
              <a:t>Actual and Predictions</a:t>
            </a:r>
          </a:p>
        </p:txBody>
      </p:sp>
      <p:sp>
        <p:nvSpPr>
          <p:cNvPr id="19" name="テキスト ボックス 18">
            <a:extLst>
              <a:ext uri="{FF2B5EF4-FFF2-40B4-BE49-F238E27FC236}">
                <a16:creationId xmlns:a16="http://schemas.microsoft.com/office/drawing/2014/main" id="{18C29E7B-6D26-3715-2FD6-D921008421DE}"/>
              </a:ext>
            </a:extLst>
          </p:cNvPr>
          <p:cNvSpPr txBox="1"/>
          <p:nvPr/>
        </p:nvSpPr>
        <p:spPr>
          <a:xfrm>
            <a:off x="5904411" y="1065957"/>
            <a:ext cx="6113416" cy="369332"/>
          </a:xfrm>
          <a:prstGeom prst="rect">
            <a:avLst/>
          </a:prstGeom>
          <a:noFill/>
        </p:spPr>
        <p:txBody>
          <a:bodyPr wrap="square">
            <a:spAutoFit/>
          </a:bodyPr>
          <a:lstStyle/>
          <a:p>
            <a:pPr lvl="0">
              <a:defRPr/>
            </a:pPr>
            <a:r>
              <a:rPr lang="ja-JP" altLang="en-US" dirty="0">
                <a:solidFill>
                  <a:prstClr val="black"/>
                </a:solidFill>
              </a:rPr>
              <a:t>・</a:t>
            </a:r>
            <a:r>
              <a:rPr lang="en-US" altLang="ja-JP" dirty="0">
                <a:solidFill>
                  <a:prstClr val="black"/>
                </a:solidFill>
              </a:rPr>
              <a:t>Lasso regression</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sp>
        <p:nvSpPr>
          <p:cNvPr id="21" name="テキスト ボックス 20">
            <a:extLst>
              <a:ext uri="{FF2B5EF4-FFF2-40B4-BE49-F238E27FC236}">
                <a16:creationId xmlns:a16="http://schemas.microsoft.com/office/drawing/2014/main" id="{501C98AE-C32F-9181-03DA-BBC038E67A02}"/>
              </a:ext>
            </a:extLst>
          </p:cNvPr>
          <p:cNvSpPr txBox="1"/>
          <p:nvPr/>
        </p:nvSpPr>
        <p:spPr>
          <a:xfrm>
            <a:off x="18522" y="1065957"/>
            <a:ext cx="6093822" cy="369332"/>
          </a:xfrm>
          <a:prstGeom prst="rect">
            <a:avLst/>
          </a:prstGeom>
          <a:noFill/>
        </p:spPr>
        <p:txBody>
          <a:bodyPr wrap="square">
            <a:spAutoFit/>
          </a:bodyPr>
          <a:lstStyle/>
          <a:p>
            <a:r>
              <a:rPr lang="ja-JP" altLang="en-US" dirty="0">
                <a:solidFill>
                  <a:prstClr val="black"/>
                </a:solidFill>
              </a:rPr>
              <a:t>・</a:t>
            </a:r>
            <a:r>
              <a:rPr lang="en-US" altLang="ja-JP" dirty="0">
                <a:solidFill>
                  <a:prstClr val="black"/>
                </a:solidFill>
              </a:rPr>
              <a:t>Linear regression</a:t>
            </a:r>
            <a:endParaRPr lang="ja-JP" altLang="en-US" dirty="0"/>
          </a:p>
        </p:txBody>
      </p:sp>
      <p:pic>
        <p:nvPicPr>
          <p:cNvPr id="23" name="図 22" descr="テキスト&#10;&#10;AI 生成コンテンツは誤りを含む可能性があります。">
            <a:extLst>
              <a:ext uri="{FF2B5EF4-FFF2-40B4-BE49-F238E27FC236}">
                <a16:creationId xmlns:a16="http://schemas.microsoft.com/office/drawing/2014/main" id="{6DACE06A-6AA8-2A03-E000-0035F8599552}"/>
              </a:ext>
            </a:extLst>
          </p:cNvPr>
          <p:cNvPicPr>
            <a:picLocks noChangeAspect="1"/>
          </p:cNvPicPr>
          <p:nvPr/>
        </p:nvPicPr>
        <p:blipFill>
          <a:blip r:embed="rId3">
            <a:extLst>
              <a:ext uri="{28A0092B-C50C-407E-A947-70E740481C1C}">
                <a14:useLocalDpi xmlns:a14="http://schemas.microsoft.com/office/drawing/2010/main" val="0"/>
              </a:ext>
            </a:extLst>
          </a:blip>
          <a:srcRect t="48710" r="68099"/>
          <a:stretch>
            <a:fillRect/>
          </a:stretch>
        </p:blipFill>
        <p:spPr>
          <a:xfrm>
            <a:off x="1065032" y="1846444"/>
            <a:ext cx="2686805" cy="3227337"/>
          </a:xfrm>
          <a:prstGeom prst="rect">
            <a:avLst/>
          </a:prstGeom>
        </p:spPr>
      </p:pic>
      <p:pic>
        <p:nvPicPr>
          <p:cNvPr id="25" name="図 24"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921D2532-631B-AB84-D0D1-33655848FFD5}"/>
              </a:ext>
            </a:extLst>
          </p:cNvPr>
          <p:cNvPicPr>
            <a:picLocks noChangeAspect="1"/>
          </p:cNvPicPr>
          <p:nvPr/>
        </p:nvPicPr>
        <p:blipFill>
          <a:blip r:embed="rId4">
            <a:extLst>
              <a:ext uri="{28A0092B-C50C-407E-A947-70E740481C1C}">
                <a14:useLocalDpi xmlns:a14="http://schemas.microsoft.com/office/drawing/2010/main" val="0"/>
              </a:ext>
            </a:extLst>
          </a:blip>
          <a:srcRect t="75473" r="57832"/>
          <a:stretch>
            <a:fillRect/>
          </a:stretch>
        </p:blipFill>
        <p:spPr>
          <a:xfrm>
            <a:off x="1065032" y="5350382"/>
            <a:ext cx="5047312" cy="1316984"/>
          </a:xfrm>
          <a:prstGeom prst="rect">
            <a:avLst/>
          </a:prstGeom>
        </p:spPr>
      </p:pic>
      <p:pic>
        <p:nvPicPr>
          <p:cNvPr id="31" name="図 30" descr="テーブル&#10;&#10;AI 生成コンテンツは誤りを含む可能性があります。">
            <a:extLst>
              <a:ext uri="{FF2B5EF4-FFF2-40B4-BE49-F238E27FC236}">
                <a16:creationId xmlns:a16="http://schemas.microsoft.com/office/drawing/2014/main" id="{435F2E45-D1DA-8DBA-295E-6AE0FDE711BA}"/>
              </a:ext>
            </a:extLst>
          </p:cNvPr>
          <p:cNvPicPr>
            <a:picLocks noChangeAspect="1"/>
          </p:cNvPicPr>
          <p:nvPr/>
        </p:nvPicPr>
        <p:blipFill>
          <a:blip r:embed="rId5">
            <a:extLst>
              <a:ext uri="{28A0092B-C50C-407E-A947-70E740481C1C}">
                <a14:useLocalDpi xmlns:a14="http://schemas.microsoft.com/office/drawing/2010/main" val="0"/>
              </a:ext>
            </a:extLst>
          </a:blip>
          <a:srcRect t="19644" r="50210" b="8577"/>
          <a:stretch>
            <a:fillRect/>
          </a:stretch>
        </p:blipFill>
        <p:spPr>
          <a:xfrm>
            <a:off x="5631650" y="1808553"/>
            <a:ext cx="3107401" cy="3264554"/>
          </a:xfrm>
          <a:prstGeom prst="rect">
            <a:avLst/>
          </a:prstGeom>
        </p:spPr>
      </p:pic>
      <p:pic>
        <p:nvPicPr>
          <p:cNvPr id="33" name="図 32" descr="グラフィカル ユーザー インターフェイス, テキスト, アプリケーション, チャットまたはテキスト メッセージ&#10;&#10;AI 生成コンテンツは誤りを含む可能性があります。">
            <a:extLst>
              <a:ext uri="{FF2B5EF4-FFF2-40B4-BE49-F238E27FC236}">
                <a16:creationId xmlns:a16="http://schemas.microsoft.com/office/drawing/2014/main" id="{27915845-181B-84DE-A433-CA6486DCAAD9}"/>
              </a:ext>
            </a:extLst>
          </p:cNvPr>
          <p:cNvPicPr>
            <a:picLocks noChangeAspect="1"/>
          </p:cNvPicPr>
          <p:nvPr/>
        </p:nvPicPr>
        <p:blipFill>
          <a:blip r:embed="rId6">
            <a:extLst>
              <a:ext uri="{28A0092B-C50C-407E-A947-70E740481C1C}">
                <a14:useLocalDpi xmlns:a14="http://schemas.microsoft.com/office/drawing/2010/main" val="0"/>
              </a:ext>
            </a:extLst>
          </a:blip>
          <a:srcRect t="72975" r="70902"/>
          <a:stretch>
            <a:fillRect/>
          </a:stretch>
        </p:blipFill>
        <p:spPr>
          <a:xfrm>
            <a:off x="5631650" y="5122020"/>
            <a:ext cx="3792861" cy="1609654"/>
          </a:xfrm>
          <a:prstGeom prst="rect">
            <a:avLst/>
          </a:prstGeom>
        </p:spPr>
      </p:pic>
    </p:spTree>
    <p:extLst>
      <p:ext uri="{BB962C8B-B14F-4D97-AF65-F5344CB8AC3E}">
        <p14:creationId xmlns:p14="http://schemas.microsoft.com/office/powerpoint/2010/main" val="980223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44E9-1771-46C4-7CFA-9B627068A89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E795570-786B-AD83-804B-A879963CD600}"/>
              </a:ext>
            </a:extLst>
          </p:cNvPr>
          <p:cNvSpPr txBox="1"/>
          <p:nvPr/>
        </p:nvSpPr>
        <p:spPr>
          <a:xfrm>
            <a:off x="275093" y="149121"/>
            <a:ext cx="5118315" cy="523220"/>
          </a:xfrm>
          <a:prstGeom prst="rect">
            <a:avLst/>
          </a:prstGeom>
          <a:noFill/>
        </p:spPr>
        <p:txBody>
          <a:bodyPr wrap="square">
            <a:spAutoFit/>
          </a:bodyPr>
          <a:lstStyle/>
          <a:p>
            <a:r>
              <a:rPr lang="en-US" altLang="ja-JP" sz="2800" dirty="0"/>
              <a:t>result</a:t>
            </a:r>
            <a:endParaRPr lang="en-US" altLang="ja-JP" dirty="0"/>
          </a:p>
        </p:txBody>
      </p:sp>
      <p:sp>
        <p:nvSpPr>
          <p:cNvPr id="8" name="テキスト ボックス 7">
            <a:extLst>
              <a:ext uri="{FF2B5EF4-FFF2-40B4-BE49-F238E27FC236}">
                <a16:creationId xmlns:a16="http://schemas.microsoft.com/office/drawing/2014/main" id="{8E4160CE-6C49-E72D-795F-C6054F3B0EC8}"/>
              </a:ext>
            </a:extLst>
          </p:cNvPr>
          <p:cNvSpPr txBox="1"/>
          <p:nvPr/>
        </p:nvSpPr>
        <p:spPr>
          <a:xfrm>
            <a:off x="275095" y="1414888"/>
            <a:ext cx="2859991" cy="369332"/>
          </a:xfrm>
          <a:prstGeom prst="rect">
            <a:avLst/>
          </a:prstGeom>
          <a:noFill/>
        </p:spPr>
        <p:txBody>
          <a:bodyPr wrap="square">
            <a:spAutoFit/>
          </a:bodyPr>
          <a:lstStyle/>
          <a:p>
            <a:r>
              <a:rPr lang="en-US" altLang="ja-JP" dirty="0"/>
              <a:t>Actual and Predictions</a:t>
            </a:r>
          </a:p>
        </p:txBody>
      </p:sp>
      <p:sp>
        <p:nvSpPr>
          <p:cNvPr id="9" name="テキスト ボックス 8">
            <a:extLst>
              <a:ext uri="{FF2B5EF4-FFF2-40B4-BE49-F238E27FC236}">
                <a16:creationId xmlns:a16="http://schemas.microsoft.com/office/drawing/2014/main" id="{4ABBB20D-300F-94B8-B951-4F87E6875AEE}"/>
              </a:ext>
            </a:extLst>
          </p:cNvPr>
          <p:cNvSpPr txBox="1"/>
          <p:nvPr/>
        </p:nvSpPr>
        <p:spPr>
          <a:xfrm>
            <a:off x="6096000" y="1428872"/>
            <a:ext cx="3322320" cy="369332"/>
          </a:xfrm>
          <a:prstGeom prst="rect">
            <a:avLst/>
          </a:prstGeom>
          <a:noFill/>
        </p:spPr>
        <p:txBody>
          <a:bodyPr wrap="square">
            <a:spAutoFit/>
          </a:bodyPr>
          <a:lstStyle/>
          <a:p>
            <a:r>
              <a:rPr lang="en-US" altLang="ja-JP" dirty="0"/>
              <a:t>Actual and predictions</a:t>
            </a:r>
          </a:p>
        </p:txBody>
      </p:sp>
      <p:sp>
        <p:nvSpPr>
          <p:cNvPr id="10" name="テキスト ボックス 9">
            <a:extLst>
              <a:ext uri="{FF2B5EF4-FFF2-40B4-BE49-F238E27FC236}">
                <a16:creationId xmlns:a16="http://schemas.microsoft.com/office/drawing/2014/main" id="{C494B974-5907-5A33-6EA2-940AF37CC3AF}"/>
              </a:ext>
            </a:extLst>
          </p:cNvPr>
          <p:cNvSpPr txBox="1"/>
          <p:nvPr/>
        </p:nvSpPr>
        <p:spPr>
          <a:xfrm>
            <a:off x="5823083" y="1045556"/>
            <a:ext cx="6093822" cy="369332"/>
          </a:xfrm>
          <a:prstGeom prst="rect">
            <a:avLst/>
          </a:prstGeom>
          <a:noFill/>
        </p:spPr>
        <p:txBody>
          <a:bodyPr wrap="square">
            <a:spAutoFit/>
          </a:bodyPr>
          <a:lstStyle/>
          <a:p>
            <a:r>
              <a:rPr lang="ja-JP" altLang="en-US" dirty="0"/>
              <a:t>・Huber regression</a:t>
            </a:r>
          </a:p>
        </p:txBody>
      </p:sp>
      <p:sp>
        <p:nvSpPr>
          <p:cNvPr id="13" name="テキスト ボックス 12">
            <a:extLst>
              <a:ext uri="{FF2B5EF4-FFF2-40B4-BE49-F238E27FC236}">
                <a16:creationId xmlns:a16="http://schemas.microsoft.com/office/drawing/2014/main" id="{325C2748-4CB6-FD53-9CA1-C90F59EE33B7}"/>
              </a:ext>
            </a:extLst>
          </p:cNvPr>
          <p:cNvSpPr txBox="1"/>
          <p:nvPr/>
        </p:nvSpPr>
        <p:spPr>
          <a:xfrm>
            <a:off x="2178" y="1085272"/>
            <a:ext cx="6093822" cy="369332"/>
          </a:xfrm>
          <a:prstGeom prst="rect">
            <a:avLst/>
          </a:prstGeom>
          <a:noFill/>
        </p:spPr>
        <p:txBody>
          <a:bodyPr wrap="square">
            <a:spAutoFit/>
          </a:bodyPr>
          <a:lstStyle/>
          <a:p>
            <a:pPr lvl="0">
              <a:defRPr/>
            </a:pPr>
            <a:r>
              <a:rPr lang="ja-JP" altLang="en-US" dirty="0">
                <a:solidFill>
                  <a:prstClr val="black"/>
                </a:solidFill>
              </a:rPr>
              <a:t>・</a:t>
            </a:r>
            <a:r>
              <a:rPr lang="en-US" altLang="ja-JP" dirty="0">
                <a:solidFill>
                  <a:prstClr val="black"/>
                </a:solidFill>
              </a:rPr>
              <a:t>Ridge regression</a:t>
            </a:r>
          </a:p>
        </p:txBody>
      </p:sp>
      <p:pic>
        <p:nvPicPr>
          <p:cNvPr id="27" name="図 26" descr="テキスト, テーブル&#10;&#10;AI 生成コンテンツは誤りを含む可能性があります。">
            <a:extLst>
              <a:ext uri="{FF2B5EF4-FFF2-40B4-BE49-F238E27FC236}">
                <a16:creationId xmlns:a16="http://schemas.microsoft.com/office/drawing/2014/main" id="{6F260A0B-3EEA-0B3C-7FDB-073D316A0E4F}"/>
              </a:ext>
            </a:extLst>
          </p:cNvPr>
          <p:cNvPicPr>
            <a:picLocks noChangeAspect="1"/>
          </p:cNvPicPr>
          <p:nvPr/>
        </p:nvPicPr>
        <p:blipFill>
          <a:blip r:embed="rId3">
            <a:extLst>
              <a:ext uri="{28A0092B-C50C-407E-A947-70E740481C1C}">
                <a14:useLocalDpi xmlns:a14="http://schemas.microsoft.com/office/drawing/2010/main" val="0"/>
              </a:ext>
            </a:extLst>
          </a:blip>
          <a:srcRect t="17187" r="43150"/>
          <a:stretch>
            <a:fillRect/>
          </a:stretch>
        </p:blipFill>
        <p:spPr>
          <a:xfrm>
            <a:off x="881890" y="1784220"/>
            <a:ext cx="3513909" cy="3399240"/>
          </a:xfrm>
          <a:prstGeom prst="rect">
            <a:avLst/>
          </a:prstGeom>
        </p:spPr>
      </p:pic>
      <p:pic>
        <p:nvPicPr>
          <p:cNvPr id="29" name="図 28" descr="グラフィカル ユーザー インターフェイス, テキスト, アプリケーション, チャットまたはテキスト メッセージ&#10;&#10;AI 生成コンテンツは誤りを含む可能性があります。">
            <a:extLst>
              <a:ext uri="{FF2B5EF4-FFF2-40B4-BE49-F238E27FC236}">
                <a16:creationId xmlns:a16="http://schemas.microsoft.com/office/drawing/2014/main" id="{58AA78B9-3B9A-D04A-28FB-1C47481BA65C}"/>
              </a:ext>
            </a:extLst>
          </p:cNvPr>
          <p:cNvPicPr>
            <a:picLocks noChangeAspect="1"/>
          </p:cNvPicPr>
          <p:nvPr/>
        </p:nvPicPr>
        <p:blipFill>
          <a:blip r:embed="rId4">
            <a:extLst>
              <a:ext uri="{28A0092B-C50C-407E-A947-70E740481C1C}">
                <a14:useLocalDpi xmlns:a14="http://schemas.microsoft.com/office/drawing/2010/main" val="0"/>
              </a:ext>
            </a:extLst>
          </a:blip>
          <a:srcRect t="74936" r="67701"/>
          <a:stretch>
            <a:fillRect/>
          </a:stretch>
        </p:blipFill>
        <p:spPr>
          <a:xfrm>
            <a:off x="275093" y="5305697"/>
            <a:ext cx="4252024" cy="1507618"/>
          </a:xfrm>
          <a:prstGeom prst="rect">
            <a:avLst/>
          </a:prstGeom>
        </p:spPr>
      </p:pic>
      <p:pic>
        <p:nvPicPr>
          <p:cNvPr id="15" name="図 14" descr="テキスト&#10;&#10;AI 生成コンテンツは誤りを含む可能性があります。">
            <a:extLst>
              <a:ext uri="{FF2B5EF4-FFF2-40B4-BE49-F238E27FC236}">
                <a16:creationId xmlns:a16="http://schemas.microsoft.com/office/drawing/2014/main" id="{D04DD0B1-4492-BD86-5D24-89E62303CBB4}"/>
              </a:ext>
            </a:extLst>
          </p:cNvPr>
          <p:cNvPicPr>
            <a:picLocks noChangeAspect="1"/>
          </p:cNvPicPr>
          <p:nvPr/>
        </p:nvPicPr>
        <p:blipFill>
          <a:blip r:embed="rId5">
            <a:extLst>
              <a:ext uri="{28A0092B-C50C-407E-A947-70E740481C1C}">
                <a14:useLocalDpi xmlns:a14="http://schemas.microsoft.com/office/drawing/2010/main" val="0"/>
              </a:ext>
            </a:extLst>
          </a:blip>
          <a:srcRect t="19705" r="51609"/>
          <a:stretch>
            <a:fillRect/>
          </a:stretch>
        </p:blipFill>
        <p:spPr>
          <a:xfrm>
            <a:off x="5823083" y="1785617"/>
            <a:ext cx="3071886" cy="3358127"/>
          </a:xfrm>
          <a:prstGeom prst="rect">
            <a:avLst/>
          </a:prstGeom>
        </p:spPr>
      </p:pic>
      <p:pic>
        <p:nvPicPr>
          <p:cNvPr id="17" name="図 16" descr="テキスト&#10;&#10;AI 生成コンテンツは誤りを含む可能性があります。">
            <a:extLst>
              <a:ext uri="{FF2B5EF4-FFF2-40B4-BE49-F238E27FC236}">
                <a16:creationId xmlns:a16="http://schemas.microsoft.com/office/drawing/2014/main" id="{2EA3EA55-F773-C300-89BF-E42B2ED2DD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3083" y="5305697"/>
            <a:ext cx="4252024" cy="1471335"/>
          </a:xfrm>
          <a:prstGeom prst="rect">
            <a:avLst/>
          </a:prstGeom>
        </p:spPr>
      </p:pic>
    </p:spTree>
    <p:extLst>
      <p:ext uri="{BB962C8B-B14F-4D97-AF65-F5344CB8AC3E}">
        <p14:creationId xmlns:p14="http://schemas.microsoft.com/office/powerpoint/2010/main" val="2286417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FDCA-9B06-BFFF-919B-21D6EA6B14B9}"/>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5C443E9-3B04-376F-D487-BE2F153E4A50}"/>
              </a:ext>
            </a:extLst>
          </p:cNvPr>
          <p:cNvSpPr txBox="1"/>
          <p:nvPr/>
        </p:nvSpPr>
        <p:spPr>
          <a:xfrm>
            <a:off x="771040" y="768479"/>
            <a:ext cx="9561680" cy="2492990"/>
          </a:xfrm>
          <a:prstGeom prst="rect">
            <a:avLst/>
          </a:prstGeom>
          <a:noFill/>
        </p:spPr>
        <p:txBody>
          <a:bodyPr wrap="square">
            <a:spAutoFit/>
          </a:bodyPr>
          <a:lstStyle/>
          <a:p>
            <a:r>
              <a:rPr lang="en-US" altLang="ja-JP" sz="2000" dirty="0"/>
              <a:t>Summary</a:t>
            </a:r>
          </a:p>
          <a:p>
            <a:r>
              <a:rPr lang="ja-JP" altLang="en-US" sz="2000" dirty="0"/>
              <a:t>・</a:t>
            </a:r>
            <a:r>
              <a:rPr lang="en-US" altLang="ja-JP" sz="2000" dirty="0"/>
              <a:t>This time, analysis was performed using four analysis methods.</a:t>
            </a:r>
          </a:p>
          <a:p>
            <a:r>
              <a:rPr lang="ja-JP" altLang="en-US" sz="2000" dirty="0"/>
              <a:t>・</a:t>
            </a:r>
            <a:r>
              <a:rPr lang="en-US" altLang="ja-JP" sz="2000" dirty="0"/>
              <a:t>The results showed little error and a good R2 score. Therefore, it is thought that scores can be estimated to a certain extent from the data.</a:t>
            </a:r>
          </a:p>
          <a:p>
            <a:r>
              <a:rPr lang="ja-JP" altLang="en-US" sz="2000" dirty="0"/>
              <a:t>・</a:t>
            </a:r>
            <a:r>
              <a:rPr lang="en-US" altLang="ja-JP" sz="2000" dirty="0"/>
              <a:t>Unsupervised learning was performed using all four methods, but no changes were observed, so other methods will need to be considered.</a:t>
            </a:r>
            <a:endParaRPr kumimoji="1" lang="en-US" altLang="ja-JP" sz="2000" dirty="0"/>
          </a:p>
          <a:p>
            <a:endParaRPr kumimoji="1" lang="en-US" altLang="ja-JP" dirty="0"/>
          </a:p>
          <a:p>
            <a:endParaRPr kumimoji="1" lang="en-US" altLang="ja-JP" dirty="0"/>
          </a:p>
        </p:txBody>
      </p:sp>
    </p:spTree>
    <p:extLst>
      <p:ext uri="{BB962C8B-B14F-4D97-AF65-F5344CB8AC3E}">
        <p14:creationId xmlns:p14="http://schemas.microsoft.com/office/powerpoint/2010/main" val="255237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20451-F155-6063-DA5D-DA40BB9E1130}"/>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2270035F-4F1C-A47C-BDC9-DCD45D51875E}"/>
              </a:ext>
            </a:extLst>
          </p:cNvPr>
          <p:cNvSpPr txBox="1"/>
          <p:nvPr/>
        </p:nvSpPr>
        <p:spPr>
          <a:xfrm>
            <a:off x="2052320" y="3105834"/>
            <a:ext cx="9509760" cy="646331"/>
          </a:xfrm>
          <a:prstGeom prst="rect">
            <a:avLst/>
          </a:prstGeom>
          <a:noFill/>
        </p:spPr>
        <p:txBody>
          <a:bodyPr wrap="square">
            <a:spAutoFit/>
          </a:bodyPr>
          <a:lstStyle/>
          <a:p>
            <a:r>
              <a:rPr lang="ja-JP" altLang="en-US" sz="3600" dirty="0"/>
              <a:t>Thank you for listening to my speech</a:t>
            </a:r>
          </a:p>
        </p:txBody>
      </p:sp>
    </p:spTree>
    <p:extLst>
      <p:ext uri="{BB962C8B-B14F-4D97-AF65-F5344CB8AC3E}">
        <p14:creationId xmlns:p14="http://schemas.microsoft.com/office/powerpoint/2010/main" val="841985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A0979-0A21-818E-9A9C-04C37B90F48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CB3EAFC-B9D7-A523-34D9-5E9B9113BBCA}"/>
              </a:ext>
            </a:extLst>
          </p:cNvPr>
          <p:cNvSpPr txBox="1"/>
          <p:nvPr/>
        </p:nvSpPr>
        <p:spPr>
          <a:xfrm>
            <a:off x="3498742" y="2967335"/>
            <a:ext cx="6098582" cy="923330"/>
          </a:xfrm>
          <a:prstGeom prst="rect">
            <a:avLst/>
          </a:prstGeom>
          <a:noFill/>
        </p:spPr>
        <p:txBody>
          <a:bodyPr wrap="square">
            <a:spAutoFit/>
          </a:bodyPr>
          <a:lstStyle/>
          <a:p>
            <a:r>
              <a:rPr lang="ja-JP" altLang="en-US" dirty="0"/>
              <a:t>タイトル</a:t>
            </a:r>
            <a:endParaRPr lang="en-US" altLang="ja-JP" dirty="0"/>
          </a:p>
          <a:p>
            <a:r>
              <a:rPr lang="ja-JP" altLang="en-US" dirty="0"/>
              <a:t>→テストの点数を機械学習から予測</a:t>
            </a:r>
            <a:endParaRPr lang="en-US" altLang="ja-JP" dirty="0"/>
          </a:p>
          <a:p>
            <a:endParaRPr lang="en-US" altLang="ja-JP" dirty="0"/>
          </a:p>
        </p:txBody>
      </p:sp>
      <p:sp>
        <p:nvSpPr>
          <p:cNvPr id="2" name="テキスト ボックス 1">
            <a:extLst>
              <a:ext uri="{FF2B5EF4-FFF2-40B4-BE49-F238E27FC236}">
                <a16:creationId xmlns:a16="http://schemas.microsoft.com/office/drawing/2014/main" id="{06AB606D-8154-9C0A-92B0-48EF7C7113D0}"/>
              </a:ext>
            </a:extLst>
          </p:cNvPr>
          <p:cNvSpPr txBox="1"/>
          <p:nvPr/>
        </p:nvSpPr>
        <p:spPr>
          <a:xfrm>
            <a:off x="3498742" y="4186404"/>
            <a:ext cx="5939726" cy="523220"/>
          </a:xfrm>
          <a:prstGeom prst="rect">
            <a:avLst/>
          </a:prstGeom>
          <a:noFill/>
        </p:spPr>
        <p:txBody>
          <a:bodyPr wrap="square" rtlCol="0">
            <a:spAutoFit/>
          </a:bodyPr>
          <a:lstStyle/>
          <a:p>
            <a:r>
              <a:rPr kumimoji="1" lang="en-US" altLang="ja-JP" sz="2800" dirty="0"/>
              <a:t>5-E-4   Satoru Kato</a:t>
            </a:r>
          </a:p>
        </p:txBody>
      </p:sp>
    </p:spTree>
    <p:extLst>
      <p:ext uri="{BB962C8B-B14F-4D97-AF65-F5344CB8AC3E}">
        <p14:creationId xmlns:p14="http://schemas.microsoft.com/office/powerpoint/2010/main" val="1848482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074D0FB-29F3-5298-B27C-CEF96B481FB9}"/>
              </a:ext>
            </a:extLst>
          </p:cNvPr>
          <p:cNvSpPr txBox="1"/>
          <p:nvPr/>
        </p:nvSpPr>
        <p:spPr>
          <a:xfrm>
            <a:off x="418454" y="309967"/>
            <a:ext cx="3735092" cy="2308324"/>
          </a:xfrm>
          <a:prstGeom prst="rect">
            <a:avLst/>
          </a:prstGeom>
          <a:noFill/>
        </p:spPr>
        <p:txBody>
          <a:bodyPr wrap="square" rtlCol="0">
            <a:spAutoFit/>
          </a:bodyPr>
          <a:lstStyle/>
          <a:p>
            <a:r>
              <a:rPr lang="ja-JP" altLang="en-US" dirty="0"/>
              <a:t>・書く</a:t>
            </a:r>
            <a:r>
              <a:rPr kumimoji="1" lang="ja-JP" altLang="en-US" dirty="0"/>
              <a:t>内容</a:t>
            </a:r>
            <a:endParaRPr kumimoji="1" lang="en-US" altLang="ja-JP" dirty="0"/>
          </a:p>
          <a:p>
            <a:r>
              <a:rPr lang="ja-JP" altLang="en-US" dirty="0"/>
              <a:t>タイトル</a:t>
            </a:r>
            <a:endParaRPr lang="en-US" altLang="ja-JP" dirty="0"/>
          </a:p>
          <a:p>
            <a:r>
              <a:rPr lang="ja-JP" altLang="en-US" dirty="0"/>
              <a:t>どういうことをやったん</a:t>
            </a:r>
            <a:endParaRPr lang="en-US" altLang="ja-JP" dirty="0"/>
          </a:p>
          <a:p>
            <a:r>
              <a:rPr lang="ja-JP" altLang="en-US" dirty="0"/>
              <a:t>データの結果</a:t>
            </a:r>
            <a:endParaRPr lang="en-US" altLang="ja-JP" dirty="0"/>
          </a:p>
          <a:p>
            <a:r>
              <a:rPr kumimoji="1" lang="ja-JP" altLang="en-US" dirty="0"/>
              <a:t>まとめ</a:t>
            </a:r>
            <a:endParaRPr kumimoji="1" lang="en-US" altLang="ja-JP" dirty="0"/>
          </a:p>
          <a:p>
            <a:endParaRPr kumimoji="1" lang="en-US" altLang="ja-JP" dirty="0"/>
          </a:p>
          <a:p>
            <a:endParaRPr lang="en-US" altLang="ja-JP" dirty="0"/>
          </a:p>
          <a:p>
            <a:endParaRPr kumimoji="1" lang="ja-JP" altLang="en-US" dirty="0"/>
          </a:p>
        </p:txBody>
      </p:sp>
    </p:spTree>
    <p:extLst>
      <p:ext uri="{BB962C8B-B14F-4D97-AF65-F5344CB8AC3E}">
        <p14:creationId xmlns:p14="http://schemas.microsoft.com/office/powerpoint/2010/main" val="319199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18F4-CDA4-5A55-AC51-7C0487A3517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625156E-DDB8-15D4-0010-DAE73E1DB4D5}"/>
              </a:ext>
            </a:extLst>
          </p:cNvPr>
          <p:cNvSpPr txBox="1"/>
          <p:nvPr/>
        </p:nvSpPr>
        <p:spPr>
          <a:xfrm>
            <a:off x="650928" y="681925"/>
            <a:ext cx="10011905" cy="2308324"/>
          </a:xfrm>
          <a:prstGeom prst="rect">
            <a:avLst/>
          </a:prstGeom>
          <a:noFill/>
        </p:spPr>
        <p:txBody>
          <a:bodyPr wrap="square" rtlCol="0">
            <a:spAutoFit/>
          </a:bodyPr>
          <a:lstStyle/>
          <a:p>
            <a:r>
              <a:rPr lang="ja-JP" altLang="en-US" dirty="0"/>
              <a:t>使用</a:t>
            </a:r>
            <a:r>
              <a:rPr kumimoji="1" lang="ja-JP" altLang="en-US" dirty="0"/>
              <a:t>したデータセット</a:t>
            </a:r>
            <a:endParaRPr kumimoji="1" lang="en-US" altLang="ja-JP" dirty="0"/>
          </a:p>
          <a:p>
            <a:r>
              <a:rPr lang="en-US" altLang="ja-JP" cap="all" dirty="0"/>
              <a:t>Timothy Adeyemi</a:t>
            </a:r>
            <a:r>
              <a:rPr lang="ja-JP" altLang="en-US" cap="all" dirty="0"/>
              <a:t>の</a:t>
            </a:r>
            <a:r>
              <a:rPr lang="en-US" altLang="ja-JP" dirty="0"/>
              <a:t>Student Performance</a:t>
            </a:r>
          </a:p>
          <a:p>
            <a:r>
              <a:rPr lang="ja-JP" altLang="en-US" dirty="0"/>
              <a:t>リンク：</a:t>
            </a:r>
            <a:r>
              <a:rPr lang="en-US" altLang="ja-JP" dirty="0"/>
              <a:t>https://www.kaggle.com/datasets/timothyadeyemi/student-performance</a:t>
            </a:r>
          </a:p>
          <a:p>
            <a:r>
              <a:rPr kumimoji="1" lang="ja-JP" altLang="en-US" dirty="0"/>
              <a:t>→このデータセットには勉強時間、</a:t>
            </a:r>
            <a:r>
              <a:rPr lang="ja-JP" altLang="en-US" dirty="0"/>
              <a:t>出席状況など学業成績に影響を与える側面に関する情報が含まれています</a:t>
            </a:r>
            <a:endParaRPr kumimoji="1" lang="en-US" altLang="ja-JP" dirty="0"/>
          </a:p>
          <a:p>
            <a:endParaRPr kumimoji="1" lang="en-US" altLang="ja-JP" dirty="0"/>
          </a:p>
          <a:p>
            <a:r>
              <a:rPr lang="ja-JP" altLang="en-US" dirty="0"/>
              <a:t>今回用いるデータ：</a:t>
            </a:r>
            <a:endParaRPr lang="en-US" altLang="ja-JP" dirty="0"/>
          </a:p>
          <a:p>
            <a:endParaRPr lang="en-US" altLang="ja-JP" dirty="0"/>
          </a:p>
        </p:txBody>
      </p:sp>
      <p:pic>
        <p:nvPicPr>
          <p:cNvPr id="4" name="図 3">
            <a:extLst>
              <a:ext uri="{FF2B5EF4-FFF2-40B4-BE49-F238E27FC236}">
                <a16:creationId xmlns:a16="http://schemas.microsoft.com/office/drawing/2014/main" id="{C084379F-DC76-AA72-3B51-9CD037447251}"/>
              </a:ext>
            </a:extLst>
          </p:cNvPr>
          <p:cNvPicPr>
            <a:picLocks noChangeAspect="1"/>
          </p:cNvPicPr>
          <p:nvPr/>
        </p:nvPicPr>
        <p:blipFill>
          <a:blip r:embed="rId3"/>
          <a:stretch>
            <a:fillRect/>
          </a:stretch>
        </p:blipFill>
        <p:spPr>
          <a:xfrm>
            <a:off x="1407522" y="2990249"/>
            <a:ext cx="9005704" cy="2491332"/>
          </a:xfrm>
          <a:prstGeom prst="rect">
            <a:avLst/>
          </a:prstGeom>
        </p:spPr>
      </p:pic>
    </p:spTree>
    <p:extLst>
      <p:ext uri="{BB962C8B-B14F-4D97-AF65-F5344CB8AC3E}">
        <p14:creationId xmlns:p14="http://schemas.microsoft.com/office/powerpoint/2010/main" val="75021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339B-7995-009D-D873-B20C56290094}"/>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939C090-D52C-0983-B917-7FE263FF1C77}"/>
              </a:ext>
            </a:extLst>
          </p:cNvPr>
          <p:cNvSpPr txBox="1"/>
          <p:nvPr/>
        </p:nvSpPr>
        <p:spPr>
          <a:xfrm>
            <a:off x="600559" y="551503"/>
            <a:ext cx="9411346" cy="646331"/>
          </a:xfrm>
          <a:prstGeom prst="rect">
            <a:avLst/>
          </a:prstGeom>
          <a:noFill/>
        </p:spPr>
        <p:txBody>
          <a:bodyPr wrap="square">
            <a:spAutoFit/>
          </a:bodyPr>
          <a:lstStyle/>
          <a:p>
            <a:r>
              <a:rPr lang="ja-JP" altLang="en-US" dirty="0"/>
              <a:t>データの結果（</a:t>
            </a:r>
            <a:r>
              <a:rPr lang="en-US" altLang="ja-JP" dirty="0" err="1"/>
              <a:t>Hours_Studied</a:t>
            </a:r>
            <a:r>
              <a:rPr lang="en-US" altLang="ja-JP" dirty="0"/>
              <a:t>, Attendance, </a:t>
            </a:r>
            <a:r>
              <a:rPr lang="en-US" altLang="ja-JP" dirty="0" err="1"/>
              <a:t>Sleep_Hours</a:t>
            </a:r>
            <a:r>
              <a:rPr lang="ja-JP" altLang="en-US" dirty="0"/>
              <a:t>）</a:t>
            </a:r>
            <a:endParaRPr lang="en-US" altLang="ja-JP" dirty="0"/>
          </a:p>
          <a:p>
            <a:endParaRPr lang="en-US" altLang="ja-JP" dirty="0"/>
          </a:p>
        </p:txBody>
      </p:sp>
      <p:pic>
        <p:nvPicPr>
          <p:cNvPr id="4" name="図 3" descr="グラフィカル ユーザー インターフェイス&#10;&#10;AI 生成コンテンツは誤りを含む可能性があります。">
            <a:extLst>
              <a:ext uri="{FF2B5EF4-FFF2-40B4-BE49-F238E27FC236}">
                <a16:creationId xmlns:a16="http://schemas.microsoft.com/office/drawing/2014/main" id="{F402A08A-0848-C546-3C16-8BB938FF52F5}"/>
              </a:ext>
            </a:extLst>
          </p:cNvPr>
          <p:cNvPicPr>
            <a:picLocks noChangeAspect="1"/>
          </p:cNvPicPr>
          <p:nvPr/>
        </p:nvPicPr>
        <p:blipFill>
          <a:blip r:embed="rId3">
            <a:extLst>
              <a:ext uri="{28A0092B-C50C-407E-A947-70E740481C1C}">
                <a14:useLocalDpi xmlns:a14="http://schemas.microsoft.com/office/drawing/2010/main" val="0"/>
              </a:ext>
            </a:extLst>
          </a:blip>
          <a:srcRect t="50000"/>
          <a:stretch>
            <a:fillRect/>
          </a:stretch>
        </p:blipFill>
        <p:spPr>
          <a:xfrm>
            <a:off x="600559" y="1628719"/>
            <a:ext cx="7211775" cy="2877497"/>
          </a:xfrm>
          <a:prstGeom prst="rect">
            <a:avLst/>
          </a:prstGeom>
        </p:spPr>
      </p:pic>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F700DE6B-8AB2-5AFF-8BE7-64FB1EB9F101}"/>
              </a:ext>
            </a:extLst>
          </p:cNvPr>
          <p:cNvPicPr>
            <a:picLocks noChangeAspect="1"/>
          </p:cNvPicPr>
          <p:nvPr/>
        </p:nvPicPr>
        <p:blipFill>
          <a:blip r:embed="rId4">
            <a:extLst>
              <a:ext uri="{28A0092B-C50C-407E-A947-70E740481C1C}">
                <a14:useLocalDpi xmlns:a14="http://schemas.microsoft.com/office/drawing/2010/main" val="0"/>
              </a:ext>
            </a:extLst>
          </a:blip>
          <a:srcRect t="15792"/>
          <a:stretch>
            <a:fillRect/>
          </a:stretch>
        </p:blipFill>
        <p:spPr>
          <a:xfrm>
            <a:off x="6576511" y="1542643"/>
            <a:ext cx="2395382" cy="3049647"/>
          </a:xfrm>
          <a:prstGeom prst="rect">
            <a:avLst/>
          </a:prstGeom>
        </p:spPr>
      </p:pic>
      <p:pic>
        <p:nvPicPr>
          <p:cNvPr id="8" name="図 7"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18771FF1-91BB-1550-DECD-016FCF4DFCDD}"/>
              </a:ext>
            </a:extLst>
          </p:cNvPr>
          <p:cNvPicPr>
            <a:picLocks noChangeAspect="1"/>
          </p:cNvPicPr>
          <p:nvPr/>
        </p:nvPicPr>
        <p:blipFill>
          <a:blip r:embed="rId5">
            <a:extLst>
              <a:ext uri="{28A0092B-C50C-407E-A947-70E740481C1C}">
                <a14:useLocalDpi xmlns:a14="http://schemas.microsoft.com/office/drawing/2010/main" val="0"/>
              </a:ext>
            </a:extLst>
          </a:blip>
          <a:srcRect t="74909" r="64920"/>
          <a:stretch>
            <a:fillRect/>
          </a:stretch>
        </p:blipFill>
        <p:spPr>
          <a:xfrm>
            <a:off x="799040" y="5121767"/>
            <a:ext cx="4507192" cy="1441343"/>
          </a:xfrm>
          <a:prstGeom prst="rect">
            <a:avLst/>
          </a:prstGeom>
        </p:spPr>
      </p:pic>
      <p:sp>
        <p:nvSpPr>
          <p:cNvPr id="12" name="テキスト ボックス 11">
            <a:extLst>
              <a:ext uri="{FF2B5EF4-FFF2-40B4-BE49-F238E27FC236}">
                <a16:creationId xmlns:a16="http://schemas.microsoft.com/office/drawing/2014/main" id="{733F0498-448A-7BA0-E257-4292BF687B1D}"/>
              </a:ext>
            </a:extLst>
          </p:cNvPr>
          <p:cNvSpPr txBox="1"/>
          <p:nvPr/>
        </p:nvSpPr>
        <p:spPr>
          <a:xfrm>
            <a:off x="600559" y="1235238"/>
            <a:ext cx="1418375" cy="369332"/>
          </a:xfrm>
          <a:prstGeom prst="rect">
            <a:avLst/>
          </a:prstGeom>
          <a:noFill/>
        </p:spPr>
        <p:txBody>
          <a:bodyPr wrap="square">
            <a:spAutoFit/>
          </a:bodyPr>
          <a:lstStyle/>
          <a:p>
            <a:r>
              <a:rPr lang="en-US" altLang="ja-JP" dirty="0"/>
              <a:t>X element</a:t>
            </a:r>
          </a:p>
        </p:txBody>
      </p:sp>
      <p:sp>
        <p:nvSpPr>
          <p:cNvPr id="13" name="テキスト ボックス 12">
            <a:extLst>
              <a:ext uri="{FF2B5EF4-FFF2-40B4-BE49-F238E27FC236}">
                <a16:creationId xmlns:a16="http://schemas.microsoft.com/office/drawing/2014/main" id="{D7423464-4EAE-A1FE-9D7E-EC8005467CBA}"/>
              </a:ext>
            </a:extLst>
          </p:cNvPr>
          <p:cNvSpPr txBox="1"/>
          <p:nvPr/>
        </p:nvSpPr>
        <p:spPr>
          <a:xfrm>
            <a:off x="6632994" y="1259387"/>
            <a:ext cx="1418375" cy="369332"/>
          </a:xfrm>
          <a:prstGeom prst="rect">
            <a:avLst/>
          </a:prstGeom>
          <a:noFill/>
        </p:spPr>
        <p:txBody>
          <a:bodyPr wrap="square">
            <a:spAutoFit/>
          </a:bodyPr>
          <a:lstStyle/>
          <a:p>
            <a:r>
              <a:rPr lang="en-US" altLang="ja-JP" dirty="0"/>
              <a:t>Y element</a:t>
            </a:r>
          </a:p>
        </p:txBody>
      </p:sp>
      <p:sp>
        <p:nvSpPr>
          <p:cNvPr id="16" name="正方形/長方形 15">
            <a:extLst>
              <a:ext uri="{FF2B5EF4-FFF2-40B4-BE49-F238E27FC236}">
                <a16:creationId xmlns:a16="http://schemas.microsoft.com/office/drawing/2014/main" id="{09883AE9-2D2F-E3E4-57C6-A70B093033B2}"/>
              </a:ext>
            </a:extLst>
          </p:cNvPr>
          <p:cNvSpPr/>
          <p:nvPr/>
        </p:nvSpPr>
        <p:spPr>
          <a:xfrm>
            <a:off x="1340741" y="6121831"/>
            <a:ext cx="3665211"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8AF00692-04FE-24B7-9E7F-3903C9A72B36}"/>
              </a:ext>
            </a:extLst>
          </p:cNvPr>
          <p:cNvSpPr txBox="1"/>
          <p:nvPr/>
        </p:nvSpPr>
        <p:spPr>
          <a:xfrm>
            <a:off x="600559" y="4859949"/>
            <a:ext cx="2174412" cy="369332"/>
          </a:xfrm>
          <a:prstGeom prst="rect">
            <a:avLst/>
          </a:prstGeom>
          <a:noFill/>
        </p:spPr>
        <p:txBody>
          <a:bodyPr wrap="square" rtlCol="0">
            <a:spAutoFit/>
          </a:bodyPr>
          <a:lstStyle/>
          <a:p>
            <a:r>
              <a:rPr lang="en-US" altLang="ja-JP" dirty="0"/>
              <a:t>evaluation</a:t>
            </a:r>
            <a:endParaRPr kumimoji="1" lang="ja-JP" altLang="en-US" dirty="0"/>
          </a:p>
        </p:txBody>
      </p:sp>
    </p:spTree>
    <p:extLst>
      <p:ext uri="{BB962C8B-B14F-4D97-AF65-F5344CB8AC3E}">
        <p14:creationId xmlns:p14="http://schemas.microsoft.com/office/powerpoint/2010/main" val="693072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6AEA-3C2D-FE62-9F45-2CEEE7B9732C}"/>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B99194D-6EAF-D9E2-5E75-A04106AD5173}"/>
              </a:ext>
            </a:extLst>
          </p:cNvPr>
          <p:cNvSpPr txBox="1"/>
          <p:nvPr/>
        </p:nvSpPr>
        <p:spPr>
          <a:xfrm>
            <a:off x="275095" y="843677"/>
            <a:ext cx="5118315" cy="646331"/>
          </a:xfrm>
          <a:prstGeom prst="rect">
            <a:avLst/>
          </a:prstGeom>
          <a:noFill/>
        </p:spPr>
        <p:txBody>
          <a:bodyPr wrap="square">
            <a:spAutoFit/>
          </a:bodyPr>
          <a:lstStyle/>
          <a:p>
            <a:r>
              <a:rPr lang="ja-JP" altLang="en-US" dirty="0"/>
              <a:t>データの結果（</a:t>
            </a:r>
            <a:r>
              <a:rPr lang="en-US" altLang="ja-JP" dirty="0" err="1"/>
              <a:t>Hours_Studied</a:t>
            </a:r>
            <a:r>
              <a:rPr lang="en-US" altLang="ja-JP" dirty="0"/>
              <a:t>, </a:t>
            </a:r>
            <a:r>
              <a:rPr lang="en-US" altLang="ja-JP" dirty="0" err="1"/>
              <a:t>Sleep_Hours</a:t>
            </a:r>
            <a:r>
              <a:rPr lang="ja-JP" altLang="en-US" dirty="0"/>
              <a:t>）</a:t>
            </a:r>
            <a:endParaRPr lang="en-US" altLang="ja-JP" dirty="0"/>
          </a:p>
          <a:p>
            <a:endParaRPr lang="en-US" altLang="ja-JP" dirty="0"/>
          </a:p>
        </p:txBody>
      </p:sp>
      <p:sp>
        <p:nvSpPr>
          <p:cNvPr id="2" name="テキスト ボックス 1">
            <a:extLst>
              <a:ext uri="{FF2B5EF4-FFF2-40B4-BE49-F238E27FC236}">
                <a16:creationId xmlns:a16="http://schemas.microsoft.com/office/drawing/2014/main" id="{EB861900-4A40-5042-8B9C-5C0789BF56E1}"/>
              </a:ext>
            </a:extLst>
          </p:cNvPr>
          <p:cNvSpPr txBox="1"/>
          <p:nvPr/>
        </p:nvSpPr>
        <p:spPr>
          <a:xfrm>
            <a:off x="6096000" y="843677"/>
            <a:ext cx="5419241" cy="923330"/>
          </a:xfrm>
          <a:prstGeom prst="rect">
            <a:avLst/>
          </a:prstGeom>
          <a:noFill/>
        </p:spPr>
        <p:txBody>
          <a:bodyPr wrap="square">
            <a:spAutoFit/>
          </a:bodyPr>
          <a:lstStyle/>
          <a:p>
            <a:r>
              <a:rPr lang="ja-JP" altLang="en-US" dirty="0"/>
              <a:t>データの結果（</a:t>
            </a:r>
            <a:r>
              <a:rPr lang="en-US" altLang="ja-JP" dirty="0"/>
              <a:t>Attendance, </a:t>
            </a:r>
            <a:r>
              <a:rPr lang="en-US" altLang="ja-JP" dirty="0" err="1"/>
              <a:t>Sleep_Hours</a:t>
            </a:r>
            <a:r>
              <a:rPr lang="ja-JP" altLang="en-US" dirty="0"/>
              <a:t>）</a:t>
            </a:r>
            <a:endParaRPr lang="en-US" altLang="ja-JP" dirty="0"/>
          </a:p>
          <a:p>
            <a:endParaRPr lang="en-US" altLang="ja-JP" dirty="0"/>
          </a:p>
          <a:p>
            <a:endParaRPr lang="en-US" altLang="ja-JP" dirty="0"/>
          </a:p>
        </p:txBody>
      </p:sp>
      <p:sp>
        <p:nvSpPr>
          <p:cNvPr id="5" name="テキスト ボックス 4">
            <a:extLst>
              <a:ext uri="{FF2B5EF4-FFF2-40B4-BE49-F238E27FC236}">
                <a16:creationId xmlns:a16="http://schemas.microsoft.com/office/drawing/2014/main" id="{892FA5C3-F3F1-3B2E-D540-E18996ED8784}"/>
              </a:ext>
            </a:extLst>
          </p:cNvPr>
          <p:cNvSpPr txBox="1"/>
          <p:nvPr/>
        </p:nvSpPr>
        <p:spPr>
          <a:xfrm>
            <a:off x="275095" y="1414888"/>
            <a:ext cx="1418375" cy="369332"/>
          </a:xfrm>
          <a:prstGeom prst="rect">
            <a:avLst/>
          </a:prstGeom>
          <a:noFill/>
        </p:spPr>
        <p:txBody>
          <a:bodyPr wrap="square">
            <a:spAutoFit/>
          </a:bodyPr>
          <a:lstStyle/>
          <a:p>
            <a:r>
              <a:rPr lang="en-US" altLang="ja-JP" dirty="0"/>
              <a:t>X element</a:t>
            </a:r>
          </a:p>
        </p:txBody>
      </p:sp>
      <p:sp>
        <p:nvSpPr>
          <p:cNvPr id="6" name="テキスト ボックス 5">
            <a:extLst>
              <a:ext uri="{FF2B5EF4-FFF2-40B4-BE49-F238E27FC236}">
                <a16:creationId xmlns:a16="http://schemas.microsoft.com/office/drawing/2014/main" id="{3066174A-9285-EC03-337C-BF6A60AD8F14}"/>
              </a:ext>
            </a:extLst>
          </p:cNvPr>
          <p:cNvSpPr txBox="1"/>
          <p:nvPr/>
        </p:nvSpPr>
        <p:spPr>
          <a:xfrm>
            <a:off x="6096000" y="1428872"/>
            <a:ext cx="1418375" cy="369332"/>
          </a:xfrm>
          <a:prstGeom prst="rect">
            <a:avLst/>
          </a:prstGeom>
          <a:noFill/>
        </p:spPr>
        <p:txBody>
          <a:bodyPr wrap="square">
            <a:spAutoFit/>
          </a:bodyPr>
          <a:lstStyle/>
          <a:p>
            <a:r>
              <a:rPr lang="en-US" altLang="ja-JP" dirty="0"/>
              <a:t>X element</a:t>
            </a:r>
          </a:p>
        </p:txBody>
      </p:sp>
      <p:pic>
        <p:nvPicPr>
          <p:cNvPr id="10" name="図 9" descr="グラフィカル ユーザー インターフェイス&#10;&#10;AI 生成コンテンツは誤りを含む可能性があります。">
            <a:extLst>
              <a:ext uri="{FF2B5EF4-FFF2-40B4-BE49-F238E27FC236}">
                <a16:creationId xmlns:a16="http://schemas.microsoft.com/office/drawing/2014/main" id="{F05FD7DC-F5DE-5DD1-2F29-1ACBBD159279}"/>
              </a:ext>
            </a:extLst>
          </p:cNvPr>
          <p:cNvPicPr>
            <a:picLocks noChangeAspect="1"/>
          </p:cNvPicPr>
          <p:nvPr/>
        </p:nvPicPr>
        <p:blipFill>
          <a:blip r:embed="rId3">
            <a:extLst>
              <a:ext uri="{28A0092B-C50C-407E-A947-70E740481C1C}">
                <a14:useLocalDpi xmlns:a14="http://schemas.microsoft.com/office/drawing/2010/main" val="0"/>
              </a:ext>
            </a:extLst>
          </a:blip>
          <a:srcRect t="50000"/>
          <a:stretch>
            <a:fillRect/>
          </a:stretch>
        </p:blipFill>
        <p:spPr>
          <a:xfrm>
            <a:off x="275095" y="1798204"/>
            <a:ext cx="4561525" cy="2556820"/>
          </a:xfrm>
          <a:prstGeom prst="rect">
            <a:avLst/>
          </a:prstGeom>
        </p:spPr>
      </p:pic>
      <p:pic>
        <p:nvPicPr>
          <p:cNvPr id="12" name="図 11"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DD4F6B22-8831-743E-7B9E-D5778257FE08}"/>
              </a:ext>
            </a:extLst>
          </p:cNvPr>
          <p:cNvPicPr>
            <a:picLocks noChangeAspect="1"/>
          </p:cNvPicPr>
          <p:nvPr/>
        </p:nvPicPr>
        <p:blipFill>
          <a:blip r:embed="rId4">
            <a:extLst>
              <a:ext uri="{28A0092B-C50C-407E-A947-70E740481C1C}">
                <a14:useLocalDpi xmlns:a14="http://schemas.microsoft.com/office/drawing/2010/main" val="0"/>
              </a:ext>
            </a:extLst>
          </a:blip>
          <a:srcRect t="74676" r="65297"/>
          <a:stretch>
            <a:fillRect/>
          </a:stretch>
        </p:blipFill>
        <p:spPr>
          <a:xfrm>
            <a:off x="582099" y="5052447"/>
            <a:ext cx="4504305" cy="1441343"/>
          </a:xfrm>
          <a:prstGeom prst="rect">
            <a:avLst/>
          </a:prstGeom>
        </p:spPr>
      </p:pic>
      <p:pic>
        <p:nvPicPr>
          <p:cNvPr id="14" name="図 13" descr="グラフィカル ユーザー インターフェイス, テキスト&#10;&#10;AI 生成コンテンツは誤りを含む可能性があります。">
            <a:extLst>
              <a:ext uri="{FF2B5EF4-FFF2-40B4-BE49-F238E27FC236}">
                <a16:creationId xmlns:a16="http://schemas.microsoft.com/office/drawing/2014/main" id="{BF1E6E93-3FBC-CA9C-4D8B-4D98E55C98BE}"/>
              </a:ext>
            </a:extLst>
          </p:cNvPr>
          <p:cNvPicPr>
            <a:picLocks noChangeAspect="1"/>
          </p:cNvPicPr>
          <p:nvPr/>
        </p:nvPicPr>
        <p:blipFill>
          <a:blip r:embed="rId5">
            <a:extLst>
              <a:ext uri="{28A0092B-C50C-407E-A947-70E740481C1C}">
                <a14:useLocalDpi xmlns:a14="http://schemas.microsoft.com/office/drawing/2010/main" val="0"/>
              </a:ext>
            </a:extLst>
          </a:blip>
          <a:srcRect t="50000" r="8944"/>
          <a:stretch>
            <a:fillRect/>
          </a:stretch>
        </p:blipFill>
        <p:spPr>
          <a:xfrm>
            <a:off x="6096000" y="1956660"/>
            <a:ext cx="4008896" cy="2693561"/>
          </a:xfrm>
          <a:prstGeom prst="rect">
            <a:avLst/>
          </a:prstGeom>
        </p:spPr>
      </p:pic>
      <p:pic>
        <p:nvPicPr>
          <p:cNvPr id="16" name="図 15"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DF4FE4D8-3126-C94B-156B-76054F8B53AD}"/>
              </a:ext>
            </a:extLst>
          </p:cNvPr>
          <p:cNvPicPr>
            <a:picLocks noChangeAspect="1"/>
          </p:cNvPicPr>
          <p:nvPr/>
        </p:nvPicPr>
        <p:blipFill>
          <a:blip r:embed="rId6">
            <a:extLst>
              <a:ext uri="{28A0092B-C50C-407E-A947-70E740481C1C}">
                <a14:useLocalDpi xmlns:a14="http://schemas.microsoft.com/office/drawing/2010/main" val="0"/>
              </a:ext>
            </a:extLst>
          </a:blip>
          <a:srcRect t="73817" r="64169"/>
          <a:stretch>
            <a:fillRect/>
          </a:stretch>
        </p:blipFill>
        <p:spPr>
          <a:xfrm>
            <a:off x="6096000" y="4975932"/>
            <a:ext cx="4648376" cy="1512152"/>
          </a:xfrm>
          <a:prstGeom prst="rect">
            <a:avLst/>
          </a:prstGeom>
        </p:spPr>
      </p:pic>
      <p:sp>
        <p:nvSpPr>
          <p:cNvPr id="17" name="正方形/長方形 16">
            <a:extLst>
              <a:ext uri="{FF2B5EF4-FFF2-40B4-BE49-F238E27FC236}">
                <a16:creationId xmlns:a16="http://schemas.microsoft.com/office/drawing/2014/main" id="{D6C9E369-5467-2610-15C2-419036D38609}"/>
              </a:ext>
            </a:extLst>
          </p:cNvPr>
          <p:cNvSpPr/>
          <p:nvPr/>
        </p:nvSpPr>
        <p:spPr>
          <a:xfrm>
            <a:off x="1171409" y="6014322"/>
            <a:ext cx="3788049" cy="47376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7AAEDB9-908A-D3DF-4178-AA4910DDD555}"/>
              </a:ext>
            </a:extLst>
          </p:cNvPr>
          <p:cNvSpPr/>
          <p:nvPr/>
        </p:nvSpPr>
        <p:spPr>
          <a:xfrm>
            <a:off x="6696698" y="6066536"/>
            <a:ext cx="3665211"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DA6C2C5-FC17-1FEF-EB1C-8F58CDEE42E7}"/>
              </a:ext>
            </a:extLst>
          </p:cNvPr>
          <p:cNvSpPr txBox="1"/>
          <p:nvPr/>
        </p:nvSpPr>
        <p:spPr>
          <a:xfrm>
            <a:off x="662902" y="4791266"/>
            <a:ext cx="2174412" cy="369332"/>
          </a:xfrm>
          <a:prstGeom prst="rect">
            <a:avLst/>
          </a:prstGeom>
          <a:noFill/>
        </p:spPr>
        <p:txBody>
          <a:bodyPr wrap="square" rtlCol="0">
            <a:spAutoFit/>
          </a:bodyPr>
          <a:lstStyle/>
          <a:p>
            <a:r>
              <a:rPr lang="en-US" altLang="ja-JP" dirty="0"/>
              <a:t>evaluation</a:t>
            </a:r>
            <a:endParaRPr kumimoji="1" lang="ja-JP" altLang="en-US" dirty="0"/>
          </a:p>
        </p:txBody>
      </p:sp>
      <p:sp>
        <p:nvSpPr>
          <p:cNvPr id="7" name="テキスト ボックス 6">
            <a:extLst>
              <a:ext uri="{FF2B5EF4-FFF2-40B4-BE49-F238E27FC236}">
                <a16:creationId xmlns:a16="http://schemas.microsoft.com/office/drawing/2014/main" id="{62C55F71-A689-DC22-F36C-E9990C9BBF67}"/>
              </a:ext>
            </a:extLst>
          </p:cNvPr>
          <p:cNvSpPr txBox="1"/>
          <p:nvPr/>
        </p:nvSpPr>
        <p:spPr>
          <a:xfrm>
            <a:off x="6018392" y="4770089"/>
            <a:ext cx="2174412" cy="369332"/>
          </a:xfrm>
          <a:prstGeom prst="rect">
            <a:avLst/>
          </a:prstGeom>
          <a:noFill/>
        </p:spPr>
        <p:txBody>
          <a:bodyPr wrap="square" rtlCol="0">
            <a:spAutoFit/>
          </a:bodyPr>
          <a:lstStyle/>
          <a:p>
            <a:r>
              <a:rPr lang="en-US" altLang="ja-JP" dirty="0"/>
              <a:t>evaluation</a:t>
            </a:r>
            <a:endParaRPr kumimoji="1" lang="ja-JP" altLang="en-US" dirty="0"/>
          </a:p>
        </p:txBody>
      </p:sp>
    </p:spTree>
    <p:extLst>
      <p:ext uri="{BB962C8B-B14F-4D97-AF65-F5344CB8AC3E}">
        <p14:creationId xmlns:p14="http://schemas.microsoft.com/office/powerpoint/2010/main" val="314501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BBBD-694A-4202-7898-E8BD235122F7}"/>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A91918A-A41A-2E3D-A24B-6461EE160076}"/>
              </a:ext>
            </a:extLst>
          </p:cNvPr>
          <p:cNvSpPr txBox="1"/>
          <p:nvPr/>
        </p:nvSpPr>
        <p:spPr>
          <a:xfrm>
            <a:off x="755542" y="551503"/>
            <a:ext cx="9411346" cy="646331"/>
          </a:xfrm>
          <a:prstGeom prst="rect">
            <a:avLst/>
          </a:prstGeom>
          <a:noFill/>
        </p:spPr>
        <p:txBody>
          <a:bodyPr wrap="square">
            <a:spAutoFit/>
          </a:bodyPr>
          <a:lstStyle/>
          <a:p>
            <a:r>
              <a:rPr lang="ja-JP" altLang="en-US" dirty="0"/>
              <a:t>データの結果（</a:t>
            </a:r>
            <a:r>
              <a:rPr lang="en-US" altLang="ja-JP" dirty="0" err="1"/>
              <a:t>Hours_Studied</a:t>
            </a:r>
            <a:r>
              <a:rPr lang="en-US" altLang="ja-JP" dirty="0"/>
              <a:t>, Attendance</a:t>
            </a:r>
            <a:r>
              <a:rPr lang="ja-JP" altLang="en-US" dirty="0"/>
              <a:t>）</a:t>
            </a:r>
            <a:endParaRPr lang="en-US" altLang="ja-JP" dirty="0"/>
          </a:p>
          <a:p>
            <a:endParaRPr lang="en-US" altLang="ja-JP" dirty="0"/>
          </a:p>
        </p:txBody>
      </p:sp>
      <p:pic>
        <p:nvPicPr>
          <p:cNvPr id="4" name="図 3" descr="グラフィカル ユーザー インターフェイス, テキスト&#10;&#10;AI 生成コンテンツは誤りを含む可能性があります。">
            <a:extLst>
              <a:ext uri="{FF2B5EF4-FFF2-40B4-BE49-F238E27FC236}">
                <a16:creationId xmlns:a16="http://schemas.microsoft.com/office/drawing/2014/main" id="{4DB4D832-D3C1-D75B-A099-E633375F7AE4}"/>
              </a:ext>
            </a:extLst>
          </p:cNvPr>
          <p:cNvPicPr>
            <a:picLocks noChangeAspect="1"/>
          </p:cNvPicPr>
          <p:nvPr/>
        </p:nvPicPr>
        <p:blipFill>
          <a:blip r:embed="rId3">
            <a:extLst>
              <a:ext uri="{28A0092B-C50C-407E-A947-70E740481C1C}">
                <a14:useLocalDpi xmlns:a14="http://schemas.microsoft.com/office/drawing/2010/main" val="0"/>
              </a:ext>
            </a:extLst>
          </a:blip>
          <a:srcRect t="48105"/>
          <a:stretch>
            <a:fillRect/>
          </a:stretch>
        </p:blipFill>
        <p:spPr>
          <a:xfrm>
            <a:off x="755542" y="1558403"/>
            <a:ext cx="4568406" cy="2847786"/>
          </a:xfrm>
          <a:prstGeom prst="rect">
            <a:avLst/>
          </a:prstGeom>
        </p:spPr>
      </p:pic>
      <p:sp>
        <p:nvSpPr>
          <p:cNvPr id="5" name="テキスト ボックス 4">
            <a:extLst>
              <a:ext uri="{FF2B5EF4-FFF2-40B4-BE49-F238E27FC236}">
                <a16:creationId xmlns:a16="http://schemas.microsoft.com/office/drawing/2014/main" id="{4A725F5D-FCEA-2147-43B4-D78EAEBE143F}"/>
              </a:ext>
            </a:extLst>
          </p:cNvPr>
          <p:cNvSpPr txBox="1"/>
          <p:nvPr/>
        </p:nvSpPr>
        <p:spPr>
          <a:xfrm>
            <a:off x="755542" y="1189071"/>
            <a:ext cx="1418375" cy="369332"/>
          </a:xfrm>
          <a:prstGeom prst="rect">
            <a:avLst/>
          </a:prstGeom>
          <a:noFill/>
        </p:spPr>
        <p:txBody>
          <a:bodyPr wrap="square">
            <a:spAutoFit/>
          </a:bodyPr>
          <a:lstStyle/>
          <a:p>
            <a:r>
              <a:rPr lang="en-US" altLang="ja-JP" dirty="0"/>
              <a:t>X element</a:t>
            </a:r>
          </a:p>
        </p:txBody>
      </p:sp>
      <p:pic>
        <p:nvPicPr>
          <p:cNvPr id="6" name="図 5">
            <a:extLst>
              <a:ext uri="{FF2B5EF4-FFF2-40B4-BE49-F238E27FC236}">
                <a16:creationId xmlns:a16="http://schemas.microsoft.com/office/drawing/2014/main" id="{B71B4064-3E8C-F1EB-23A1-D83F65234661}"/>
              </a:ext>
            </a:extLst>
          </p:cNvPr>
          <p:cNvPicPr>
            <a:picLocks noChangeAspect="1"/>
          </p:cNvPicPr>
          <p:nvPr/>
        </p:nvPicPr>
        <p:blipFill>
          <a:blip r:embed="rId4"/>
          <a:stretch>
            <a:fillRect/>
          </a:stretch>
        </p:blipFill>
        <p:spPr>
          <a:xfrm>
            <a:off x="5870448" y="1558403"/>
            <a:ext cx="5396820" cy="1659288"/>
          </a:xfrm>
          <a:prstGeom prst="rect">
            <a:avLst/>
          </a:prstGeom>
        </p:spPr>
      </p:pic>
      <p:sp>
        <p:nvSpPr>
          <p:cNvPr id="7" name="正方形/長方形 6">
            <a:extLst>
              <a:ext uri="{FF2B5EF4-FFF2-40B4-BE49-F238E27FC236}">
                <a16:creationId xmlns:a16="http://schemas.microsoft.com/office/drawing/2014/main" id="{4A256699-2D65-D0EA-80E0-D2C21F13046F}"/>
              </a:ext>
            </a:extLst>
          </p:cNvPr>
          <p:cNvSpPr/>
          <p:nvPr/>
        </p:nvSpPr>
        <p:spPr>
          <a:xfrm>
            <a:off x="6736252" y="2848359"/>
            <a:ext cx="4174555"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7AE4AE1F-1634-9EFA-BF89-D3E5F5F496E5}"/>
              </a:ext>
            </a:extLst>
          </p:cNvPr>
          <p:cNvSpPr txBox="1"/>
          <p:nvPr/>
        </p:nvSpPr>
        <p:spPr>
          <a:xfrm>
            <a:off x="5780848" y="1197834"/>
            <a:ext cx="2174412" cy="369332"/>
          </a:xfrm>
          <a:prstGeom prst="rect">
            <a:avLst/>
          </a:prstGeom>
          <a:noFill/>
        </p:spPr>
        <p:txBody>
          <a:bodyPr wrap="square" rtlCol="0">
            <a:spAutoFit/>
          </a:bodyPr>
          <a:lstStyle/>
          <a:p>
            <a:r>
              <a:rPr lang="en-US" altLang="ja-JP" dirty="0"/>
              <a:t>evaluation</a:t>
            </a:r>
            <a:endParaRPr kumimoji="1" lang="ja-JP" altLang="en-US" dirty="0"/>
          </a:p>
        </p:txBody>
      </p:sp>
    </p:spTree>
    <p:extLst>
      <p:ext uri="{BB962C8B-B14F-4D97-AF65-F5344CB8AC3E}">
        <p14:creationId xmlns:p14="http://schemas.microsoft.com/office/powerpoint/2010/main" val="3394394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C966-6CD4-B35F-ABB9-AB596308DCCA}"/>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E7E30BD-AF78-0A01-0276-427B45F7C2A6}"/>
              </a:ext>
            </a:extLst>
          </p:cNvPr>
          <p:cNvSpPr txBox="1"/>
          <p:nvPr/>
        </p:nvSpPr>
        <p:spPr>
          <a:xfrm>
            <a:off x="771041" y="768479"/>
            <a:ext cx="6098582" cy="369332"/>
          </a:xfrm>
          <a:prstGeom prst="rect">
            <a:avLst/>
          </a:prstGeom>
          <a:noFill/>
        </p:spPr>
        <p:txBody>
          <a:bodyPr wrap="square">
            <a:spAutoFit/>
          </a:bodyPr>
          <a:lstStyle/>
          <a:p>
            <a:r>
              <a:rPr lang="en-US" altLang="ja-JP" dirty="0"/>
              <a:t>summary</a:t>
            </a:r>
            <a:endParaRPr kumimoji="1" lang="en-US" altLang="ja-JP" dirty="0"/>
          </a:p>
        </p:txBody>
      </p:sp>
      <p:sp>
        <p:nvSpPr>
          <p:cNvPr id="4" name="テキスト ボックス 3">
            <a:extLst>
              <a:ext uri="{FF2B5EF4-FFF2-40B4-BE49-F238E27FC236}">
                <a16:creationId xmlns:a16="http://schemas.microsoft.com/office/drawing/2014/main" id="{C314D4D8-72BE-784D-E869-B5173FC80C24}"/>
              </a:ext>
            </a:extLst>
          </p:cNvPr>
          <p:cNvSpPr txBox="1"/>
          <p:nvPr/>
        </p:nvSpPr>
        <p:spPr>
          <a:xfrm>
            <a:off x="1393905" y="2055447"/>
            <a:ext cx="2452551" cy="646331"/>
          </a:xfrm>
          <a:prstGeom prst="rect">
            <a:avLst/>
          </a:prstGeom>
          <a:noFill/>
          <a:ln w="28575">
            <a:solidFill>
              <a:srgbClr val="FF0000"/>
            </a:solidFill>
          </a:ln>
        </p:spPr>
        <p:txBody>
          <a:bodyPr wrap="square">
            <a:spAutoFit/>
          </a:bodyPr>
          <a:lstStyle/>
          <a:p>
            <a:r>
              <a:rPr lang="ja-JP" altLang="en-US" dirty="0"/>
              <a:t>・</a:t>
            </a:r>
            <a:r>
              <a:rPr lang="en-US" altLang="ja-JP" dirty="0" err="1"/>
              <a:t>Hours_Studied</a:t>
            </a:r>
            <a:endParaRPr lang="en-US" altLang="ja-JP" dirty="0"/>
          </a:p>
          <a:p>
            <a:r>
              <a:rPr lang="ja-JP" altLang="en-US" dirty="0"/>
              <a:t>・</a:t>
            </a:r>
            <a:r>
              <a:rPr lang="en-US" altLang="ja-JP" dirty="0" err="1"/>
              <a:t>Sleep_Hours</a:t>
            </a:r>
            <a:endParaRPr lang="ja-JP" altLang="en-US" dirty="0"/>
          </a:p>
        </p:txBody>
      </p:sp>
      <p:sp>
        <p:nvSpPr>
          <p:cNvPr id="5" name="テキスト ボックス 4">
            <a:extLst>
              <a:ext uri="{FF2B5EF4-FFF2-40B4-BE49-F238E27FC236}">
                <a16:creationId xmlns:a16="http://schemas.microsoft.com/office/drawing/2014/main" id="{9F713C55-70D1-22FC-0C61-14728FABEC18}"/>
              </a:ext>
            </a:extLst>
          </p:cNvPr>
          <p:cNvSpPr txBox="1"/>
          <p:nvPr/>
        </p:nvSpPr>
        <p:spPr>
          <a:xfrm>
            <a:off x="1227908" y="1449534"/>
            <a:ext cx="2174412" cy="369332"/>
          </a:xfrm>
          <a:prstGeom prst="rect">
            <a:avLst/>
          </a:prstGeom>
          <a:noFill/>
        </p:spPr>
        <p:txBody>
          <a:bodyPr wrap="square" rtlCol="0">
            <a:spAutoFit/>
          </a:bodyPr>
          <a:lstStyle/>
          <a:p>
            <a:r>
              <a:rPr kumimoji="1" lang="en-US" altLang="ja-JP" dirty="0"/>
              <a:t>Attribute</a:t>
            </a:r>
            <a:endParaRPr kumimoji="1" lang="ja-JP" altLang="en-US" dirty="0"/>
          </a:p>
        </p:txBody>
      </p:sp>
      <p:sp>
        <p:nvSpPr>
          <p:cNvPr id="6" name="テキスト ボックス 5">
            <a:extLst>
              <a:ext uri="{FF2B5EF4-FFF2-40B4-BE49-F238E27FC236}">
                <a16:creationId xmlns:a16="http://schemas.microsoft.com/office/drawing/2014/main" id="{BECDAC1A-A4D9-3A17-380C-EBECC7DCB922}"/>
              </a:ext>
            </a:extLst>
          </p:cNvPr>
          <p:cNvSpPr txBox="1"/>
          <p:nvPr/>
        </p:nvSpPr>
        <p:spPr>
          <a:xfrm>
            <a:off x="4241607" y="2055447"/>
            <a:ext cx="2452551" cy="646331"/>
          </a:xfrm>
          <a:prstGeom prst="rect">
            <a:avLst/>
          </a:prstGeom>
          <a:noFill/>
          <a:ln w="28575">
            <a:solidFill>
              <a:srgbClr val="FF0000"/>
            </a:solidFill>
          </a:ln>
        </p:spPr>
        <p:txBody>
          <a:bodyPr wrap="square">
            <a:spAutoFit/>
          </a:bodyPr>
          <a:lstStyle/>
          <a:p>
            <a:r>
              <a:rPr lang="ja-JP" altLang="en-US" dirty="0"/>
              <a:t>・</a:t>
            </a:r>
            <a:r>
              <a:rPr lang="en-US" altLang="ja-JP" dirty="0"/>
              <a:t>Attendance</a:t>
            </a:r>
          </a:p>
          <a:p>
            <a:r>
              <a:rPr lang="ja-JP" altLang="en-US" dirty="0"/>
              <a:t>・</a:t>
            </a:r>
            <a:r>
              <a:rPr lang="en-US" altLang="ja-JP" dirty="0" err="1"/>
              <a:t>Sleep_Hours</a:t>
            </a:r>
            <a:endParaRPr lang="ja-JP" altLang="en-US" dirty="0"/>
          </a:p>
        </p:txBody>
      </p:sp>
      <p:sp>
        <p:nvSpPr>
          <p:cNvPr id="7" name="テキスト ボックス 6">
            <a:extLst>
              <a:ext uri="{FF2B5EF4-FFF2-40B4-BE49-F238E27FC236}">
                <a16:creationId xmlns:a16="http://schemas.microsoft.com/office/drawing/2014/main" id="{DC46AF87-4965-4749-1811-FA95A005775D}"/>
              </a:ext>
            </a:extLst>
          </p:cNvPr>
          <p:cNvSpPr txBox="1"/>
          <p:nvPr/>
        </p:nvSpPr>
        <p:spPr>
          <a:xfrm>
            <a:off x="2746454" y="3455687"/>
            <a:ext cx="2452551" cy="923330"/>
          </a:xfrm>
          <a:prstGeom prst="rect">
            <a:avLst/>
          </a:prstGeom>
          <a:noFill/>
          <a:ln w="28575">
            <a:solidFill>
              <a:schemeClr val="tx1"/>
            </a:solidFill>
          </a:ln>
        </p:spPr>
        <p:txBody>
          <a:bodyPr wrap="square">
            <a:spAutoFit/>
          </a:bodyPr>
          <a:lstStyle/>
          <a:p>
            <a:r>
              <a:rPr lang="ja-JP" altLang="en-US" dirty="0"/>
              <a:t>・</a:t>
            </a:r>
            <a:r>
              <a:rPr lang="en-US" altLang="ja-JP" dirty="0" err="1"/>
              <a:t>Hours_Studied</a:t>
            </a:r>
            <a:endParaRPr lang="en-US" altLang="ja-JP" dirty="0"/>
          </a:p>
          <a:p>
            <a:r>
              <a:rPr lang="ja-JP" altLang="en-US" dirty="0"/>
              <a:t>・</a:t>
            </a:r>
            <a:r>
              <a:rPr lang="en-US" altLang="ja-JP" dirty="0"/>
              <a:t>Attendance</a:t>
            </a:r>
          </a:p>
          <a:p>
            <a:r>
              <a:rPr lang="ja-JP" altLang="en-US" dirty="0"/>
              <a:t>・</a:t>
            </a:r>
            <a:r>
              <a:rPr lang="en-US" altLang="ja-JP" dirty="0" err="1"/>
              <a:t>Sleep_Hours</a:t>
            </a:r>
            <a:endParaRPr lang="ja-JP" altLang="en-US" dirty="0"/>
          </a:p>
        </p:txBody>
      </p:sp>
      <p:sp>
        <p:nvSpPr>
          <p:cNvPr id="8" name="テキスト ボックス 7">
            <a:extLst>
              <a:ext uri="{FF2B5EF4-FFF2-40B4-BE49-F238E27FC236}">
                <a16:creationId xmlns:a16="http://schemas.microsoft.com/office/drawing/2014/main" id="{78B4609C-92DF-4272-162C-5BEEEB48B6F5}"/>
              </a:ext>
            </a:extLst>
          </p:cNvPr>
          <p:cNvSpPr txBox="1"/>
          <p:nvPr/>
        </p:nvSpPr>
        <p:spPr>
          <a:xfrm>
            <a:off x="2746454" y="4946801"/>
            <a:ext cx="2452551" cy="646331"/>
          </a:xfrm>
          <a:prstGeom prst="rect">
            <a:avLst/>
          </a:prstGeom>
          <a:noFill/>
          <a:ln w="28575">
            <a:solidFill>
              <a:srgbClr val="0070C0"/>
            </a:solidFill>
          </a:ln>
        </p:spPr>
        <p:txBody>
          <a:bodyPr wrap="square">
            <a:spAutoFit/>
          </a:bodyPr>
          <a:lstStyle/>
          <a:p>
            <a:r>
              <a:rPr lang="ja-JP" altLang="en-US" dirty="0"/>
              <a:t>・</a:t>
            </a:r>
            <a:r>
              <a:rPr lang="en-US" altLang="ja-JP" dirty="0" err="1"/>
              <a:t>Hours_Studied</a:t>
            </a:r>
            <a:endParaRPr lang="en-US" altLang="ja-JP" dirty="0"/>
          </a:p>
          <a:p>
            <a:r>
              <a:rPr lang="ja-JP" altLang="en-US" dirty="0"/>
              <a:t>・</a:t>
            </a:r>
            <a:r>
              <a:rPr lang="en-US" altLang="ja-JP" dirty="0"/>
              <a:t>Attendance</a:t>
            </a:r>
          </a:p>
        </p:txBody>
      </p:sp>
      <p:cxnSp>
        <p:nvCxnSpPr>
          <p:cNvPr id="12" name="直線矢印コネクタ 11">
            <a:extLst>
              <a:ext uri="{FF2B5EF4-FFF2-40B4-BE49-F238E27FC236}">
                <a16:creationId xmlns:a16="http://schemas.microsoft.com/office/drawing/2014/main" id="{8FBD9A53-D713-9F59-3A76-35D553BE7454}"/>
              </a:ext>
            </a:extLst>
          </p:cNvPr>
          <p:cNvCxnSpPr>
            <a:cxnSpLocks/>
          </p:cNvCxnSpPr>
          <p:nvPr/>
        </p:nvCxnSpPr>
        <p:spPr>
          <a:xfrm>
            <a:off x="6096000" y="3917352"/>
            <a:ext cx="2277291"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直線矢印コネクタ 12">
            <a:extLst>
              <a:ext uri="{FF2B5EF4-FFF2-40B4-BE49-F238E27FC236}">
                <a16:creationId xmlns:a16="http://schemas.microsoft.com/office/drawing/2014/main" id="{B0DC03AE-768C-9AB4-D4E4-1EC0D70FDEB9}"/>
              </a:ext>
            </a:extLst>
          </p:cNvPr>
          <p:cNvCxnSpPr>
            <a:cxnSpLocks/>
          </p:cNvCxnSpPr>
          <p:nvPr/>
        </p:nvCxnSpPr>
        <p:spPr>
          <a:xfrm>
            <a:off x="6096000" y="5369779"/>
            <a:ext cx="2277291" cy="0"/>
          </a:xfrm>
          <a:prstGeom prst="straightConnector1">
            <a:avLst/>
          </a:prstGeom>
          <a:ln w="381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D7D333F6-15DB-A572-C7A5-C54715F2DF12}"/>
              </a:ext>
            </a:extLst>
          </p:cNvPr>
          <p:cNvSpPr txBox="1"/>
          <p:nvPr/>
        </p:nvSpPr>
        <p:spPr>
          <a:xfrm>
            <a:off x="8789682" y="1495084"/>
            <a:ext cx="2174412" cy="369332"/>
          </a:xfrm>
          <a:prstGeom prst="rect">
            <a:avLst/>
          </a:prstGeom>
          <a:noFill/>
        </p:spPr>
        <p:txBody>
          <a:bodyPr wrap="square" rtlCol="0">
            <a:spAutoFit/>
          </a:bodyPr>
          <a:lstStyle/>
          <a:p>
            <a:r>
              <a:rPr lang="en-US" altLang="ja-JP" dirty="0"/>
              <a:t>evaluation</a:t>
            </a:r>
            <a:endParaRPr kumimoji="1" lang="ja-JP" altLang="en-US" dirty="0"/>
          </a:p>
        </p:txBody>
      </p:sp>
      <p:pic>
        <p:nvPicPr>
          <p:cNvPr id="20" name="図 19"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7616496A-3135-CD98-9CBA-1D7F51B743A6}"/>
              </a:ext>
            </a:extLst>
          </p:cNvPr>
          <p:cNvPicPr>
            <a:picLocks noChangeAspect="1"/>
          </p:cNvPicPr>
          <p:nvPr/>
        </p:nvPicPr>
        <p:blipFill>
          <a:blip r:embed="rId3">
            <a:extLst>
              <a:ext uri="{28A0092B-C50C-407E-A947-70E740481C1C}">
                <a14:useLocalDpi xmlns:a14="http://schemas.microsoft.com/office/drawing/2010/main" val="0"/>
              </a:ext>
            </a:extLst>
          </a:blip>
          <a:srcRect t="92897" r="65297"/>
          <a:stretch>
            <a:fillRect/>
          </a:stretch>
        </p:blipFill>
        <p:spPr>
          <a:xfrm>
            <a:off x="8057604" y="2251642"/>
            <a:ext cx="4134396" cy="371069"/>
          </a:xfrm>
          <a:prstGeom prst="rect">
            <a:avLst/>
          </a:prstGeom>
        </p:spPr>
      </p:pic>
      <p:pic>
        <p:nvPicPr>
          <p:cNvPr id="21" name="図 20"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0FB34FA-8283-D6AC-BC86-40C264E6F02D}"/>
              </a:ext>
            </a:extLst>
          </p:cNvPr>
          <p:cNvPicPr>
            <a:picLocks noChangeAspect="1"/>
          </p:cNvPicPr>
          <p:nvPr/>
        </p:nvPicPr>
        <p:blipFill>
          <a:blip r:embed="rId4">
            <a:extLst>
              <a:ext uri="{28A0092B-C50C-407E-A947-70E740481C1C}">
                <a14:useLocalDpi xmlns:a14="http://schemas.microsoft.com/office/drawing/2010/main" val="0"/>
              </a:ext>
            </a:extLst>
          </a:blip>
          <a:srcRect t="93099" r="64169"/>
          <a:stretch>
            <a:fillRect/>
          </a:stretch>
        </p:blipFill>
        <p:spPr>
          <a:xfrm>
            <a:off x="8175170" y="2581124"/>
            <a:ext cx="4016830" cy="354493"/>
          </a:xfrm>
          <a:prstGeom prst="rect">
            <a:avLst/>
          </a:prstGeom>
        </p:spPr>
      </p:pic>
      <p:cxnSp>
        <p:nvCxnSpPr>
          <p:cNvPr id="10" name="直線矢印コネクタ 9">
            <a:extLst>
              <a:ext uri="{FF2B5EF4-FFF2-40B4-BE49-F238E27FC236}">
                <a16:creationId xmlns:a16="http://schemas.microsoft.com/office/drawing/2014/main" id="{E7FE766A-113A-0D86-FCC7-BAB414C1F0DB}"/>
              </a:ext>
            </a:extLst>
          </p:cNvPr>
          <p:cNvCxnSpPr>
            <a:cxnSpLocks/>
          </p:cNvCxnSpPr>
          <p:nvPr/>
        </p:nvCxnSpPr>
        <p:spPr>
          <a:xfrm>
            <a:off x="7184570" y="2386650"/>
            <a:ext cx="1188721"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2" name="図 21">
            <a:extLst>
              <a:ext uri="{FF2B5EF4-FFF2-40B4-BE49-F238E27FC236}">
                <a16:creationId xmlns:a16="http://schemas.microsoft.com/office/drawing/2014/main" id="{AFE7B12E-0235-C7B4-9AE9-9F72F1FF15B4}"/>
              </a:ext>
            </a:extLst>
          </p:cNvPr>
          <p:cNvPicPr>
            <a:picLocks noChangeAspect="1"/>
          </p:cNvPicPr>
          <p:nvPr/>
        </p:nvPicPr>
        <p:blipFill>
          <a:blip r:embed="rId5"/>
          <a:srcRect l="15744" t="77122" r="7649"/>
          <a:stretch>
            <a:fillRect/>
          </a:stretch>
        </p:blipFill>
        <p:spPr>
          <a:xfrm>
            <a:off x="8545284" y="5283974"/>
            <a:ext cx="3646716" cy="334836"/>
          </a:xfrm>
          <a:prstGeom prst="rect">
            <a:avLst/>
          </a:prstGeom>
        </p:spPr>
      </p:pic>
      <p:pic>
        <p:nvPicPr>
          <p:cNvPr id="23" name="図 22">
            <a:extLst>
              <a:ext uri="{FF2B5EF4-FFF2-40B4-BE49-F238E27FC236}">
                <a16:creationId xmlns:a16="http://schemas.microsoft.com/office/drawing/2014/main" id="{4194A84B-878C-9E15-8DE2-9D07D940871A}"/>
              </a:ext>
            </a:extLst>
          </p:cNvPr>
          <p:cNvPicPr>
            <a:picLocks noChangeAspect="1"/>
          </p:cNvPicPr>
          <p:nvPr/>
        </p:nvPicPr>
        <p:blipFill>
          <a:blip r:embed="rId6"/>
          <a:srcRect l="13274" t="74318" r="6460"/>
          <a:stretch>
            <a:fillRect/>
          </a:stretch>
        </p:blipFill>
        <p:spPr>
          <a:xfrm>
            <a:off x="8575767" y="3738726"/>
            <a:ext cx="3616233" cy="371069"/>
          </a:xfrm>
          <a:prstGeom prst="rect">
            <a:avLst/>
          </a:prstGeom>
        </p:spPr>
      </p:pic>
    </p:spTree>
    <p:extLst>
      <p:ext uri="{BB962C8B-B14F-4D97-AF65-F5344CB8AC3E}">
        <p14:creationId xmlns:p14="http://schemas.microsoft.com/office/powerpoint/2010/main" val="2086565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5B70-3B9F-F21C-2DFE-4FAFC0B58425}"/>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68E0D16-CA98-885B-7ED5-470CADA5E8BB}"/>
              </a:ext>
            </a:extLst>
          </p:cNvPr>
          <p:cNvSpPr txBox="1"/>
          <p:nvPr/>
        </p:nvSpPr>
        <p:spPr>
          <a:xfrm>
            <a:off x="716242" y="553840"/>
            <a:ext cx="9734044" cy="517064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400" dirty="0">
                <a:solidFill>
                  <a:prstClr val="black"/>
                </a:solidFill>
                <a:latin typeface="游ゴシック" panose="02110004020202020204"/>
                <a:ea typeface="游ゴシック" panose="020B0400000000000000" pitchFamily="50" charset="-128"/>
              </a:rPr>
              <a:t>使用す</a:t>
            </a:r>
            <a:r>
              <a:rPr kumimoji="1" lang="ja-JP" altLang="en-US" sz="24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るアルゴリズム</a:t>
            </a:r>
            <a:endParaRPr kumimoji="1" lang="en-US" altLang="ja-JP" sz="24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linear regression</a:t>
            </a:r>
          </a:p>
          <a:p>
            <a:pPr lvl="0">
              <a:defRPr/>
            </a:pPr>
            <a:r>
              <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r>
              <a:rPr lang="ja-JP" altLang="en-US" dirty="0"/>
              <a:t>ある変数の値を別の変数の値から予測するために使用される分析方法</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Lasso regression</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latin typeface="游ゴシック" panose="02110004020202020204"/>
                <a:ea typeface="游ゴシック" panose="020B0400000000000000" pitchFamily="50" charset="-128"/>
              </a:rPr>
              <a:t>・</a:t>
            </a:r>
            <a:r>
              <a:rPr lang="ja-JP" altLang="en-US" dirty="0"/>
              <a:t>線形回帰モデルに</a:t>
            </a:r>
            <a:r>
              <a:rPr lang="en-US" altLang="ja-JP" dirty="0"/>
              <a:t>L1</a:t>
            </a:r>
            <a:r>
              <a:rPr lang="ja-JP" altLang="en-US" dirty="0"/>
              <a:t>正則化項（回帰係数の絶対値の和）を加えて学習する手法です。重要度の低い説明変数の係数を強制的にゼロにすることで、不要な特徴量を自動的に削除し、モデルをシンプルにして過学習を抑制する</a:t>
            </a:r>
            <a:endParaRPr lang="en-US" altLang="ja-JP" dirty="0">
              <a:solidFill>
                <a:prstClr val="black"/>
              </a:solidFill>
              <a:latin typeface="游ゴシック" panose="02110004020202020204"/>
              <a:ea typeface="游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solidFill>
                <a:prstClr val="black"/>
              </a:solidFill>
              <a:latin typeface="游ゴシック" panose="02110004020202020204"/>
              <a:ea typeface="游ゴシック" panose="020B0400000000000000" pitchFamily="50" charset="-128"/>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Ridge regression</a:t>
            </a:r>
          </a:p>
          <a:p>
            <a:pPr lvl="0">
              <a:defRPr/>
            </a:pPr>
            <a:r>
              <a:rPr lang="ja-JP" altLang="en-US" dirty="0"/>
              <a:t>・リッジ回帰は、線形回帰モデルに</a:t>
            </a:r>
            <a:r>
              <a:rPr lang="en-US" altLang="ja-JP" dirty="0"/>
              <a:t>L2</a:t>
            </a:r>
            <a:r>
              <a:rPr lang="ja-JP" altLang="en-US" dirty="0"/>
              <a:t>正則化を追加することで、過学習を抑制する手法</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r>
              <a:rPr lang="ja-JP" altLang="en-US" dirty="0">
                <a:solidFill>
                  <a:prstClr val="black"/>
                </a:solidFill>
                <a:latin typeface="游ゴシック" panose="02110004020202020204"/>
                <a:ea typeface="游ゴシック" panose="020B0400000000000000" pitchFamily="50" charset="-128"/>
              </a:rPr>
              <a:t>〇</a:t>
            </a:r>
            <a:r>
              <a:rPr lang="en-US" altLang="ja-JP" dirty="0">
                <a:solidFill>
                  <a:prstClr val="black"/>
                </a:solidFill>
              </a:rPr>
              <a:t> hoover regression</a:t>
            </a:r>
          </a:p>
          <a:p>
            <a:pPr lvl="0">
              <a:defRPr/>
            </a:pPr>
            <a:r>
              <a:rPr lang="ja-JP" altLang="en-US" dirty="0">
                <a:solidFill>
                  <a:prstClr val="black"/>
                </a:solidFill>
                <a:latin typeface="游ゴシック" panose="02110004020202020204"/>
                <a:ea typeface="游ゴシック" panose="020B0400000000000000" pitchFamily="50" charset="-128"/>
              </a:rPr>
              <a:t>・ロバスト回帰の一種</a:t>
            </a:r>
            <a:endParaRPr lang="en-US" altLang="ja-JP" dirty="0">
              <a:solidFill>
                <a:prstClr val="black"/>
              </a:solidFill>
              <a:latin typeface="游ゴシック" panose="02110004020202020204"/>
              <a:ea typeface="游ゴシック" panose="020B0400000000000000" pitchFamily="50" charset="-128"/>
            </a:endParaRPr>
          </a:p>
          <a:p>
            <a:pPr lvl="0">
              <a:defRPr/>
            </a:pPr>
            <a:r>
              <a:rPr lang="ja-JP" altLang="en-US" dirty="0">
                <a:solidFill>
                  <a:prstClr val="black"/>
                </a:solidFill>
                <a:latin typeface="游ゴシック" panose="02110004020202020204"/>
                <a:ea typeface="游ゴシック" panose="020B0400000000000000" pitchFamily="50" charset="-128"/>
              </a:rPr>
              <a:t>→</a:t>
            </a:r>
            <a:r>
              <a:rPr lang="ja-JP" altLang="en-US" dirty="0"/>
              <a:t>訓練するデータに外れ値が含まれているときに、その外れ値の影響をできるだけ少なくするような学習方法</a:t>
            </a:r>
            <a:endParaRPr lang="en-US" altLang="ja-JP" dirty="0">
              <a:solidFill>
                <a:prstClr val="black"/>
              </a:solidFill>
              <a:latin typeface="游ゴシック" panose="02110004020202020204"/>
              <a:ea typeface="游ゴシック" panose="020B0400000000000000" pitchFamily="50" charset="-128"/>
            </a:endParaRPr>
          </a:p>
          <a:p>
            <a:pPr lvl="0">
              <a:defRPr/>
            </a:pPr>
            <a:r>
              <a:rPr lang="ja-JP" altLang="en-US" dirty="0">
                <a:solidFill>
                  <a:prstClr val="black"/>
                </a:solidFill>
                <a:latin typeface="游ゴシック" panose="02110004020202020204"/>
                <a:ea typeface="游ゴシック" panose="020B0400000000000000" pitchFamily="50" charset="-128"/>
              </a:rPr>
              <a:t>・損失にフーバー関数を追加して回帰を行う。</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lvl="0">
              <a:defRPr/>
            </a:pP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209147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D402-ACE5-81AA-CFC9-33841401D204}"/>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06CC18E-3F29-96F1-A1AB-ADBBB4DBB1E7}"/>
              </a:ext>
            </a:extLst>
          </p:cNvPr>
          <p:cNvSpPr txBox="1"/>
          <p:nvPr/>
        </p:nvSpPr>
        <p:spPr>
          <a:xfrm>
            <a:off x="771040" y="768479"/>
            <a:ext cx="7863509" cy="2585323"/>
          </a:xfrm>
          <a:prstGeom prst="rect">
            <a:avLst/>
          </a:prstGeom>
          <a:noFill/>
        </p:spPr>
        <p:txBody>
          <a:bodyPr wrap="square">
            <a:spAutoFit/>
          </a:bodyPr>
          <a:lstStyle/>
          <a:p>
            <a:r>
              <a:rPr kumimoji="1" lang="ja-JP" altLang="en-US" dirty="0"/>
              <a:t>まとめ</a:t>
            </a:r>
            <a:endParaRPr kumimoji="1" lang="en-US" altLang="ja-JP" dirty="0"/>
          </a:p>
          <a:p>
            <a:r>
              <a:rPr lang="ja-JP" altLang="en-US" dirty="0"/>
              <a:t>・今回は四つの解析手法で解析を行った。</a:t>
            </a:r>
            <a:endParaRPr lang="en-US" altLang="ja-JP" dirty="0"/>
          </a:p>
          <a:p>
            <a:r>
              <a:rPr kumimoji="1" lang="ja-JP" altLang="en-US" dirty="0"/>
              <a:t>・結果から誤差が少なく、</a:t>
            </a:r>
            <a:r>
              <a:rPr kumimoji="1" lang="en-US" altLang="ja-JP" dirty="0"/>
              <a:t>R2score</a:t>
            </a:r>
            <a:r>
              <a:rPr kumimoji="1" lang="ja-JP" altLang="en-US" dirty="0"/>
              <a:t>もよい結果が見られた。</a:t>
            </a:r>
            <a:r>
              <a:rPr lang="ja-JP" altLang="en-US" dirty="0"/>
              <a:t>そのため、データからある程度、点数の推測ができると考えられる。</a:t>
            </a:r>
            <a:endParaRPr lang="en-US" altLang="ja-JP" dirty="0"/>
          </a:p>
          <a:p>
            <a:r>
              <a:rPr lang="ja-JP" altLang="en-US" dirty="0"/>
              <a:t>・四つの手法で教師なし学習を行ったが、変化が見られなかったので他の他の手法を扱う必要がある。</a:t>
            </a:r>
            <a:endParaRPr lang="en-US" altLang="ja-JP" dirty="0"/>
          </a:p>
          <a:p>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318609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477</TotalTime>
  <Words>1859</Words>
  <Application>Microsoft Office PowerPoint</Application>
  <PresentationFormat>ワイド画面</PresentationFormat>
  <Paragraphs>188</Paragraphs>
  <Slides>18</Slides>
  <Notes>16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18</vt:i4>
      </vt:variant>
    </vt:vector>
  </HeadingPairs>
  <TitlesOfParts>
    <vt:vector size="2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カトル メル</dc:creator>
  <cp:lastModifiedBy>悟 加藤</cp:lastModifiedBy>
  <cp:revision>42</cp:revision>
  <dcterms:created xsi:type="dcterms:W3CDTF">2026-01-12T12:15:55Z</dcterms:created>
  <dcterms:modified xsi:type="dcterms:W3CDTF">2026-02-01T17:37:48Z</dcterms:modified>
</cp:coreProperties>
</file>