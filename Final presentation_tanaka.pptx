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4" r:id="rId6"/>
    <p:sldId id="271" r:id="rId7"/>
    <p:sldId id="27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AE5"/>
    <a:srgbClr val="DC4BDC"/>
    <a:srgbClr val="AD6F50"/>
    <a:srgbClr val="E57439"/>
    <a:srgbClr val="87C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651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09922-2431-4F8D-9A9B-E5A8BEB247AA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897F7-BFF3-4F60-A54C-0FB584C8B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2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6912E-6596-E93A-28BD-C5ABB7250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636025C-F661-7EB8-5C6C-5E4FE5167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096023-9BD6-549C-5DE9-3832C9C6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4451-9282-4E40-940B-9F4A5EC936D1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FB0A05-76B6-DD49-ABBE-4E6EC796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09D606-838D-4088-4C32-872F48FB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728" y="6403975"/>
            <a:ext cx="2743200" cy="365125"/>
          </a:xfrm>
        </p:spPr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81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E05A6-4B69-A959-AB5E-D2FE20A6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1EFA79-B0AF-0573-2DB5-69ED29F2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6CFE83-6967-8DCE-1D42-FD2A8289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01CF-88E6-4369-A4CD-7FF31A1E25FC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E207F-8020-3D55-B13C-4C0135A0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2E1EA2-A407-8CA2-ECB9-D9C995F9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7982" y="6492875"/>
            <a:ext cx="2743200" cy="365125"/>
          </a:xfrm>
        </p:spPr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96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4B33B9-35D8-0656-032B-A35D7061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B6D3CE-1F01-9C28-14DB-F5450E2C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FB235C-98F7-93D0-633E-31E8DEA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AF08-0105-468E-BB6E-DE62FF6F3B6F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92389C-61BB-38C5-AF81-68762158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61926D-A319-C5FF-4796-A32F65D9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64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440879-C6F1-C6A0-3C6A-C32630CC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E18E13-C308-E237-525A-8411C7DDE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B4AA75-3C5F-532E-3387-7A584069B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4F13CF-7070-A9E3-EC13-2EA29524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90BF-0193-4FC8-8B6E-D11D0C1496CF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A8D06E-231A-1BE0-7F3B-75C61B1D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A4A1E9-EA42-3ECB-7BB5-8D5656AE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9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644DEB-D355-60FF-75FC-41A02818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C85C05-B127-DF58-6B05-2F1197D66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045184-D9B6-1C4E-A220-E2B7DF1D0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AC4994-49A4-9536-EB35-101C297F0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EE9EAA-E233-726E-C300-417DEDB3D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89A20F-7B7B-761D-218D-FC807B9C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C168C-7A2D-470E-AB1B-6C507F97DCD4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FE874B-AF71-1DF0-C773-467A9C04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1E0496A-EB35-226C-C5A4-B4ED0471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48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047BF-79F4-1901-C2A3-463B171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F3C3C1-309D-576A-F522-882B5A80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4D08E-938D-4055-A861-20227164504F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299332-B76A-5E27-A16F-275AAA5B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730DFA-F9A5-77AD-6610-FA62EF6A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99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1E0BF0-55D7-88C0-A3F9-0B09C7C2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6F1D-C34D-417E-B381-A50214FA99A7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1164ABD-334D-9BF0-7137-45989681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4D6526-3516-F582-C530-6E863946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43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55886-20A0-A80D-25F4-BA3891E3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FB2984-FD0E-F341-709B-949262C3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D9433E-ADC5-CC19-9308-44D3A721C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37B0D8-D2EB-CB8A-246F-8C74CB4E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236F-032B-4B78-9F4F-80FBB9395EC6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2886F9-CC1F-C9E8-C74D-4132D7C0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44DD48-EAED-1059-57CA-0047348D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50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07D9E-5335-B27A-0053-78AFF413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58C52A-10A6-4122-96A5-9D2609A77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6CDE3F-C1C5-4CEF-3398-41B9DF97C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E631D5-7B5A-72E7-2E63-7949C5E5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3E8F4-E85B-4CE3-815F-F2A9985FEE1A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5F7087-FD8E-5712-B739-B0CC833E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9005E6-6027-B50D-2A8F-3284353B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5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CFC12-A580-109F-2A49-573FB465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D9CCB4-F09D-8A2E-42AF-60B939F4B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542DBE-9AE9-0C0C-5690-8DE945A6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CF5-955F-48A2-87D6-425CB4C3B07D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4178C5-5E58-C9BD-6454-FAB46E99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42D0F5-3CAC-74C6-E89B-F29975E0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3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6126F69-3CC3-454F-2193-89E098931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C6CFC1-4170-FC4C-8FF6-AFA8654D9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86373F-7180-7272-DD1F-F0611947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F4AB-1639-45DC-A034-8BAF54A82996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2945C8-0271-D3C9-E894-34BD64FB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1A8436-052D-7DBA-E69A-C2A79CAB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7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4B9A53C-CDC0-E1AF-B0E9-0209849B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57F556-12CC-4A05-6C69-D7DABC6B2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23B1ED-1C85-54A6-99FB-EA55ADF70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82E1F-6DE1-492D-9726-6E86BC60288D}" type="datetime1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0EE90E-DC90-0D2A-8773-B87644406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E65904-58A2-10E2-9ACE-C7F27126B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273A9-D382-47C4-9CF2-7AA736D2A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37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lab.research.google.com/drive/1GfJkGg6gFduCOtAzhEs9w7yn3XwlvCg0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25E57-8722-E263-2B02-56EA68E96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1554982"/>
            <a:ext cx="11051458" cy="238760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TFT</a:t>
            </a:r>
            <a:r>
              <a:rPr kumimoji="1" lang="ja-JP" altLang="en-US" dirty="0"/>
              <a:t>を用いた</a:t>
            </a:r>
            <a:br>
              <a:rPr kumimoji="1" lang="en-US" altLang="ja-JP" dirty="0"/>
            </a:br>
            <a:r>
              <a:rPr kumimoji="1" lang="ja-JP" altLang="en-US" dirty="0"/>
              <a:t>自動仮想取引システムの実装</a:t>
            </a:r>
            <a:br>
              <a:rPr kumimoji="1" lang="en-US" altLang="ja-JP" dirty="0"/>
            </a:br>
            <a:r>
              <a:rPr lang="en-US" altLang="ja-JP" sz="3100" dirty="0"/>
              <a:t>Implementation of an Automated Virtual Trading System using TFT</a:t>
            </a:r>
            <a:endParaRPr kumimoji="1" lang="ja-JP" altLang="en-US" sz="310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E595670-2CF7-3041-7413-7866649AF39A}"/>
              </a:ext>
            </a:extLst>
          </p:cNvPr>
          <p:cNvSpPr txBox="1">
            <a:spLocks/>
          </p:cNvSpPr>
          <p:nvPr/>
        </p:nvSpPr>
        <p:spPr>
          <a:xfrm>
            <a:off x="5984158" y="4329508"/>
            <a:ext cx="5960770" cy="1835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ja-JP" altLang="en-US" dirty="0"/>
              <a:t>５年　電気情報工学科　田中大喜</a:t>
            </a:r>
            <a:endParaRPr lang="en-US" altLang="ja-JP" dirty="0"/>
          </a:p>
          <a:p>
            <a:pPr marL="0" indent="0" algn="r">
              <a:buNone/>
            </a:pPr>
            <a:r>
              <a:rPr lang="ja-JP" altLang="en-US" dirty="0"/>
              <a:t>      　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9E222A-7AED-D448-B928-249E02F9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288BC9B7-34C5-3955-12AB-DE975B7AA493}"/>
              </a:ext>
            </a:extLst>
          </p:cNvPr>
          <p:cNvSpPr txBox="1">
            <a:spLocks/>
          </p:cNvSpPr>
          <p:nvPr/>
        </p:nvSpPr>
        <p:spPr>
          <a:xfrm>
            <a:off x="8216081" y="184325"/>
            <a:ext cx="5637571" cy="470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200" dirty="0"/>
              <a:t>2026/02/02</a:t>
            </a:r>
          </a:p>
        </p:txBody>
      </p:sp>
    </p:spTree>
    <p:extLst>
      <p:ext uri="{BB962C8B-B14F-4D97-AF65-F5344CB8AC3E}">
        <p14:creationId xmlns:p14="http://schemas.microsoft.com/office/powerpoint/2010/main" val="97068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030463-6E49-50EB-D2BD-6E5C41F5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背景 </a:t>
            </a:r>
            <a:r>
              <a:rPr lang="en-US" altLang="ja-JP" sz="2800" dirty="0"/>
              <a:t>Background</a:t>
            </a:r>
            <a:endParaRPr kumimoji="1" lang="ja-JP" altLang="en-US" sz="2800" dirty="0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5B5783BD-4617-79D0-62AE-3320AC383FBB}"/>
              </a:ext>
            </a:extLst>
          </p:cNvPr>
          <p:cNvSpPr txBox="1">
            <a:spLocks/>
          </p:cNvSpPr>
          <p:nvPr/>
        </p:nvSpPr>
        <p:spPr>
          <a:xfrm>
            <a:off x="7083211" y="5142104"/>
            <a:ext cx="4569542" cy="357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800" dirty="0"/>
              <a:t>５</a:t>
            </a:r>
            <a:r>
              <a:rPr lang="en-US" altLang="ja-JP" sz="1800" dirty="0"/>
              <a:t>E</a:t>
            </a:r>
            <a:r>
              <a:rPr lang="ja-JP" altLang="en-US" sz="1800" dirty="0"/>
              <a:t>学生に実施したアンケート</a:t>
            </a:r>
            <a:endParaRPr lang="en-US" altLang="ja-JP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180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9D4108DC-8853-C02C-74F1-5BA8DB810CBF}"/>
              </a:ext>
            </a:extLst>
          </p:cNvPr>
          <p:cNvSpPr txBox="1">
            <a:spLocks/>
          </p:cNvSpPr>
          <p:nvPr/>
        </p:nvSpPr>
        <p:spPr>
          <a:xfrm>
            <a:off x="838198" y="5887121"/>
            <a:ext cx="11186653" cy="96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</a:rPr>
              <a:t>◎</a:t>
            </a:r>
            <a:r>
              <a:rPr lang="ja-JP" altLang="en-US" sz="2400" dirty="0"/>
              <a:t>資産運用に対する関心は高いものの、難易度の高さも感じている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       Interest in asset management is high, but people feel it’s too difficult to start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9714634-E970-39E3-6AC2-2F234EA94F0B}"/>
              </a:ext>
            </a:extLst>
          </p:cNvPr>
          <p:cNvSpPr/>
          <p:nvPr/>
        </p:nvSpPr>
        <p:spPr>
          <a:xfrm>
            <a:off x="812276" y="5715000"/>
            <a:ext cx="10774017" cy="9816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85748B47-8880-5F2D-5AE0-EF1DEB15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A8B23C16-70C6-6D7F-2EA4-728B7F0CB3C9}"/>
              </a:ext>
            </a:extLst>
          </p:cNvPr>
          <p:cNvSpPr txBox="1">
            <a:spLocks/>
          </p:cNvSpPr>
          <p:nvPr/>
        </p:nvSpPr>
        <p:spPr>
          <a:xfrm>
            <a:off x="838198" y="1613598"/>
            <a:ext cx="4569542" cy="4243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 dirty="0"/>
              <a:t>2022</a:t>
            </a:r>
            <a:r>
              <a:rPr lang="ja-JP" altLang="en-US" sz="2000" dirty="0"/>
              <a:t>年度から高校の家庭科で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「資産形成」が必修化</a:t>
            </a:r>
            <a:endParaRPr lang="en-US" altLang="ja-JP" sz="2000" dirty="0"/>
          </a:p>
          <a:p>
            <a:pPr marL="0" indent="0">
              <a:buNone/>
            </a:pPr>
            <a:r>
              <a:rPr lang="en-US" altLang="ja-JP" sz="1500" dirty="0"/>
              <a:t>"Asset Building" became a mandatory topic in high school home economics in 2022.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〇その一方で</a:t>
            </a:r>
            <a:r>
              <a:rPr lang="en-US" altLang="ja-JP" sz="2000" dirty="0"/>
              <a:t>…</a:t>
            </a:r>
            <a:r>
              <a:rPr lang="ja-JP" altLang="en-US" sz="2000" dirty="0"/>
              <a:t>　</a:t>
            </a:r>
            <a:r>
              <a:rPr lang="en-US" altLang="ja-JP" sz="1500" dirty="0"/>
              <a:t>but…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株や投資について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dirty="0"/>
              <a:t>面倒、手間がかかるなど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000" b="1" dirty="0">
                <a:solidFill>
                  <a:srgbClr val="538AE5"/>
                </a:solidFill>
              </a:rPr>
              <a:t>マイナス</a:t>
            </a:r>
            <a:r>
              <a:rPr lang="ja-JP" altLang="en-US" sz="2000" dirty="0"/>
              <a:t>なイメージ</a:t>
            </a:r>
            <a:endParaRPr lang="en-US" altLang="ja-JP" sz="2000" dirty="0"/>
          </a:p>
          <a:p>
            <a:pPr marL="0" indent="0">
              <a:buNone/>
            </a:pPr>
            <a:r>
              <a:rPr lang="en-US" altLang="ja-JP" sz="1500" dirty="0"/>
              <a:t>Stocks and investing are often seen negatively—perceived as "tedious" or "too much effort."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401D0C9-A3E0-2311-C5C0-5E98EC833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204" y="610458"/>
            <a:ext cx="7467978" cy="448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75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3E8828-C877-CEFA-8219-09CBA4A2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08320" cy="1325563"/>
          </a:xfrm>
        </p:spPr>
        <p:txBody>
          <a:bodyPr/>
          <a:lstStyle/>
          <a:p>
            <a:r>
              <a:rPr kumimoji="1" lang="ja-JP" altLang="en-US" dirty="0"/>
              <a:t>提案 </a:t>
            </a:r>
            <a:r>
              <a:rPr kumimoji="1" lang="en-US" altLang="ja-JP" sz="2800" dirty="0"/>
              <a:t>Proposal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3AA80-D7C7-4133-8CE0-7BB200837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9678"/>
            <a:ext cx="11272982" cy="5108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自動仮想取引シミュレーション </a:t>
            </a:r>
            <a:r>
              <a:rPr lang="en-US" altLang="ja-JP" sz="3200" dirty="0"/>
              <a:t>with </a:t>
            </a:r>
            <a:r>
              <a:rPr lang="en-US" altLang="ja-JP" sz="3200" dirty="0" err="1"/>
              <a:t>Colab</a:t>
            </a:r>
            <a:r>
              <a:rPr lang="en-US" altLang="ja-JP" sz="3200" dirty="0"/>
              <a:t> </a:t>
            </a:r>
          </a:p>
          <a:p>
            <a:pPr marL="0" indent="0">
              <a:buNone/>
            </a:pPr>
            <a:r>
              <a:rPr lang="en-US" altLang="ja-JP" sz="1500" dirty="0"/>
              <a:t>  Automated Virtual Trading Simulation with </a:t>
            </a:r>
            <a:r>
              <a:rPr lang="en-US" altLang="ja-JP" sz="1500" dirty="0" err="1"/>
              <a:t>Colab</a:t>
            </a:r>
            <a:endParaRPr kumimoji="1" lang="en-US" altLang="ja-JP" sz="1500" dirty="0"/>
          </a:p>
          <a:p>
            <a:pPr marL="0" indent="0">
              <a:buNone/>
            </a:pPr>
            <a:r>
              <a:rPr kumimoji="1" lang="ja-JP" altLang="en-US" sz="2400" dirty="0"/>
              <a:t>・最新のアルゴリズムを用いて、</a:t>
            </a:r>
            <a:r>
              <a:rPr lang="ja-JP" altLang="en-US" sz="2400" dirty="0"/>
              <a:t>仮想</a:t>
            </a:r>
            <a:r>
              <a:rPr kumimoji="1" lang="ja-JP" altLang="en-US" sz="2400" dirty="0"/>
              <a:t>取引のシミュレーションを行う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1500" dirty="0"/>
              <a:t>　  </a:t>
            </a:r>
            <a:r>
              <a:rPr lang="en-US" altLang="ja-JP" sz="1500" dirty="0"/>
              <a:t>Runs simulations using the latest algorithms.</a:t>
            </a:r>
            <a:endParaRPr kumimoji="1" lang="en-US" altLang="ja-JP" sz="1500" dirty="0"/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Google </a:t>
            </a:r>
            <a:r>
              <a:rPr lang="en-US" altLang="ja-JP" sz="2400" dirty="0" err="1"/>
              <a:t>Colab</a:t>
            </a:r>
            <a:r>
              <a:rPr lang="ja-JP" altLang="en-US" sz="2400" dirty="0"/>
              <a:t>で動かすため、システム面の初期投資がほぼ０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      Zero upfront cost since it runs on Google </a:t>
            </a:r>
            <a:r>
              <a:rPr lang="en-US" altLang="ja-JP" sz="1500" dirty="0" err="1"/>
              <a:t>Colab</a:t>
            </a:r>
            <a:r>
              <a:rPr lang="en-US" altLang="ja-JP" sz="1500" dirty="0"/>
              <a:t>.</a:t>
            </a:r>
          </a:p>
          <a:p>
            <a:pPr marL="0" indent="0">
              <a:buNone/>
            </a:pPr>
            <a:r>
              <a:rPr lang="ja-JP" altLang="en-US" dirty="0"/>
              <a:t>☆コメントアウトを外し、</a:t>
            </a:r>
            <a:r>
              <a:rPr lang="en-US" altLang="ja-JP" dirty="0"/>
              <a:t>API</a:t>
            </a:r>
            <a:r>
              <a:rPr lang="ja-JP" altLang="en-US" dirty="0"/>
              <a:t>キーを入力することで実際に取引をす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ることも可能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sz="1500" dirty="0"/>
              <a:t>        Actual trading is possible by simply uncommenting code and entering an API key.</a:t>
            </a:r>
            <a:endParaRPr kumimoji="1" lang="en-US" altLang="ja-JP" sz="1500" dirty="0"/>
          </a:p>
          <a:p>
            <a:pPr marL="0" indent="0">
              <a:buNone/>
            </a:pPr>
            <a:r>
              <a:rPr lang="en-US" altLang="ja-JP" dirty="0">
                <a:hlinkClick r:id="rId2"/>
              </a:rPr>
              <a:t>https://colab.research.google.com/drive/1GfJkGg6gFduCOtAzhEs9w7yn3XwlvCg0?usp=sharing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A34E63-84CC-FB50-11D5-4FE244B8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9" name="図 8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5EC14594-33F0-D1B1-BE87-9D789A9CC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51" y="183768"/>
            <a:ext cx="2144774" cy="205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0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E7A054-97A6-E3A2-D15E-D5E6B2CB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手法 </a:t>
            </a:r>
            <a:r>
              <a:rPr kumimoji="1" lang="en-US" altLang="ja-JP" sz="2800" dirty="0"/>
              <a:t>Methodology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B36B0-63A0-9360-B0AE-2066C6042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5" y="1630568"/>
            <a:ext cx="11681012" cy="4118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〇</a:t>
            </a:r>
            <a:r>
              <a:rPr lang="en-US" altLang="ja-JP" dirty="0"/>
              <a:t>Model</a:t>
            </a:r>
            <a:r>
              <a:rPr lang="ja-JP" altLang="en-US" dirty="0"/>
              <a:t>：</a:t>
            </a:r>
            <a:r>
              <a:rPr lang="en-US" altLang="ja-JP" dirty="0"/>
              <a:t>Temporal Fusion Transformer (TFT)</a:t>
            </a:r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2019</a:t>
            </a:r>
            <a:r>
              <a:rPr lang="ja-JP" altLang="en-US" sz="2400" dirty="0"/>
              <a:t>年に</a:t>
            </a:r>
            <a:r>
              <a:rPr lang="en-US" altLang="ja-JP" sz="2400" dirty="0"/>
              <a:t>Google</a:t>
            </a:r>
            <a:r>
              <a:rPr lang="ja-JP" altLang="en-US" sz="2400" dirty="0"/>
              <a:t>の研究チームによって発表された、時系列予測に特化した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ディープラーニングモデル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1900" dirty="0"/>
              <a:t>　</a:t>
            </a:r>
            <a:r>
              <a:rPr lang="en-US" altLang="ja-JP" sz="1900" dirty="0"/>
              <a:t>A deep learning model specialized for time-series forecasting, introduced by Google’s </a:t>
            </a:r>
          </a:p>
          <a:p>
            <a:pPr marL="0" indent="0">
              <a:buNone/>
            </a:pPr>
            <a:r>
              <a:rPr lang="ja-JP" altLang="en-US" sz="1900" dirty="0"/>
              <a:t>　</a:t>
            </a:r>
            <a:r>
              <a:rPr lang="en-US" altLang="ja-JP" sz="1900" dirty="0"/>
              <a:t>research team in 2019.</a:t>
            </a:r>
          </a:p>
          <a:p>
            <a:pPr marL="0" indent="0">
              <a:buNone/>
            </a:pPr>
            <a:r>
              <a:rPr lang="ja-JP" altLang="en-US" sz="2400" dirty="0"/>
              <a:t>・時間で変化しない情報（銘柄名、店舗の場所）</a:t>
            </a:r>
            <a:r>
              <a:rPr lang="en-US" altLang="ja-JP" sz="1500" dirty="0"/>
              <a:t>Static Metadata</a:t>
            </a:r>
          </a:p>
          <a:p>
            <a:pPr marL="0" indent="0">
              <a:buNone/>
            </a:pPr>
            <a:r>
              <a:rPr lang="ja-JP" altLang="en-US" sz="2400" dirty="0"/>
              <a:t>　既知の将来データ（祝日、イベント）</a:t>
            </a:r>
            <a:r>
              <a:rPr lang="en-US" altLang="ja-JP" sz="1500" dirty="0"/>
              <a:t>Known Future Data</a:t>
            </a:r>
          </a:p>
          <a:p>
            <a:pPr marL="0" indent="0">
              <a:buNone/>
            </a:pPr>
            <a:r>
              <a:rPr lang="ja-JP" altLang="en-US" sz="2400" dirty="0"/>
              <a:t>　過去の時系列データ（価格、為替レート）を統合して処理する </a:t>
            </a:r>
            <a:r>
              <a:rPr lang="en-US" altLang="ja-JP" sz="1500" dirty="0"/>
              <a:t>Historical Time-Series Data</a:t>
            </a:r>
          </a:p>
          <a:p>
            <a:pPr marL="0" indent="0">
              <a:buNone/>
            </a:pPr>
            <a:r>
              <a:rPr lang="ja-JP" altLang="en-US" sz="1500" dirty="0"/>
              <a:t>　　</a:t>
            </a:r>
            <a:r>
              <a:rPr lang="en-US" altLang="ja-JP" sz="1500" dirty="0"/>
              <a:t>Integrates and processes diverse these data types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000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D918135F-0367-9030-5F38-309D2B7E6DA0}"/>
              </a:ext>
            </a:extLst>
          </p:cNvPr>
          <p:cNvSpPr txBox="1">
            <a:spLocks/>
          </p:cNvSpPr>
          <p:nvPr/>
        </p:nvSpPr>
        <p:spPr>
          <a:xfrm>
            <a:off x="618565" y="5688889"/>
            <a:ext cx="10970815" cy="1607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〇実装環境：</a:t>
            </a:r>
            <a:r>
              <a:rPr lang="en-US" altLang="ja-JP" dirty="0"/>
              <a:t>Google </a:t>
            </a:r>
            <a:r>
              <a:rPr lang="en-US" altLang="ja-JP" dirty="0" err="1"/>
              <a:t>Colaboratory</a:t>
            </a:r>
            <a:r>
              <a:rPr lang="en-US" altLang="ja-JP" dirty="0"/>
              <a:t> </a:t>
            </a:r>
            <a:r>
              <a:rPr lang="en-US" altLang="ja-JP" sz="1500" dirty="0"/>
              <a:t>Execution Environment : Google </a:t>
            </a:r>
            <a:r>
              <a:rPr lang="en-US" altLang="ja-JP" sz="1500" dirty="0" err="1"/>
              <a:t>Colab</a:t>
            </a:r>
            <a:endParaRPr lang="en-US" altLang="ja-JP" sz="1500" dirty="0"/>
          </a:p>
          <a:p>
            <a:pPr marL="0" indent="0">
              <a:buNone/>
            </a:pPr>
            <a:r>
              <a:rPr lang="en-US" altLang="ja-JP" sz="2400" dirty="0"/>
              <a:t>…1</a:t>
            </a:r>
            <a:r>
              <a:rPr lang="ja-JP" altLang="en-US" sz="2400" dirty="0"/>
              <a:t>日に１度、プログラムを実行するのみ </a:t>
            </a:r>
            <a:r>
              <a:rPr lang="en-US" altLang="ja-JP" sz="1500" dirty="0"/>
              <a:t>The system only needs to be executed once a day.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ADD171F1-9F59-DE8F-79C8-BA7AF2C9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63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0FEE-27BB-D59A-3F5E-681D967C5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ACBD5B-B87B-6E95-DFA4-2344FF77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手法 </a:t>
            </a:r>
            <a:r>
              <a:rPr kumimoji="1" lang="en-US" altLang="ja-JP" sz="2800" dirty="0"/>
              <a:t>Methodology</a:t>
            </a:r>
            <a:endParaRPr kumimoji="1" lang="ja-JP" altLang="en-US" sz="28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32DF79-9532-D099-CA02-76148395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015C2D7-6741-D17F-C7B6-3BC666E24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6"/>
            <a:ext cx="10351770" cy="5167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〇データ：ビットコインの過去データ（２年分）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sz="1500" dirty="0"/>
              <a:t>Data: Bitcoin Historical Data (Past 2 years)</a:t>
            </a:r>
          </a:p>
          <a:p>
            <a:pPr marL="0" indent="0">
              <a:buNone/>
            </a:pPr>
            <a:r>
              <a:rPr lang="en-US" altLang="ja-JP" sz="2400" dirty="0"/>
              <a:t>…</a:t>
            </a:r>
            <a:r>
              <a:rPr lang="ja-JP" altLang="en-US" sz="2400" dirty="0"/>
              <a:t>価格そのものではなく、変化率に着目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Focusing on the "rate of change" rather than the raw price</a:t>
            </a:r>
          </a:p>
          <a:p>
            <a:pPr marL="0" indent="0">
              <a:buNone/>
            </a:pPr>
            <a:r>
              <a:rPr lang="ja-JP" altLang="en-US" sz="2400" dirty="0"/>
              <a:t>→データのスケーリングが安定し、精度が出やすくなる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Why? It stabilizes data scaling and makes it easier to hit higher accuracy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ja-JP" altLang="en-US" dirty="0"/>
              <a:t>☆実用面 </a:t>
            </a:r>
            <a:r>
              <a:rPr lang="en-US" altLang="ja-JP" sz="1500" dirty="0"/>
              <a:t>Practical Features</a:t>
            </a:r>
          </a:p>
          <a:p>
            <a:pPr marL="0" indent="0">
              <a:buNone/>
            </a:pPr>
            <a:r>
              <a:rPr lang="ja-JP" altLang="en-US" sz="2400" dirty="0"/>
              <a:t>・過去の統計と比べて外れた値を予測した場合、取引をストップする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The system auto-stops if the predicted values deviate too far from historical stats</a:t>
            </a:r>
          </a:p>
          <a:p>
            <a:pPr marL="0" indent="0">
              <a:buNone/>
            </a:pPr>
            <a:r>
              <a:rPr lang="ja-JP" altLang="en-US" sz="2400" dirty="0"/>
              <a:t>→比較的安全に取引を行うことが可能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This allows for relatively safe trading.</a:t>
            </a:r>
          </a:p>
          <a:p>
            <a:pPr marL="0" indent="0">
              <a:buNone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033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1393A-497A-4345-4C83-276DCD1F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F9309E-00AA-4B34-2985-7F243F57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 </a:t>
            </a:r>
            <a:r>
              <a:rPr lang="en-US" altLang="ja-JP" sz="2800" dirty="0"/>
              <a:t>Result</a:t>
            </a:r>
            <a:endParaRPr kumimoji="1" lang="ja-JP" altLang="en-US" sz="2800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1F9DE27-C388-9FA5-C768-62D47023881E}"/>
              </a:ext>
            </a:extLst>
          </p:cNvPr>
          <p:cNvCxnSpPr/>
          <p:nvPr/>
        </p:nvCxnSpPr>
        <p:spPr>
          <a:xfrm>
            <a:off x="427703" y="6449961"/>
            <a:ext cx="113365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43DD8A-93DE-3967-DE8B-1E2095E2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C0CE17D-517F-C0DA-75F5-9FFA86684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"/>
          <a:stretch>
            <a:fillRect/>
          </a:stretch>
        </p:blipFill>
        <p:spPr>
          <a:xfrm>
            <a:off x="5924550" y="1498017"/>
            <a:ext cx="4785360" cy="1825190"/>
          </a:xfrm>
          <a:prstGeom prst="rect">
            <a:avLst/>
          </a:prstGeom>
        </p:spPr>
      </p:pic>
      <p:pic>
        <p:nvPicPr>
          <p:cNvPr id="13" name="図 1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119B8F2-27EB-C118-CADD-DD088F947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2297"/>
            <a:ext cx="4785360" cy="1899860"/>
          </a:xfrm>
          <a:prstGeom prst="rect">
            <a:avLst/>
          </a:prstGeom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E24B0E8E-D158-6243-5CF3-0619F39CCF44}"/>
              </a:ext>
            </a:extLst>
          </p:cNvPr>
          <p:cNvSpPr txBox="1">
            <a:spLocks/>
          </p:cNvSpPr>
          <p:nvPr/>
        </p:nvSpPr>
        <p:spPr>
          <a:xfrm>
            <a:off x="2524237" y="3352157"/>
            <a:ext cx="1889760" cy="579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/>
              <a:t>5epoch</a:t>
            </a:r>
            <a:endParaRPr lang="ja-JP" altLang="en-US" sz="2000" dirty="0"/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A4C4A670-9901-5A6E-3011-76DCC25874B4}"/>
              </a:ext>
            </a:extLst>
          </p:cNvPr>
          <p:cNvSpPr txBox="1">
            <a:spLocks/>
          </p:cNvSpPr>
          <p:nvPr/>
        </p:nvSpPr>
        <p:spPr>
          <a:xfrm>
            <a:off x="7778005" y="3411165"/>
            <a:ext cx="1889760" cy="579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/>
              <a:t>20epoch</a:t>
            </a:r>
            <a:endParaRPr lang="ja-JP" altLang="en-US" sz="2000" dirty="0"/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22D57DF3-AE19-580A-B80F-CDD154B29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667684"/>
            <a:ext cx="11089342" cy="1825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20epoch</a:t>
            </a:r>
            <a:r>
              <a:rPr lang="ja-JP" altLang="en-US" dirty="0"/>
              <a:t>以降の精度の向上は僅かだった</a:t>
            </a:r>
            <a:r>
              <a:rPr lang="en-US" altLang="ja-JP" sz="1500" dirty="0"/>
              <a:t>Accuracy barely improved after the 20th epoch.</a:t>
            </a:r>
          </a:p>
          <a:p>
            <a:pPr marL="0" indent="0">
              <a:buNone/>
            </a:pPr>
            <a:r>
              <a:rPr lang="en-US" altLang="ja-JP" dirty="0"/>
              <a:t>…</a:t>
            </a:r>
            <a:r>
              <a:rPr lang="ja-JP" altLang="en-US" dirty="0"/>
              <a:t>ハイパーパラメータがデフォルトであることが要因？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sz="1500" dirty="0"/>
              <a:t>This might be because I'm still using the default hyperparameters.</a:t>
            </a:r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AA905749-DC81-7B87-0D24-4EB1F3FD89A1}"/>
              </a:ext>
            </a:extLst>
          </p:cNvPr>
          <p:cNvSpPr txBox="1">
            <a:spLocks/>
          </p:cNvSpPr>
          <p:nvPr/>
        </p:nvSpPr>
        <p:spPr>
          <a:xfrm>
            <a:off x="838199" y="35347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考察 </a:t>
            </a:r>
            <a:r>
              <a:rPr lang="en-US" altLang="ja-JP" sz="2800" dirty="0"/>
              <a:t>Discussion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56122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D00C-4906-A765-8003-7B25535E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8A4E6-3584-2079-E847-07CF986F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 </a:t>
            </a:r>
            <a:r>
              <a:rPr kumimoji="1" lang="en-US" altLang="ja-JP" sz="2800" dirty="0"/>
              <a:t>Future outlook</a:t>
            </a:r>
            <a:endParaRPr kumimoji="1" lang="ja-JP" altLang="en-US" sz="2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1B775A-9297-A919-9E6D-9FEEAAFF9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7580" cy="5215255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〇プログラムの改善 </a:t>
            </a:r>
            <a:r>
              <a:rPr lang="en-US" altLang="ja-JP" sz="1500" dirty="0"/>
              <a:t>Program Improvements</a:t>
            </a:r>
          </a:p>
          <a:p>
            <a:pPr marL="0" indent="0">
              <a:buNone/>
            </a:pPr>
            <a:r>
              <a:rPr lang="ja-JP" altLang="en-US" sz="2000" dirty="0"/>
              <a:t>・パラメータの調整 </a:t>
            </a:r>
            <a:r>
              <a:rPr lang="en-US" altLang="ja-JP" sz="1500" dirty="0"/>
              <a:t>Fine-tuning parameters</a:t>
            </a:r>
          </a:p>
          <a:p>
            <a:pPr marL="0" indent="0">
              <a:buNone/>
            </a:pPr>
            <a:r>
              <a:rPr lang="ja-JP" altLang="en-US" sz="2000" dirty="0"/>
              <a:t>・データの多様化</a:t>
            </a:r>
            <a:endParaRPr lang="en-US" altLang="ja-JP" sz="2000" dirty="0"/>
          </a:p>
          <a:p>
            <a:pPr marL="0" indent="0">
              <a:buNone/>
            </a:pPr>
            <a:endParaRPr lang="en-US" altLang="ja-JP" sz="800" dirty="0"/>
          </a:p>
          <a:p>
            <a:pPr marL="0" indent="0">
              <a:buNone/>
            </a:pPr>
            <a:r>
              <a:rPr lang="ja-JP" altLang="en-US" dirty="0"/>
              <a:t>〇マクロ化 </a:t>
            </a:r>
            <a:r>
              <a:rPr lang="en-US" altLang="ja-JP" sz="1500" dirty="0"/>
              <a:t>Automation</a:t>
            </a:r>
          </a:p>
          <a:p>
            <a:pPr marL="0" indent="0">
              <a:buNone/>
            </a:pPr>
            <a:r>
              <a:rPr lang="ja-JP" altLang="en-US" sz="2000" dirty="0"/>
              <a:t>・「</a:t>
            </a:r>
            <a:r>
              <a:rPr lang="en-US" altLang="ja-JP" sz="2000" dirty="0" err="1"/>
              <a:t>Colab</a:t>
            </a:r>
            <a:r>
              <a:rPr lang="ja-JP" altLang="en-US" sz="2000" dirty="0"/>
              <a:t>を開く→モデル学習→取引の実行」の一連の流れを１アクションで行えるようにする</a:t>
            </a:r>
            <a:endParaRPr lang="en-US" altLang="ja-JP" sz="2000" dirty="0"/>
          </a:p>
          <a:p>
            <a:pPr marL="0" indent="0">
              <a:buNone/>
            </a:pPr>
            <a:r>
              <a:rPr lang="en-US" altLang="ja-JP" sz="1500" dirty="0"/>
              <a:t>Streamline everything into a "one-click" action: Open </a:t>
            </a:r>
            <a:r>
              <a:rPr lang="en-US" altLang="ja-JP" sz="1500" dirty="0" err="1"/>
              <a:t>Colab</a:t>
            </a:r>
            <a:r>
              <a:rPr lang="en-US" altLang="ja-JP" sz="1500" dirty="0"/>
              <a:t> → Train Model → Execute Trade.</a:t>
            </a:r>
          </a:p>
          <a:p>
            <a:pPr marL="0" indent="0">
              <a:buNone/>
            </a:pPr>
            <a:endParaRPr lang="en-US" altLang="ja-JP" sz="800" dirty="0"/>
          </a:p>
          <a:p>
            <a:pPr marL="0" indent="0">
              <a:buNone/>
            </a:pPr>
            <a:r>
              <a:rPr lang="ja-JP" altLang="en-US" dirty="0"/>
              <a:t>〇お勉強 </a:t>
            </a:r>
            <a:r>
              <a:rPr lang="en-US" altLang="ja-JP" sz="1500" dirty="0"/>
              <a:t>Future learning</a:t>
            </a:r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Gemini</a:t>
            </a:r>
            <a:r>
              <a:rPr lang="ja-JP" altLang="en-US" sz="2400" dirty="0"/>
              <a:t>に全部聞いて全部作ってもらったので、仮想取引について勉強して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実運用に沿ったシステムに改良する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500" dirty="0"/>
              <a:t>Since I built this with Gemini’s help every step of the way, I need to dive deeper into virtual trading on my own.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55B9EF-CB67-6CF6-8E3B-3E92BB7F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73A9-D382-47C4-9CF2-7AA736D2A5A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04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684</Words>
  <Application>Microsoft Office PowerPoint</Application>
  <PresentationFormat>ワイド画面</PresentationFormat>
  <Paragraphs>81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TFTを用いた 自動仮想取引システムの実装 Implementation of an Automated Virtual Trading System using TFT</vt:lpstr>
      <vt:lpstr>背景 Background</vt:lpstr>
      <vt:lpstr>提案 Proposal</vt:lpstr>
      <vt:lpstr>手法 Methodology</vt:lpstr>
      <vt:lpstr>手法 Methodology</vt:lpstr>
      <vt:lpstr>結果 Result</vt:lpstr>
      <vt:lpstr>今後の展望 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E21_田中大喜_旭川</dc:creator>
  <cp:lastModifiedBy>E21_田中大喜_旭川</cp:lastModifiedBy>
  <cp:revision>83</cp:revision>
  <dcterms:created xsi:type="dcterms:W3CDTF">2025-09-09T00:02:02Z</dcterms:created>
  <dcterms:modified xsi:type="dcterms:W3CDTF">2026-02-02T02:35:19Z</dcterms:modified>
</cp:coreProperties>
</file>