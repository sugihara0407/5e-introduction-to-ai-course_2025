
<file path=[Content_Types].xml><?xml version="1.0" encoding="utf-8"?>
<Types xmlns="http://schemas.openxmlformats.org/package/2006/content-types">
  <Default Extension="jpeg" ContentType="image/jpe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1" r:id="rId1"/>
    <p:sldMasterId id="2147483753" r:id="rId2"/>
  </p:sldMasterIdLst>
  <p:notesMasterIdLst>
    <p:notesMasterId r:id="rId14"/>
  </p:notesMasterIdLst>
  <p:sldIdLst>
    <p:sldId id="256" r:id="rId3"/>
    <p:sldId id="257" r:id="rId4"/>
    <p:sldId id="258" r:id="rId5"/>
    <p:sldId id="259" r:id="rId6"/>
    <p:sldId id="260" r:id="rId7"/>
    <p:sldId id="266" r:id="rId8"/>
    <p:sldId id="261" r:id="rId9"/>
    <p:sldId id="262" r:id="rId10"/>
    <p:sldId id="263" r:id="rId11"/>
    <p:sldId id="264" r:id="rId12"/>
    <p:sldId id="265"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21" autoAdjust="0"/>
    <p:restoredTop sz="94660"/>
  </p:normalViewPr>
  <p:slideViewPr>
    <p:cSldViewPr snapToGrid="0">
      <p:cViewPr varScale="1">
        <p:scale>
          <a:sx n="65" d="100"/>
          <a:sy n="65" d="100"/>
        </p:scale>
        <p:origin x="720" y="-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006581-686E-435A-865E-5F520F5E473C}" type="datetimeFigureOut">
              <a:rPr kumimoji="1" lang="ja-JP" altLang="en-US" smtClean="0"/>
              <a:t>2026/2/2</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A4F9D9-0506-45C8-BD5E-DD7686143789}" type="slidenum">
              <a:rPr kumimoji="1" lang="ja-JP" altLang="en-US" smtClean="0"/>
              <a:t>‹#›</a:t>
            </a:fld>
            <a:endParaRPr kumimoji="1" lang="ja-JP" altLang="en-US"/>
          </a:p>
        </p:txBody>
      </p:sp>
    </p:spTree>
    <p:extLst>
      <p:ext uri="{BB962C8B-B14F-4D97-AF65-F5344CB8AC3E}">
        <p14:creationId xmlns:p14="http://schemas.microsoft.com/office/powerpoint/2010/main" val="3144854275"/>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txBody>
          <a:bodyPr/>
          <a:lstStyle/>
          <a:p>
            <a:endParaRPr lang="ja-JP" altLang="en-US"/>
          </a:p>
        </p:txBody>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B1A4F9D9-0506-45C8-BD5E-DD7686143789}" type="slidenum">
              <a:rPr kumimoji="1" lang="ja-JP" altLang="en-US" smtClean="0"/>
              <a:t>9</a:t>
            </a:fld>
            <a:endParaRPr kumimoji="1" lang="ja-JP" altLang="en-US"/>
          </a:p>
        </p:txBody>
      </p:sp>
    </p:spTree>
    <p:extLst>
      <p:ext uri="{BB962C8B-B14F-4D97-AF65-F5344CB8AC3E}">
        <p14:creationId xmlns:p14="http://schemas.microsoft.com/office/powerpoint/2010/main" val="37594160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txBody>
          <a:bodyPr/>
          <a:lstStyle/>
          <a:p>
            <a:endParaRPr lang="ja-JP" altLang="en-US"/>
          </a:p>
        </p:txBody>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B1A4F9D9-0506-45C8-BD5E-DD7686143789}" type="slidenum">
              <a:rPr kumimoji="1" lang="ja-JP" altLang="en-US" smtClean="0"/>
              <a:t>10</a:t>
            </a:fld>
            <a:endParaRPr kumimoji="1" lang="ja-JP" altLang="en-US"/>
          </a:p>
        </p:txBody>
      </p:sp>
    </p:spTree>
    <p:extLst>
      <p:ext uri="{BB962C8B-B14F-4D97-AF65-F5344CB8AC3E}">
        <p14:creationId xmlns:p14="http://schemas.microsoft.com/office/powerpoint/2010/main" val="9485624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4530"/>
            <a:ext cx="9144000" cy="2387600"/>
          </a:xfrm>
        </p:spPr>
        <p:txBody>
          <a:bodyPr anchor="b">
            <a:normAutofit/>
          </a:bodyPr>
          <a:lstStyle>
            <a:lvl1pPr algn="ctr">
              <a:defRPr sz="6000"/>
            </a:lvl1pPr>
          </a:lstStyle>
          <a:p>
            <a:r>
              <a:rPr lang="ja-JP" altLang="en-US"/>
              <a:t>マスター タイトルの書式設定</a:t>
            </a:r>
            <a:endParaRPr lang="en-US" dirty="0"/>
          </a:p>
        </p:txBody>
      </p:sp>
      <p:sp>
        <p:nvSpPr>
          <p:cNvPr id="3" name="Subtitle 2"/>
          <p:cNvSpPr>
            <a:spLocks noGrp="1"/>
          </p:cNvSpPr>
          <p:nvPr>
            <p:ph type="subTitle" idx="1"/>
          </p:nvPr>
        </p:nvSpPr>
        <p:spPr>
          <a:xfrm>
            <a:off x="1524000" y="3602038"/>
            <a:ext cx="9144000" cy="1655762"/>
          </a:xfrm>
        </p:spPr>
        <p:txBody>
          <a:bodyPr>
            <a:normAutofit/>
          </a:bodyPr>
          <a:lstStyle>
            <a:lvl1pPr marL="0" indent="0" algn="ctr">
              <a:buNone/>
              <a:defRPr sz="2400">
                <a:solidFill>
                  <a:schemeClr val="tx1">
                    <a:lumMod val="75000"/>
                    <a:lumOff val="25000"/>
                  </a:schemeClr>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6C0955DB-800F-4283-8F95-9029990C7F62}" type="datetimeFigureOut">
              <a:rPr kumimoji="1" lang="ja-JP" altLang="en-US" smtClean="0"/>
              <a:t>2026/2/2</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DE9E1AB3-965A-430A-87FF-B66DC268E032}" type="slidenum">
              <a:rPr kumimoji="1" lang="ja-JP" altLang="en-US" smtClean="0"/>
              <a:t>‹#›</a:t>
            </a:fld>
            <a:endParaRPr kumimoji="1" lang="ja-JP" altLang="en-US"/>
          </a:p>
        </p:txBody>
      </p:sp>
    </p:spTree>
    <p:extLst>
      <p:ext uri="{BB962C8B-B14F-4D97-AF65-F5344CB8AC3E}">
        <p14:creationId xmlns:p14="http://schemas.microsoft.com/office/powerpoint/2010/main" val="29723276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6C0955DB-800F-4283-8F95-9029990C7F62}" type="datetimeFigureOut">
              <a:rPr kumimoji="1" lang="ja-JP" altLang="en-US" smtClean="0"/>
              <a:t>2026/2/2</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DE9E1AB3-965A-430A-87FF-B66DC268E032}" type="slidenum">
              <a:rPr kumimoji="1" lang="ja-JP" altLang="en-US" smtClean="0"/>
              <a:t>‹#›</a:t>
            </a:fld>
            <a:endParaRPr kumimoji="1" lang="ja-JP" altLang="en-US"/>
          </a:p>
        </p:txBody>
      </p:sp>
    </p:spTree>
    <p:extLst>
      <p:ext uri="{BB962C8B-B14F-4D97-AF65-F5344CB8AC3E}">
        <p14:creationId xmlns:p14="http://schemas.microsoft.com/office/powerpoint/2010/main" val="38595141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831850" y="1712423"/>
            <a:ext cx="10515600" cy="2851208"/>
          </a:xfrm>
        </p:spPr>
        <p:txBody>
          <a:bodyPr anchor="b">
            <a:normAutofit/>
          </a:bodyPr>
          <a:lstStyle>
            <a:lvl1pPr>
              <a:defRPr sz="6000" b="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831850" y="4552633"/>
            <a:ext cx="10515600" cy="1500187"/>
          </a:xfrm>
        </p:spPr>
        <p:txBody>
          <a:bodyPr anchor="t">
            <a:normAutofit/>
          </a:bodyPr>
          <a:lstStyle>
            <a:lvl1pPr marL="0" indent="0">
              <a:buNone/>
              <a:defRPr sz="24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6C0955DB-800F-4283-8F95-9029990C7F62}" type="datetimeFigureOut">
              <a:rPr kumimoji="1" lang="ja-JP" altLang="en-US" smtClean="0"/>
              <a:t>2026/2/2</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DE9E1AB3-965A-430A-87FF-B66DC268E032}" type="slidenum">
              <a:rPr kumimoji="1" lang="ja-JP" altLang="en-US" smtClean="0"/>
              <a:t>‹#›</a:t>
            </a:fld>
            <a:endParaRPr kumimoji="1" lang="ja-JP" altLang="en-US"/>
          </a:p>
        </p:txBody>
      </p:sp>
    </p:spTree>
    <p:extLst>
      <p:ext uri="{BB962C8B-B14F-4D97-AF65-F5344CB8AC3E}">
        <p14:creationId xmlns:p14="http://schemas.microsoft.com/office/powerpoint/2010/main" val="33902165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845127" y="1828800"/>
            <a:ext cx="5181600" cy="4351337"/>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6172200" y="1828800"/>
            <a:ext cx="5181600" cy="4351337"/>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6C0955DB-800F-4283-8F95-9029990C7F62}" type="datetimeFigureOut">
              <a:rPr kumimoji="1" lang="ja-JP" altLang="en-US" smtClean="0"/>
              <a:t>2026/2/2</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DE9E1AB3-965A-430A-87FF-B66DC268E032}" type="slidenum">
              <a:rPr kumimoji="1" lang="ja-JP" altLang="en-US" smtClean="0"/>
              <a:t>‹#›</a:t>
            </a:fld>
            <a:endParaRPr kumimoji="1" lang="ja-JP" altLang="en-US"/>
          </a:p>
        </p:txBody>
      </p:sp>
    </p:spTree>
    <p:extLst>
      <p:ext uri="{BB962C8B-B14F-4D97-AF65-F5344CB8AC3E}">
        <p14:creationId xmlns:p14="http://schemas.microsoft.com/office/powerpoint/2010/main" val="28403072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比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45127" y="1681850"/>
            <a:ext cx="5156200" cy="825699"/>
          </a:xfrm>
        </p:spPr>
        <p:txBody>
          <a:bodyPr anchor="b">
            <a:normAutofit/>
          </a:bodyP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845127" y="2507550"/>
            <a:ext cx="5156200" cy="3680525"/>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6172200" y="1681851"/>
            <a:ext cx="5181601" cy="825698"/>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6172200" y="2507550"/>
            <a:ext cx="5181601" cy="3680525"/>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7" name="Date Placeholder 6"/>
          <p:cNvSpPr>
            <a:spLocks noGrp="1"/>
          </p:cNvSpPr>
          <p:nvPr>
            <p:ph type="dt" sz="half" idx="10"/>
          </p:nvPr>
        </p:nvSpPr>
        <p:spPr/>
        <p:txBody>
          <a:bodyPr/>
          <a:lstStyle/>
          <a:p>
            <a:fld id="{6C0955DB-800F-4283-8F95-9029990C7F62}" type="datetimeFigureOut">
              <a:rPr kumimoji="1" lang="ja-JP" altLang="en-US" smtClean="0"/>
              <a:t>2026/2/2</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DE9E1AB3-965A-430A-87FF-B66DC268E032}" type="slidenum">
              <a:rPr kumimoji="1" lang="ja-JP" altLang="en-US" smtClean="0"/>
              <a:t>‹#›</a:t>
            </a:fld>
            <a:endParaRPr kumimoji="1" lang="ja-JP" altLang="en-US"/>
          </a:p>
        </p:txBody>
      </p:sp>
      <p:sp>
        <p:nvSpPr>
          <p:cNvPr id="10" name="Title 9"/>
          <p:cNvSpPr>
            <a:spLocks noGrp="1"/>
          </p:cNvSpPr>
          <p:nvPr>
            <p:ph type="title"/>
          </p:nvPr>
        </p:nvSpPr>
        <p:spPr/>
        <p:txBody>
          <a:bodyPr/>
          <a:lstStyle/>
          <a:p>
            <a:r>
              <a:rPr lang="ja-JP" altLang="en-US"/>
              <a:t>マスター タイトルの書式設定</a:t>
            </a:r>
            <a:endParaRPr lang="en-US" dirty="0"/>
          </a:p>
        </p:txBody>
      </p:sp>
    </p:spTree>
    <p:extLst>
      <p:ext uri="{BB962C8B-B14F-4D97-AF65-F5344CB8AC3E}">
        <p14:creationId xmlns:p14="http://schemas.microsoft.com/office/powerpoint/2010/main" val="29374653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タイトルのみ">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6C0955DB-800F-4283-8F95-9029990C7F62}" type="datetimeFigureOut">
              <a:rPr kumimoji="1" lang="ja-JP" altLang="en-US" smtClean="0"/>
              <a:t>2026/2/2</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DE9E1AB3-965A-430A-87FF-B66DC268E032}" type="slidenum">
              <a:rPr kumimoji="1" lang="ja-JP" altLang="en-US" smtClean="0"/>
              <a:t>‹#›</a:t>
            </a:fld>
            <a:endParaRPr kumimoji="1" lang="ja-JP" altLang="en-US"/>
          </a:p>
        </p:txBody>
      </p:sp>
      <p:sp>
        <p:nvSpPr>
          <p:cNvPr id="6" name="Title 5"/>
          <p:cNvSpPr>
            <a:spLocks noGrp="1"/>
          </p:cNvSpPr>
          <p:nvPr>
            <p:ph type="title"/>
          </p:nvPr>
        </p:nvSpPr>
        <p:spPr/>
        <p:txBody>
          <a:bodyPr/>
          <a:lstStyle/>
          <a:p>
            <a:r>
              <a:rPr lang="ja-JP" altLang="en-US"/>
              <a:t>マスター タイトルの書式設定</a:t>
            </a:r>
            <a:endParaRPr lang="en-US"/>
          </a:p>
        </p:txBody>
      </p:sp>
    </p:spTree>
    <p:extLst>
      <p:ext uri="{BB962C8B-B14F-4D97-AF65-F5344CB8AC3E}">
        <p14:creationId xmlns:p14="http://schemas.microsoft.com/office/powerpoint/2010/main" val="36448120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C0955DB-800F-4283-8F95-9029990C7F62}" type="datetimeFigureOut">
              <a:rPr kumimoji="1" lang="ja-JP" altLang="en-US" smtClean="0"/>
              <a:t>2026/2/2</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DE9E1AB3-965A-430A-87FF-B66DC268E032}" type="slidenum">
              <a:rPr kumimoji="1" lang="ja-JP" altLang="en-US" smtClean="0"/>
              <a:t>‹#›</a:t>
            </a:fld>
            <a:endParaRPr kumimoji="1" lang="ja-JP" altLang="en-US"/>
          </a:p>
        </p:txBody>
      </p:sp>
    </p:spTree>
    <p:extLst>
      <p:ext uri="{BB962C8B-B14F-4D97-AF65-F5344CB8AC3E}">
        <p14:creationId xmlns:p14="http://schemas.microsoft.com/office/powerpoint/2010/main" val="13743710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931920" cy="1600197"/>
          </a:xfrm>
        </p:spPr>
        <p:txBody>
          <a:bodyPr anchor="b">
            <a:normAutofit/>
          </a:bodyPr>
          <a:lstStyle>
            <a:lvl1pPr>
              <a:defRPr sz="3200" b="0"/>
            </a:lvl1pPr>
          </a:lstStyle>
          <a:p>
            <a:r>
              <a:rPr lang="ja-JP" altLang="en-US"/>
              <a:t>マスター タイトルの書式設定</a:t>
            </a:r>
            <a:endParaRPr lang="en-US" dirty="0"/>
          </a:p>
        </p:txBody>
      </p:sp>
      <p:sp>
        <p:nvSpPr>
          <p:cNvPr id="3" name="Content Placeholder 2"/>
          <p:cNvSpPr>
            <a:spLocks noGrp="1"/>
          </p:cNvSpPr>
          <p:nvPr>
            <p:ph idx="1"/>
          </p:nvPr>
        </p:nvSpPr>
        <p:spPr>
          <a:xfrm>
            <a:off x="5181600" y="990600"/>
            <a:ext cx="6172200" cy="48768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841248" y="2057399"/>
            <a:ext cx="3931920" cy="3810001"/>
          </a:xfrm>
        </p:spPr>
        <p:txBody>
          <a:bodyPr>
            <a:normAutofit/>
          </a:bodyPr>
          <a:lstStyle>
            <a:lvl1pPr marL="0" indent="0">
              <a:lnSpc>
                <a:spcPct val="90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6C0955DB-800F-4283-8F95-9029990C7F62}" type="datetimeFigureOut">
              <a:rPr kumimoji="1" lang="ja-JP" altLang="en-US" smtClean="0"/>
              <a:t>2026/2/2</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DE9E1AB3-965A-430A-87FF-B66DC268E032}" type="slidenum">
              <a:rPr kumimoji="1" lang="ja-JP" altLang="en-US" smtClean="0"/>
              <a:t>‹#›</a:t>
            </a:fld>
            <a:endParaRPr kumimoji="1" lang="ja-JP" altLang="en-US"/>
          </a:p>
        </p:txBody>
      </p:sp>
    </p:spTree>
    <p:extLst>
      <p:ext uri="{BB962C8B-B14F-4D97-AF65-F5344CB8AC3E}">
        <p14:creationId xmlns:p14="http://schemas.microsoft.com/office/powerpoint/2010/main" val="14338164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931920" cy="1600200"/>
          </a:xfrm>
        </p:spPr>
        <p:txBody>
          <a:bodyPr anchor="b">
            <a:normAutofit/>
          </a:bodyPr>
          <a:lstStyle>
            <a:lvl1pPr>
              <a:defRPr sz="3200" b="0"/>
            </a:lvl1pPr>
          </a:lstStyle>
          <a:p>
            <a:r>
              <a:rPr lang="ja-JP" altLang="en-US"/>
              <a:t>マスター タイトルの書式設定</a:t>
            </a:r>
            <a:endParaRPr lang="en-US" dirty="0"/>
          </a:p>
        </p:txBody>
      </p:sp>
      <p:sp>
        <p:nvSpPr>
          <p:cNvPr id="3" name="Picture Placeholder 2"/>
          <p:cNvSpPr>
            <a:spLocks noGrp="1"/>
          </p:cNvSpPr>
          <p:nvPr>
            <p:ph type="pic" idx="1"/>
          </p:nvPr>
        </p:nvSpPr>
        <p:spPr>
          <a:xfrm>
            <a:off x="5181600" y="990600"/>
            <a:ext cx="6172200" cy="4876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841248" y="2057400"/>
            <a:ext cx="3931920" cy="3810000"/>
          </a:xfrm>
        </p:spPr>
        <p:txBody>
          <a:bodyPr>
            <a:normAutofit/>
          </a:bodyPr>
          <a:lstStyle>
            <a:lvl1pPr marL="0" indent="0">
              <a:lnSpc>
                <a:spcPct val="90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6C0955DB-800F-4283-8F95-9029990C7F62}" type="datetimeFigureOut">
              <a:rPr kumimoji="1" lang="ja-JP" altLang="en-US" smtClean="0"/>
              <a:t>2026/2/2</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DE9E1AB3-965A-430A-87FF-B66DC268E032}" type="slidenum">
              <a:rPr kumimoji="1" lang="ja-JP" altLang="en-US" smtClean="0"/>
              <a:t>‹#›</a:t>
            </a:fld>
            <a:endParaRPr kumimoji="1" lang="ja-JP" altLang="en-US"/>
          </a:p>
        </p:txBody>
      </p:sp>
    </p:spTree>
    <p:extLst>
      <p:ext uri="{BB962C8B-B14F-4D97-AF65-F5344CB8AC3E}">
        <p14:creationId xmlns:p14="http://schemas.microsoft.com/office/powerpoint/2010/main" val="29470213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6C0955DB-800F-4283-8F95-9029990C7F62}" type="datetimeFigureOut">
              <a:rPr kumimoji="1" lang="ja-JP" altLang="en-US" smtClean="0"/>
              <a:t>2026/2/2</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DE9E1AB3-965A-430A-87FF-B66DC268E032}" type="slidenum">
              <a:rPr kumimoji="1" lang="ja-JP" altLang="en-US" smtClean="0"/>
              <a:t>‹#›</a:t>
            </a:fld>
            <a:endParaRPr kumimoji="1" lang="ja-JP" altLang="en-US"/>
          </a:p>
        </p:txBody>
      </p:sp>
    </p:spTree>
    <p:extLst>
      <p:ext uri="{BB962C8B-B14F-4D97-AF65-F5344CB8AC3E}">
        <p14:creationId xmlns:p14="http://schemas.microsoft.com/office/powerpoint/2010/main" val="33651145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0362"/>
            <a:ext cx="2628900" cy="5811838"/>
          </a:xfrm>
        </p:spPr>
        <p:txBody>
          <a:bodyPr vert="eaVert"/>
          <a:lstStyle/>
          <a:p>
            <a:r>
              <a:rPr lang="ja-JP" altLang="en-US"/>
              <a:t>マスター タイトルの書式設定</a:t>
            </a:r>
            <a:endParaRPr lang="en-US"/>
          </a:p>
        </p:txBody>
      </p:sp>
      <p:sp>
        <p:nvSpPr>
          <p:cNvPr id="3" name="Vertical Text Placeholder 2"/>
          <p:cNvSpPr>
            <a:spLocks noGrp="1"/>
          </p:cNvSpPr>
          <p:nvPr>
            <p:ph type="body" orient="vert" idx="1"/>
          </p:nvPr>
        </p:nvSpPr>
        <p:spPr>
          <a:xfrm>
            <a:off x="838200" y="360362"/>
            <a:ext cx="7734300" cy="5811837"/>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10"/>
          </p:nvPr>
        </p:nvSpPr>
        <p:spPr/>
        <p:txBody>
          <a:bodyPr/>
          <a:lstStyle/>
          <a:p>
            <a:fld id="{6C0955DB-800F-4283-8F95-9029990C7F62}" type="datetimeFigureOut">
              <a:rPr kumimoji="1" lang="ja-JP" altLang="en-US" smtClean="0"/>
              <a:t>2026/2/2</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DE9E1AB3-965A-430A-87FF-B66DC268E032}" type="slidenum">
              <a:rPr kumimoji="1" lang="ja-JP" altLang="en-US" smtClean="0"/>
              <a:t>‹#›</a:t>
            </a:fld>
            <a:endParaRPr kumimoji="1" lang="ja-JP" altLang="en-US"/>
          </a:p>
        </p:txBody>
      </p:sp>
    </p:spTree>
    <p:extLst>
      <p:ext uri="{BB962C8B-B14F-4D97-AF65-F5344CB8AC3E}">
        <p14:creationId xmlns:p14="http://schemas.microsoft.com/office/powerpoint/2010/main" val="35143604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bg>
      <p:bgPr>
        <a:solidFill>
          <a:schemeClr val="accent1"/>
        </a:solidFill>
        <a:effectLst/>
      </p:bgPr>
    </p:bg>
    <p:spTree>
      <p:nvGrpSpPr>
        <p:cNvPr id="1" name=""/>
        <p:cNvGrpSpPr/>
        <p:nvPr/>
      </p:nvGrpSpPr>
      <p:grpSpPr>
        <a:xfrm>
          <a:off x="0" y="0"/>
          <a:ext cx="0" cy="0"/>
          <a:chOff x="0" y="0"/>
          <a:chExt cx="0" cy="0"/>
        </a:xfrm>
      </p:grpSpPr>
      <p:sp>
        <p:nvSpPr>
          <p:cNvPr id="11" name="Freeform 6" title="scalloped circle"/>
          <p:cNvSpPr/>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txBody>
          <a:bodyPr/>
          <a:lstStyle/>
          <a:p>
            <a:endParaRPr lang="ja-JP" altLang="en-US"/>
          </a:p>
        </p:txBody>
      </p:sp>
      <p:sp>
        <p:nvSpPr>
          <p:cNvPr id="2" name="Title 1"/>
          <p:cNvSpPr>
            <a:spLocks noGrp="1"/>
          </p:cNvSpPr>
          <p:nvPr>
            <p:ph type="ctrTitle"/>
          </p:nvPr>
        </p:nvSpPr>
        <p:spPr>
          <a:xfrm>
            <a:off x="1078523" y="1098388"/>
            <a:ext cx="10318418" cy="4394988"/>
          </a:xfrm>
        </p:spPr>
        <p:txBody>
          <a:bodyPr anchor="ctr">
            <a:noAutofit/>
          </a:bodyPr>
          <a:lstStyle>
            <a:lvl1pPr algn="ctr">
              <a:defRPr sz="10000" spc="800" baseline="0"/>
            </a:lvl1pPr>
          </a:lstStyle>
          <a:p>
            <a:r>
              <a:rPr lang="ja-JP" altLang="en-US"/>
              <a:t>マスター タイトルの書式設定</a:t>
            </a:r>
            <a:endParaRPr lang="en-US" dirty="0"/>
          </a:p>
        </p:txBody>
      </p:sp>
      <p:sp>
        <p:nvSpPr>
          <p:cNvPr id="3" name="Subtitle 2"/>
          <p:cNvSpPr>
            <a:spLocks noGrp="1"/>
          </p:cNvSpPr>
          <p:nvPr>
            <p:ph type="subTitle" idx="1"/>
          </p:nvPr>
        </p:nvSpPr>
        <p:spPr>
          <a:xfrm>
            <a:off x="2215045" y="5979196"/>
            <a:ext cx="8045373" cy="742279"/>
          </a:xfrm>
        </p:spPr>
        <p:txBody>
          <a:bodyPr anchor="t">
            <a:normAutofit/>
          </a:bodyPr>
          <a:lstStyle>
            <a:lvl1pPr marL="0" indent="0" algn="ctr">
              <a:lnSpc>
                <a:spcPct val="100000"/>
              </a:lnSpc>
              <a:buNone/>
              <a:defRPr sz="2000" b="1" i="0" cap="all" spc="4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a:xfrm>
            <a:off x="1078523" y="6375679"/>
            <a:ext cx="2329722" cy="348462"/>
          </a:xfrm>
        </p:spPr>
        <p:txBody>
          <a:bodyPr/>
          <a:lstStyle>
            <a:lvl1pPr>
              <a:defRPr baseline="0">
                <a:solidFill>
                  <a:schemeClr val="accent1">
                    <a:lumMod val="50000"/>
                  </a:schemeClr>
                </a:solidFill>
              </a:defRPr>
            </a:lvl1pPr>
          </a:lstStyle>
          <a:p>
            <a:fld id="{6C0955DB-800F-4283-8F95-9029990C7F62}" type="datetimeFigureOut">
              <a:rPr kumimoji="1" lang="ja-JP" altLang="en-US" smtClean="0"/>
              <a:t>2026/2/2</a:t>
            </a:fld>
            <a:endParaRPr kumimoji="1" lang="ja-JP" altLang="en-US"/>
          </a:p>
        </p:txBody>
      </p:sp>
      <p:sp>
        <p:nvSpPr>
          <p:cNvPr id="5" name="Footer Placeholder 4"/>
          <p:cNvSpPr>
            <a:spLocks noGrp="1"/>
          </p:cNvSpPr>
          <p:nvPr>
            <p:ph type="ftr" sz="quarter" idx="11"/>
          </p:nvPr>
        </p:nvSpPr>
        <p:spPr>
          <a:xfrm>
            <a:off x="4180332" y="6375679"/>
            <a:ext cx="4114800" cy="345796"/>
          </a:xfrm>
        </p:spPr>
        <p:txBody>
          <a:bodyPr/>
          <a:lstStyle>
            <a:lvl1pPr>
              <a:defRPr baseline="0">
                <a:solidFill>
                  <a:schemeClr val="accent1">
                    <a:lumMod val="50000"/>
                  </a:schemeClr>
                </a:solidFill>
              </a:defRPr>
            </a:lvl1pPr>
          </a:lstStyle>
          <a:p>
            <a:endParaRPr kumimoji="1" lang="ja-JP" altLang="en-US"/>
          </a:p>
        </p:txBody>
      </p:sp>
      <p:sp>
        <p:nvSpPr>
          <p:cNvPr id="6" name="Slide Number Placeholder 5"/>
          <p:cNvSpPr>
            <a:spLocks noGrp="1"/>
          </p:cNvSpPr>
          <p:nvPr>
            <p:ph type="sldNum" sz="quarter" idx="12"/>
          </p:nvPr>
        </p:nvSpPr>
        <p:spPr>
          <a:xfrm>
            <a:off x="9067218" y="6375679"/>
            <a:ext cx="2329723" cy="345796"/>
          </a:xfrm>
        </p:spPr>
        <p:txBody>
          <a:bodyPr/>
          <a:lstStyle>
            <a:lvl1pPr>
              <a:defRPr baseline="0">
                <a:solidFill>
                  <a:schemeClr val="accent1">
                    <a:lumMod val="50000"/>
                  </a:schemeClr>
                </a:solidFill>
              </a:defRPr>
            </a:lvl1pPr>
          </a:lstStyle>
          <a:p>
            <a:fld id="{DE9E1AB3-965A-430A-87FF-B66DC268E032}" type="slidenum">
              <a:rPr kumimoji="1" lang="ja-JP" altLang="en-US" smtClean="0"/>
              <a:t>‹#›</a:t>
            </a:fld>
            <a:endParaRPr kumimoji="1" lang="ja-JP" altLang="en-US"/>
          </a:p>
        </p:txBody>
      </p:sp>
      <p:sp>
        <p:nvSpPr>
          <p:cNvPr id="13" name="Rectangle 12" title="left edge border"/>
          <p:cNvSpPr/>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ja-JP" altLang="en-US"/>
          </a:p>
        </p:txBody>
      </p:sp>
    </p:spTree>
    <p:extLst>
      <p:ext uri="{BB962C8B-B14F-4D97-AF65-F5344CB8AC3E}">
        <p14:creationId xmlns:p14="http://schemas.microsoft.com/office/powerpoint/2010/main" val="25746760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6C0955DB-800F-4283-8F95-9029990C7F62}" type="datetimeFigureOut">
              <a:rPr kumimoji="1" lang="ja-JP" altLang="en-US" smtClean="0"/>
              <a:t>2026/2/2</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DE9E1AB3-965A-430A-87FF-B66DC268E032}" type="slidenum">
              <a:rPr kumimoji="1" lang="ja-JP" altLang="en-US" smtClean="0"/>
              <a:t>‹#›</a:t>
            </a:fld>
            <a:endParaRPr kumimoji="1" lang="ja-JP" altLang="en-US"/>
          </a:p>
        </p:txBody>
      </p:sp>
    </p:spTree>
    <p:extLst>
      <p:ext uri="{BB962C8B-B14F-4D97-AF65-F5344CB8AC3E}">
        <p14:creationId xmlns:p14="http://schemas.microsoft.com/office/powerpoint/2010/main" val="8893494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セクション見出し">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242929" y="1073888"/>
            <a:ext cx="8187071" cy="4064627"/>
          </a:xfrm>
        </p:spPr>
        <p:txBody>
          <a:bodyPr anchor="b">
            <a:normAutofit/>
          </a:bodyPr>
          <a:lstStyle>
            <a:lvl1pPr>
              <a:defRPr sz="8400" spc="800" baseline="0">
                <a:solidFill>
                  <a:schemeClr val="tx2"/>
                </a:solidFill>
              </a:defRPr>
            </a:lvl1pPr>
          </a:lstStyle>
          <a:p>
            <a:r>
              <a:rPr lang="ja-JP" altLang="en-US"/>
              <a:t>マスター タイトルの書式設定</a:t>
            </a:r>
            <a:endParaRPr lang="en-US" dirty="0"/>
          </a:p>
        </p:txBody>
      </p:sp>
      <p:sp>
        <p:nvSpPr>
          <p:cNvPr id="3" name="Text Placeholder 2"/>
          <p:cNvSpPr>
            <a:spLocks noGrp="1"/>
          </p:cNvSpPr>
          <p:nvPr>
            <p:ph type="body" idx="1"/>
          </p:nvPr>
        </p:nvSpPr>
        <p:spPr>
          <a:xfrm>
            <a:off x="3242930" y="5159781"/>
            <a:ext cx="7017488" cy="951135"/>
          </a:xfrm>
        </p:spPr>
        <p:txBody>
          <a:bodyPr>
            <a:normAutofit/>
          </a:bodyPr>
          <a:lstStyle>
            <a:lvl1pPr marL="0" indent="0">
              <a:lnSpc>
                <a:spcPct val="100000"/>
              </a:lnSpc>
              <a:buNone/>
              <a:defRPr sz="2000" b="1" i="0" cap="all" spc="400"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a:xfrm>
            <a:off x="3236546" y="6375679"/>
            <a:ext cx="1493947" cy="348462"/>
          </a:xfrm>
        </p:spPr>
        <p:txBody>
          <a:bodyPr/>
          <a:lstStyle>
            <a:lvl1pPr>
              <a:defRPr baseline="0">
                <a:solidFill>
                  <a:schemeClr val="tx2"/>
                </a:solidFill>
              </a:defRPr>
            </a:lvl1pPr>
          </a:lstStyle>
          <a:p>
            <a:fld id="{6C0955DB-800F-4283-8F95-9029990C7F62}" type="datetimeFigureOut">
              <a:rPr kumimoji="1" lang="ja-JP" altLang="en-US" smtClean="0"/>
              <a:t>2026/2/2</a:t>
            </a:fld>
            <a:endParaRPr kumimoji="1" lang="ja-JP" altLang="en-US"/>
          </a:p>
        </p:txBody>
      </p:sp>
      <p:sp>
        <p:nvSpPr>
          <p:cNvPr id="5" name="Footer Placeholder 4"/>
          <p:cNvSpPr>
            <a:spLocks noGrp="1"/>
          </p:cNvSpPr>
          <p:nvPr>
            <p:ph type="ftr" sz="quarter" idx="11"/>
          </p:nvPr>
        </p:nvSpPr>
        <p:spPr>
          <a:xfrm>
            <a:off x="5279064" y="6375679"/>
            <a:ext cx="4114800" cy="345796"/>
          </a:xfrm>
        </p:spPr>
        <p:txBody>
          <a:bodyPr/>
          <a:lstStyle>
            <a:lvl1pPr>
              <a:defRPr baseline="0">
                <a:solidFill>
                  <a:schemeClr val="tx2"/>
                </a:solidFill>
              </a:defRPr>
            </a:lvl1pPr>
          </a:lstStyle>
          <a:p>
            <a:endParaRPr kumimoji="1" lang="ja-JP" altLang="en-US"/>
          </a:p>
        </p:txBody>
      </p:sp>
      <p:sp>
        <p:nvSpPr>
          <p:cNvPr id="6" name="Slide Number Placeholder 5"/>
          <p:cNvSpPr>
            <a:spLocks noGrp="1"/>
          </p:cNvSpPr>
          <p:nvPr>
            <p:ph type="sldNum" sz="quarter" idx="12"/>
          </p:nvPr>
        </p:nvSpPr>
        <p:spPr>
          <a:xfrm>
            <a:off x="9942434" y="6375679"/>
            <a:ext cx="1487566" cy="345796"/>
          </a:xfrm>
        </p:spPr>
        <p:txBody>
          <a:bodyPr/>
          <a:lstStyle>
            <a:lvl1pPr>
              <a:defRPr baseline="0">
                <a:solidFill>
                  <a:schemeClr val="tx2"/>
                </a:solidFill>
              </a:defRPr>
            </a:lvl1pPr>
          </a:lstStyle>
          <a:p>
            <a:fld id="{DE9E1AB3-965A-430A-87FF-B66DC268E032}" type="slidenum">
              <a:rPr kumimoji="1" lang="ja-JP" altLang="en-US" smtClean="0"/>
              <a:t>‹#›</a:t>
            </a:fld>
            <a:endParaRPr kumimoji="1" lang="ja-JP" altLang="en-US"/>
          </a:p>
        </p:txBody>
      </p:sp>
      <p:grpSp>
        <p:nvGrpSpPr>
          <p:cNvPr id="7" name="Group 6" title="left scallop shape"/>
          <p:cNvGrpSpPr/>
          <p:nvPr/>
        </p:nvGrpSpPr>
        <p:grpSpPr>
          <a:xfrm>
            <a:off x="0" y="0"/>
            <a:ext cx="2814638" cy="6858000"/>
            <a:chOff x="0" y="0"/>
            <a:chExt cx="2814638" cy="6858000"/>
          </a:xfrm>
        </p:grpSpPr>
        <p:sp>
          <p:nvSpPr>
            <p:cNvPr id="11" name="Freeform 6" title="left scallop shape"/>
            <p:cNvSpPr/>
            <p:nvPr/>
          </p:nvSpPr>
          <p:spPr bwMode="auto">
            <a:xfrm>
              <a:off x="0" y="0"/>
              <a:ext cx="2814638"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headEnd/>
              <a:tailEnd/>
            </a:ln>
          </p:spPr>
          <p:txBody>
            <a:bodyPr/>
            <a:lstStyle/>
            <a:p>
              <a:endParaRPr lang="ja-JP" altLang="en-US"/>
            </a:p>
          </p:txBody>
        </p:sp>
        <p:sp>
          <p:nvSpPr>
            <p:cNvPr id="16" name="Freeform 11" title="left scallop inline"/>
            <p:cNvSpPr/>
            <p:nvPr/>
          </p:nvSpPr>
          <p:spPr bwMode="auto">
            <a:xfrm>
              <a:off x="874382"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txBody>
            <a:bodyPr/>
            <a:lstStyle/>
            <a:p>
              <a:endParaRPr lang="ja-JP" altLang="en-US"/>
            </a:p>
          </p:txBody>
        </p:sp>
      </p:grpSp>
    </p:spTree>
    <p:extLst>
      <p:ext uri="{BB962C8B-B14F-4D97-AF65-F5344CB8AC3E}">
        <p14:creationId xmlns:p14="http://schemas.microsoft.com/office/powerpoint/2010/main" val="940302507"/>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1257300" y="2286000"/>
            <a:ext cx="4800600" cy="3619500"/>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6647796" y="2286000"/>
            <a:ext cx="4800600" cy="3619500"/>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6C0955DB-800F-4283-8F95-9029990C7F62}" type="datetimeFigureOut">
              <a:rPr kumimoji="1" lang="ja-JP" altLang="en-US" smtClean="0"/>
              <a:t>2026/2/2</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DE9E1AB3-965A-430A-87FF-B66DC268E032}" type="slidenum">
              <a:rPr kumimoji="1" lang="ja-JP" altLang="en-US" smtClean="0"/>
              <a:t>‹#›</a:t>
            </a:fld>
            <a:endParaRPr kumimoji="1" lang="ja-JP" altLang="en-US"/>
          </a:p>
        </p:txBody>
      </p:sp>
    </p:spTree>
    <p:extLst>
      <p:ext uri="{BB962C8B-B14F-4D97-AF65-F5344CB8AC3E}">
        <p14:creationId xmlns:p14="http://schemas.microsoft.com/office/powerpoint/2010/main" val="1758658325"/>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1252728" y="381000"/>
            <a:ext cx="10172700" cy="1493517"/>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1251678"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1257300" y="2909102"/>
            <a:ext cx="4800600" cy="299639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6633864"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6633864" y="2909102"/>
            <a:ext cx="4800600" cy="299639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6C0955DB-800F-4283-8F95-9029990C7F62}" type="datetimeFigureOut">
              <a:rPr kumimoji="1" lang="ja-JP" altLang="en-US" smtClean="0"/>
              <a:t>2026/2/2</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DE9E1AB3-965A-430A-87FF-B66DC268E032}" type="slidenum">
              <a:rPr kumimoji="1" lang="ja-JP" altLang="en-US" smtClean="0"/>
              <a:t>‹#›</a:t>
            </a:fld>
            <a:endParaRPr kumimoji="1" lang="ja-JP" altLang="en-US"/>
          </a:p>
        </p:txBody>
      </p:sp>
    </p:spTree>
    <p:extLst>
      <p:ext uri="{BB962C8B-B14F-4D97-AF65-F5344CB8AC3E}">
        <p14:creationId xmlns:p14="http://schemas.microsoft.com/office/powerpoint/2010/main" val="2506200567"/>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6C0955DB-800F-4283-8F95-9029990C7F62}" type="datetimeFigureOut">
              <a:rPr kumimoji="1" lang="ja-JP" altLang="en-US" smtClean="0"/>
              <a:t>2026/2/2</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DE9E1AB3-965A-430A-87FF-B66DC268E032}" type="slidenum">
              <a:rPr kumimoji="1" lang="ja-JP" altLang="en-US" smtClean="0"/>
              <a:t>‹#›</a:t>
            </a:fld>
            <a:endParaRPr kumimoji="1" lang="ja-JP" altLang="en-US"/>
          </a:p>
        </p:txBody>
      </p:sp>
    </p:spTree>
    <p:extLst>
      <p:ext uri="{BB962C8B-B14F-4D97-AF65-F5344CB8AC3E}">
        <p14:creationId xmlns:p14="http://schemas.microsoft.com/office/powerpoint/2010/main" val="312952625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C0955DB-800F-4283-8F95-9029990C7F62}" type="datetimeFigureOut">
              <a:rPr kumimoji="1" lang="ja-JP" altLang="en-US" smtClean="0"/>
              <a:t>2026/2/2</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DE9E1AB3-965A-430A-87FF-B66DC268E032}" type="slidenum">
              <a:rPr kumimoji="1" lang="ja-JP" altLang="en-US" smtClean="0"/>
              <a:t>‹#›</a:t>
            </a:fld>
            <a:endParaRPr kumimoji="1" lang="ja-JP" altLang="en-US"/>
          </a:p>
        </p:txBody>
      </p:sp>
    </p:spTree>
    <p:extLst>
      <p:ext uri="{BB962C8B-B14F-4D97-AF65-F5344CB8AC3E}">
        <p14:creationId xmlns:p14="http://schemas.microsoft.com/office/powerpoint/2010/main" val="11230065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タイトル付きのコンテンツ">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txBody>
          <a:bodyPr/>
          <a:lstStyle/>
          <a:p>
            <a:endParaRPr lang="ja-JP" altLang="en-US"/>
          </a:p>
        </p:txBody>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mn-lt"/>
              </a:defRPr>
            </a:lvl1pPr>
          </a:lstStyle>
          <a:p>
            <a:r>
              <a:rPr lang="ja-JP" altLang="en-US"/>
              <a:t>マスター タイトルの書式設定</a:t>
            </a:r>
            <a:endParaRPr lang="en-US" dirty="0"/>
          </a:p>
        </p:txBody>
      </p:sp>
      <p:sp>
        <p:nvSpPr>
          <p:cNvPr id="3" name="Content Placeholder 2"/>
          <p:cNvSpPr>
            <a:spLocks noGrp="1"/>
          </p:cNvSpPr>
          <p:nvPr>
            <p:ph idx="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a:xfrm>
            <a:off x="765051" y="6375679"/>
            <a:ext cx="1233355" cy="348462"/>
          </a:xfrm>
        </p:spPr>
        <p:txBody>
          <a:bodyPr/>
          <a:lstStyle/>
          <a:p>
            <a:fld id="{6C0955DB-800F-4283-8F95-9029990C7F62}" type="datetimeFigureOut">
              <a:rPr kumimoji="1" lang="ja-JP" altLang="en-US" smtClean="0"/>
              <a:t>2026/2/2</a:t>
            </a:fld>
            <a:endParaRPr kumimoji="1" lang="ja-JP" altLang="en-US"/>
          </a:p>
        </p:txBody>
      </p:sp>
      <p:sp>
        <p:nvSpPr>
          <p:cNvPr id="6" name="Footer Placeholder 5"/>
          <p:cNvSpPr>
            <a:spLocks noGrp="1"/>
          </p:cNvSpPr>
          <p:nvPr>
            <p:ph type="ftr" sz="quarter" idx="11"/>
          </p:nvPr>
        </p:nvSpPr>
        <p:spPr>
          <a:xfrm>
            <a:off x="2103620" y="6375679"/>
            <a:ext cx="3482179" cy="345796"/>
          </a:xfrm>
        </p:spPr>
        <p:txBody>
          <a:bodyPr/>
          <a:lstStyle/>
          <a:p>
            <a:endParaRPr kumimoji="1" lang="ja-JP" altLang="en-US"/>
          </a:p>
        </p:txBody>
      </p:sp>
      <p:sp>
        <p:nvSpPr>
          <p:cNvPr id="7" name="Slide Number Placeholder 6"/>
          <p:cNvSpPr>
            <a:spLocks noGrp="1"/>
          </p:cNvSpPr>
          <p:nvPr>
            <p:ph type="sldNum" sz="quarter" idx="12"/>
          </p:nvPr>
        </p:nvSpPr>
        <p:spPr>
          <a:xfrm>
            <a:off x="5691014" y="6375679"/>
            <a:ext cx="1232456" cy="345796"/>
          </a:xfrm>
        </p:spPr>
        <p:txBody>
          <a:bodyPr/>
          <a:lstStyle/>
          <a:p>
            <a:fld id="{DE9E1AB3-965A-430A-87FF-B66DC268E032}" type="slidenum">
              <a:rPr kumimoji="1" lang="ja-JP" altLang="en-US" smtClean="0"/>
              <a:t>‹#›</a:t>
            </a:fld>
            <a:endParaRPr kumimoji="1" lang="ja-JP" altLang="en-US"/>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ja-JP" altLang="en-US"/>
          </a:p>
        </p:txBody>
      </p:sp>
    </p:spTree>
    <p:extLst>
      <p:ext uri="{BB962C8B-B14F-4D97-AF65-F5344CB8AC3E}">
        <p14:creationId xmlns:p14="http://schemas.microsoft.com/office/powerpoint/2010/main" val="2617036159"/>
      </p:ext>
    </p:extLst>
  </p:cSld>
  <p:clrMapOvr>
    <a:masterClrMapping/>
  </p:clrMapOvr>
  <p:extLst>
    <p:ext uri="{DCECCB84-F9BA-43D5-87BE-67443E8EF086}">
      <p15:sldGuideLst xmlns:p15="http://schemas.microsoft.com/office/powerpoint/2012/main">
        <p15:guide id="1" orient="horz" pos="69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タイトル付きの図">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83464" y="0"/>
            <a:ext cx="7355585"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11"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txBody>
          <a:bodyPr/>
          <a:lstStyle/>
          <a:p>
            <a:endParaRPr lang="ja-JP" altLang="en-US"/>
          </a:p>
        </p:txBody>
      </p:sp>
      <p:sp>
        <p:nvSpPr>
          <p:cNvPr id="12" name="Rectangle 11"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ja-JP" altLang="en-US"/>
          </a:p>
        </p:txBody>
      </p:sp>
      <p:sp>
        <p:nvSpPr>
          <p:cNvPr id="2" name="Title 1"/>
          <p:cNvSpPr>
            <a:spLocks noGrp="1"/>
          </p:cNvSpPr>
          <p:nvPr>
            <p:ph type="title"/>
          </p:nvPr>
        </p:nvSpPr>
        <p:spPr>
          <a:xfrm>
            <a:off x="8337883" y="457200"/>
            <a:ext cx="3092117" cy="1196670"/>
          </a:xfrm>
        </p:spPr>
        <p:txBody>
          <a:bodyPr anchor="b">
            <a:normAutofit/>
          </a:bodyPr>
          <a:lstStyle>
            <a:lvl1pPr>
              <a:lnSpc>
                <a:spcPct val="100000"/>
              </a:lnSpc>
              <a:defRPr sz="1900" b="1" i="0" spc="300" baseline="0">
                <a:solidFill>
                  <a:schemeClr val="accent1"/>
                </a:solidFill>
                <a:latin typeface="+mn-lt"/>
              </a:defRPr>
            </a:lvl1pPr>
          </a:lstStyle>
          <a:p>
            <a:r>
              <a:rPr lang="ja-JP" altLang="en-US"/>
              <a:t>マスター タイトルの書式設定</a:t>
            </a:r>
            <a:endParaRPr lang="en-US" dirty="0"/>
          </a:p>
        </p:txBody>
      </p:sp>
      <p:sp>
        <p:nvSpPr>
          <p:cNvPr id="4" name="Text Placeholder 3"/>
          <p:cNvSpPr>
            <a:spLocks noGrp="1"/>
          </p:cNvSpPr>
          <p:nvPr>
            <p:ph type="body" sz="half" idx="2"/>
          </p:nvPr>
        </p:nvSpPr>
        <p:spPr>
          <a:xfrm>
            <a:off x="8337883" y="1741336"/>
            <a:ext cx="3092117"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a:xfrm>
            <a:off x="765950" y="6375679"/>
            <a:ext cx="1232456" cy="348462"/>
          </a:xfrm>
        </p:spPr>
        <p:txBody>
          <a:bodyPr/>
          <a:lstStyle/>
          <a:p>
            <a:fld id="{6C0955DB-800F-4283-8F95-9029990C7F62}" type="datetimeFigureOut">
              <a:rPr kumimoji="1" lang="ja-JP" altLang="en-US" smtClean="0"/>
              <a:t>2026/2/2</a:t>
            </a:fld>
            <a:endParaRPr kumimoji="1" lang="ja-JP" altLang="en-US"/>
          </a:p>
        </p:txBody>
      </p:sp>
      <p:sp>
        <p:nvSpPr>
          <p:cNvPr id="6" name="Footer Placeholder 5"/>
          <p:cNvSpPr>
            <a:spLocks noGrp="1"/>
          </p:cNvSpPr>
          <p:nvPr>
            <p:ph type="ftr" sz="quarter" idx="11"/>
          </p:nvPr>
        </p:nvSpPr>
        <p:spPr>
          <a:xfrm>
            <a:off x="2103621" y="6375679"/>
            <a:ext cx="3482178" cy="345796"/>
          </a:xfrm>
        </p:spPr>
        <p:txBody>
          <a:bodyPr/>
          <a:lstStyle/>
          <a:p>
            <a:endParaRPr lang="en-US" dirty="0"/>
          </a:p>
        </p:txBody>
      </p:sp>
      <p:sp>
        <p:nvSpPr>
          <p:cNvPr id="7" name="Slide Number Placeholder 6"/>
          <p:cNvSpPr>
            <a:spLocks noGrp="1"/>
          </p:cNvSpPr>
          <p:nvPr>
            <p:ph type="sldNum" sz="quarter" idx="12"/>
          </p:nvPr>
        </p:nvSpPr>
        <p:spPr>
          <a:xfrm>
            <a:off x="5687568" y="6375679"/>
            <a:ext cx="1234440" cy="345796"/>
          </a:xfrm>
        </p:spPr>
        <p:txBody>
          <a:bodyPr/>
          <a:lstStyle/>
          <a:p>
            <a:fld id="{DE9E1AB3-965A-430A-87FF-B66DC268E032}" type="slidenum">
              <a:rPr kumimoji="1" lang="ja-JP" altLang="en-US" smtClean="0"/>
              <a:t>‹#›</a:t>
            </a:fld>
            <a:endParaRPr kumimoji="1" lang="ja-JP" altLang="en-US"/>
          </a:p>
        </p:txBody>
      </p:sp>
    </p:spTree>
    <p:extLst>
      <p:ext uri="{BB962C8B-B14F-4D97-AF65-F5344CB8AC3E}">
        <p14:creationId xmlns:p14="http://schemas.microsoft.com/office/powerpoint/2010/main" val="206790085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6C0955DB-800F-4283-8F95-9029990C7F62}" type="datetimeFigureOut">
              <a:rPr kumimoji="1" lang="ja-JP" altLang="en-US" smtClean="0"/>
              <a:t>2026/2/2</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DE9E1AB3-965A-430A-87FF-B66DC268E032}" type="slidenum">
              <a:rPr kumimoji="1" lang="ja-JP" altLang="en-US" smtClean="0"/>
              <a:t>‹#›</a:t>
            </a:fld>
            <a:endParaRPr kumimoji="1" lang="ja-JP" altLang="en-US"/>
          </a:p>
        </p:txBody>
      </p:sp>
    </p:spTree>
    <p:extLst>
      <p:ext uri="{BB962C8B-B14F-4D97-AF65-F5344CB8AC3E}">
        <p14:creationId xmlns:p14="http://schemas.microsoft.com/office/powerpoint/2010/main" val="411619913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66321" y="382386"/>
            <a:ext cx="1492132" cy="5600404"/>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1257300" y="382385"/>
            <a:ext cx="8392585" cy="5600405"/>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6C0955DB-800F-4283-8F95-9029990C7F62}" type="datetimeFigureOut">
              <a:rPr kumimoji="1" lang="ja-JP" altLang="en-US" smtClean="0"/>
              <a:t>2026/2/2</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DE9E1AB3-965A-430A-87FF-B66DC268E032}" type="slidenum">
              <a:rPr kumimoji="1" lang="ja-JP" altLang="en-US" smtClean="0"/>
              <a:t>‹#›</a:t>
            </a:fld>
            <a:endParaRPr kumimoji="1" lang="ja-JP" altLang="en-US"/>
          </a:p>
        </p:txBody>
      </p:sp>
    </p:spTree>
    <p:extLst>
      <p:ext uri="{BB962C8B-B14F-4D97-AF65-F5344CB8AC3E}">
        <p14:creationId xmlns:p14="http://schemas.microsoft.com/office/powerpoint/2010/main" val="33257559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45127" y="365760"/>
            <a:ext cx="10515600" cy="1325562"/>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845127" y="1828800"/>
            <a:ext cx="10515600" cy="4351337"/>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100">
                <a:solidFill>
                  <a:schemeClr val="tx1">
                    <a:lumMod val="65000"/>
                    <a:lumOff val="35000"/>
                  </a:schemeClr>
                </a:solidFill>
              </a:defRPr>
            </a:lvl1pPr>
          </a:lstStyle>
          <a:p>
            <a:fld id="{6C0955DB-800F-4283-8F95-9029990C7F62}" type="datetimeFigureOut">
              <a:rPr kumimoji="1" lang="ja-JP" altLang="en-US" smtClean="0"/>
              <a:t>2026/2/2</a:t>
            </a:fld>
            <a:endParaRPr kumimoji="1" lang="ja-JP"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100">
                <a:solidFill>
                  <a:schemeClr val="tx1">
                    <a:lumMod val="65000"/>
                    <a:lumOff val="35000"/>
                  </a:schemeClr>
                </a:solidFill>
              </a:defRPr>
            </a:lvl1pPr>
          </a:lstStyle>
          <a:p>
            <a:endParaRPr kumimoji="1" lang="ja-JP" altLang="en-US"/>
          </a:p>
        </p:txBody>
      </p:sp>
      <p:sp>
        <p:nvSpPr>
          <p:cNvPr id="6" name="Slide Number Placeholder 5"/>
          <p:cNvSpPr>
            <a:spLocks noGrp="1"/>
          </p:cNvSpPr>
          <p:nvPr>
            <p:ph type="sldNum" sz="quarter" idx="4"/>
          </p:nvPr>
        </p:nvSpPr>
        <p:spPr>
          <a:xfrm>
            <a:off x="8617527" y="6356350"/>
            <a:ext cx="2743200" cy="365125"/>
          </a:xfrm>
          <a:prstGeom prst="rect">
            <a:avLst/>
          </a:prstGeom>
        </p:spPr>
        <p:txBody>
          <a:bodyPr vert="horz" lIns="91440" tIns="45720" rIns="91440" bIns="45720" rtlCol="0" anchor="ctr"/>
          <a:lstStyle>
            <a:lvl1pPr algn="r">
              <a:defRPr sz="1100">
                <a:solidFill>
                  <a:schemeClr val="tx1">
                    <a:tint val="75000"/>
                  </a:schemeClr>
                </a:solidFill>
              </a:defRPr>
            </a:lvl1pPr>
          </a:lstStyle>
          <a:p>
            <a:fld id="{DE9E1AB3-965A-430A-87FF-B66DC268E032}" type="slidenum">
              <a:rPr kumimoji="1" lang="ja-JP" altLang="en-US" smtClean="0"/>
              <a:t>‹#›</a:t>
            </a:fld>
            <a:endParaRPr kumimoji="1" lang="ja-JP" altLang="en-US"/>
          </a:p>
        </p:txBody>
      </p:sp>
    </p:spTree>
    <p:extLst>
      <p:ext uri="{BB962C8B-B14F-4D97-AF65-F5344CB8AC3E}">
        <p14:creationId xmlns:p14="http://schemas.microsoft.com/office/powerpoint/2010/main" val="534910580"/>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1678" y="382385"/>
            <a:ext cx="10178322" cy="1492132"/>
          </a:xfrm>
          <a:prstGeom prst="rect">
            <a:avLst/>
          </a:prstGeom>
        </p:spPr>
        <p:txBody>
          <a:bodyPr vert="horz" lIns="91440" tIns="45720" rIns="91440" bIns="45720" rtlCol="0" anchor="t">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1251678" y="2286001"/>
            <a:ext cx="10178322" cy="3593591"/>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1251678" y="6375679"/>
            <a:ext cx="2329722" cy="348462"/>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6C0955DB-800F-4283-8F95-9029990C7F62}" type="datetimeFigureOut">
              <a:rPr kumimoji="1" lang="ja-JP" altLang="en-US" smtClean="0"/>
              <a:t>2026/2/2</a:t>
            </a:fld>
            <a:endParaRPr kumimoji="1" lang="ja-JP" altLang="en-US"/>
          </a:p>
        </p:txBody>
      </p:sp>
      <p:sp>
        <p:nvSpPr>
          <p:cNvPr id="5" name="Footer Placeholder 4"/>
          <p:cNvSpPr>
            <a:spLocks noGrp="1"/>
          </p:cNvSpPr>
          <p:nvPr>
            <p:ph type="ftr" sz="quarter" idx="3"/>
          </p:nvPr>
        </p:nvSpPr>
        <p:spPr>
          <a:xfrm>
            <a:off x="4038600" y="6375679"/>
            <a:ext cx="4114800" cy="345796"/>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endParaRPr kumimoji="1" lang="ja-JP" altLang="en-US"/>
          </a:p>
        </p:txBody>
      </p:sp>
      <p:sp>
        <p:nvSpPr>
          <p:cNvPr id="6" name="Slide Number Placeholder 5"/>
          <p:cNvSpPr>
            <a:spLocks noGrp="1"/>
          </p:cNvSpPr>
          <p:nvPr>
            <p:ph type="sldNum" sz="quarter" idx="4"/>
          </p:nvPr>
        </p:nvSpPr>
        <p:spPr>
          <a:xfrm>
            <a:off x="8610601" y="6375679"/>
            <a:ext cx="2819399" cy="345796"/>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DE9E1AB3-965A-430A-87FF-B66DC268E032}" type="slidenum">
              <a:rPr kumimoji="1" lang="ja-JP" altLang="en-US" smtClean="0"/>
              <a:t>‹#›</a:t>
            </a:fld>
            <a:endParaRPr kumimoji="1" lang="ja-JP" altLang="en-US"/>
          </a:p>
        </p:txBody>
      </p:sp>
      <p:sp>
        <p:nvSpPr>
          <p:cNvPr id="11" name="Freeform 6" title="Left scallop edge"/>
          <p:cNvSpPr/>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txBody>
          <a:bodyPr/>
          <a:lstStyle/>
          <a:p>
            <a:endParaRPr lang="ja-JP" altLang="en-US"/>
          </a:p>
        </p:txBody>
      </p:sp>
      <p:sp>
        <p:nvSpPr>
          <p:cNvPr id="12" name="Rectangle 11" title="right edge border"/>
          <p:cNvSpPr/>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ja-JP" altLang="en-US"/>
          </a:p>
        </p:txBody>
      </p:sp>
    </p:spTree>
    <p:extLst>
      <p:ext uri="{BB962C8B-B14F-4D97-AF65-F5344CB8AC3E}">
        <p14:creationId xmlns:p14="http://schemas.microsoft.com/office/powerpoint/2010/main" val="155855209"/>
      </p:ext>
    </p:extLst>
  </p:cSld>
  <p:clrMap bg1="lt1" tx1="dk1" bg2="lt2" tx2="dk2" accent1="accent1" accent2="accent2" accent3="accent3" accent4="accent4" accent5="accent5" accent6="accent6" hlink="hlink" folHlink="folHlink"/>
  <p:sldLayoutIdLst>
    <p:sldLayoutId id="2147483754" r:id="rId1"/>
    <p:sldLayoutId id="2147483755" r:id="rId2"/>
    <p:sldLayoutId id="2147483756" r:id="rId3"/>
    <p:sldLayoutId id="2147483757" r:id="rId4"/>
    <p:sldLayoutId id="2147483758" r:id="rId5"/>
    <p:sldLayoutId id="2147483759" r:id="rId6"/>
    <p:sldLayoutId id="2147483760" r:id="rId7"/>
    <p:sldLayoutId id="2147483761" r:id="rId8"/>
    <p:sldLayoutId id="2147483762" r:id="rId9"/>
    <p:sldLayoutId id="2147483763" r:id="rId10"/>
    <p:sldLayoutId id="2147483764" r:id="rId11"/>
  </p:sldLayoutIdLst>
  <p:txStyles>
    <p:titleStyle>
      <a:lvl1pPr algn="l" defTabSz="914400" rtl="0" eaLnBrk="1" latinLnBrk="0" hangingPunct="1">
        <a:lnSpc>
          <a:spcPct val="90000"/>
        </a:lnSpc>
        <a:spcBef>
          <a:spcPct val="0"/>
        </a:spcBef>
        <a:buNone/>
        <a:defRPr kumimoji="1" sz="5100" kern="1200" cap="all" spc="200" baseline="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kumimoji="1"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kumimoji="1"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kumimoji="1"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kumimoji="1"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kumimoji="1"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kumimoji="1"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kumimoji="1"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kumimoji="1"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kumimoji="1" sz="1400" kern="1200" baseline="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hyperlink" Target="https://denkiyoho.hepco.co.jp/area_download.html" TargetMode="External"/><Relationship Id="rId2" Type="http://schemas.openxmlformats.org/officeDocument/2006/relationships/hyperlink" Target="https://www.data.jma.go.jp/risk/obsdl/index.php" TargetMode="Externa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1.tmp"/><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2.tmp"/><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3.tmp"/><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4.tmp"/><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02B8067-E815-CCA1-1483-A26E99FF48FB}"/>
              </a:ext>
            </a:extLst>
          </p:cNvPr>
          <p:cNvSpPr>
            <a:spLocks noGrp="1"/>
          </p:cNvSpPr>
          <p:nvPr>
            <p:ph type="ctrTitle"/>
          </p:nvPr>
        </p:nvSpPr>
        <p:spPr/>
        <p:txBody>
          <a:bodyPr/>
          <a:lstStyle/>
          <a:p>
            <a:r>
              <a:rPr lang="ja-JP" altLang="en-US" sz="5400" dirty="0"/>
              <a:t>天気・気温・曜日を用いた電力需要予測</a:t>
            </a:r>
            <a:br>
              <a:rPr lang="ja-JP" altLang="en-US" sz="3200" dirty="0"/>
            </a:br>
            <a:r>
              <a:rPr lang="en-US" altLang="ja-JP" sz="2400" dirty="0"/>
              <a:t>Electricity Demand Forecasting Using Weather, Temperature, and Day of the Week</a:t>
            </a:r>
            <a:endParaRPr kumimoji="1" lang="ja-JP" altLang="en-US" sz="2400" dirty="0"/>
          </a:p>
        </p:txBody>
      </p:sp>
      <p:sp>
        <p:nvSpPr>
          <p:cNvPr id="3" name="字幕 2">
            <a:extLst>
              <a:ext uri="{FF2B5EF4-FFF2-40B4-BE49-F238E27FC236}">
                <a16:creationId xmlns:a16="http://schemas.microsoft.com/office/drawing/2014/main" id="{5626DB75-E774-B8DC-1F5C-0C3B6B6AA30D}"/>
              </a:ext>
            </a:extLst>
          </p:cNvPr>
          <p:cNvSpPr>
            <a:spLocks noGrp="1"/>
          </p:cNvSpPr>
          <p:nvPr>
            <p:ph type="subTitle" idx="1"/>
          </p:nvPr>
        </p:nvSpPr>
        <p:spPr/>
        <p:txBody>
          <a:bodyPr/>
          <a:lstStyle/>
          <a:p>
            <a:r>
              <a:rPr kumimoji="1" lang="en-US" altLang="ja-JP" dirty="0"/>
              <a:t>5E 12 Sugihara </a:t>
            </a:r>
            <a:r>
              <a:rPr kumimoji="1" lang="en-US" altLang="ja-JP" dirty="0" err="1"/>
              <a:t>shinta</a:t>
            </a:r>
            <a:endParaRPr kumimoji="1" lang="ja-JP" altLang="en-US" dirty="0"/>
          </a:p>
        </p:txBody>
      </p:sp>
    </p:spTree>
    <p:extLst>
      <p:ext uri="{BB962C8B-B14F-4D97-AF65-F5344CB8AC3E}">
        <p14:creationId xmlns:p14="http://schemas.microsoft.com/office/powerpoint/2010/main" val="24846858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A33C896-F839-8E45-B9EA-82C6345155CD}"/>
              </a:ext>
            </a:extLst>
          </p:cNvPr>
          <p:cNvSpPr>
            <a:spLocks noGrp="1"/>
          </p:cNvSpPr>
          <p:nvPr>
            <p:ph type="title"/>
          </p:nvPr>
        </p:nvSpPr>
        <p:spPr/>
        <p:txBody>
          <a:bodyPr/>
          <a:lstStyle/>
          <a:p>
            <a:r>
              <a:rPr lang="ja-JP" altLang="en-US" dirty="0"/>
              <a:t>背景</a:t>
            </a:r>
            <a:br>
              <a:rPr lang="en-US" altLang="ja-JP" dirty="0"/>
            </a:br>
            <a:r>
              <a:rPr lang="en-US" altLang="ja-JP" sz="2000" dirty="0"/>
              <a:t>Introduction</a:t>
            </a:r>
            <a:endParaRPr kumimoji="1" lang="ja-JP" altLang="en-US" sz="2000" dirty="0"/>
          </a:p>
        </p:txBody>
      </p:sp>
      <p:sp>
        <p:nvSpPr>
          <p:cNvPr id="3" name="コンテンツ プレースホルダー 2">
            <a:extLst>
              <a:ext uri="{FF2B5EF4-FFF2-40B4-BE49-F238E27FC236}">
                <a16:creationId xmlns:a16="http://schemas.microsoft.com/office/drawing/2014/main" id="{6C41A185-FCF0-1BFC-1386-D9D1C6640BD9}"/>
              </a:ext>
            </a:extLst>
          </p:cNvPr>
          <p:cNvSpPr>
            <a:spLocks noGrp="1"/>
          </p:cNvSpPr>
          <p:nvPr>
            <p:ph idx="1"/>
          </p:nvPr>
        </p:nvSpPr>
        <p:spPr>
          <a:xfrm>
            <a:off x="1251678" y="1769807"/>
            <a:ext cx="10178322" cy="4705808"/>
          </a:xfrm>
        </p:spPr>
        <p:txBody>
          <a:bodyPr>
            <a:normAutofit/>
          </a:bodyPr>
          <a:lstStyle/>
          <a:p>
            <a:r>
              <a:rPr lang="ja-JP" altLang="en-US" sz="2800" dirty="0"/>
              <a:t>その日の気候によって電力の需要は変化する</a:t>
            </a:r>
            <a:endParaRPr lang="en-US" altLang="ja-JP" sz="2800" dirty="0"/>
          </a:p>
          <a:p>
            <a:pPr marL="0" indent="0">
              <a:spcBef>
                <a:spcPts val="600"/>
              </a:spcBef>
              <a:buNone/>
            </a:pPr>
            <a:r>
              <a:rPr lang="ja-JP" altLang="en-US" sz="2800" dirty="0"/>
              <a:t>　</a:t>
            </a:r>
            <a:r>
              <a:rPr lang="en-US" altLang="ja-JP" sz="1700" dirty="0"/>
              <a:t>Electricity demand fluctuates with the weather.</a:t>
            </a:r>
          </a:p>
          <a:p>
            <a:r>
              <a:rPr kumimoji="1" lang="ja-JP" altLang="en-US" sz="2800" dirty="0"/>
              <a:t>北海道は特に気温や天気の影響が大きい</a:t>
            </a:r>
            <a:endParaRPr kumimoji="1" lang="en-US" altLang="ja-JP" sz="2800" dirty="0"/>
          </a:p>
          <a:p>
            <a:pPr marL="0" indent="0">
              <a:buNone/>
            </a:pPr>
            <a:r>
              <a:rPr lang="ja-JP" altLang="en-US" sz="1900" dirty="0"/>
              <a:t>　</a:t>
            </a:r>
            <a:r>
              <a:rPr lang="en-US" altLang="ja-JP" sz="1900" dirty="0"/>
              <a:t>Hokkaido is particularly susceptible to the effects of temperature and weather.</a:t>
            </a:r>
            <a:endParaRPr kumimoji="1" lang="en-US" altLang="ja-JP" sz="1900" dirty="0"/>
          </a:p>
          <a:p>
            <a:pPr marL="0" indent="0">
              <a:lnSpc>
                <a:spcPct val="200000"/>
              </a:lnSpc>
              <a:buNone/>
            </a:pPr>
            <a:endParaRPr kumimoji="1" lang="en-US" altLang="ja-JP" sz="2800" dirty="0"/>
          </a:p>
          <a:p>
            <a:r>
              <a:rPr kumimoji="1" lang="ja-JP" altLang="en-US" sz="2800" dirty="0"/>
              <a:t>需要を事前に予測できれば効率的かつ安定した電力の供給ができるのではないか？</a:t>
            </a:r>
            <a:endParaRPr lang="en-US" altLang="ja-JP" sz="2800" dirty="0"/>
          </a:p>
          <a:p>
            <a:pPr marL="0" indent="0">
              <a:buNone/>
            </a:pPr>
            <a:r>
              <a:rPr lang="ja-JP" altLang="en-US" sz="1600" dirty="0"/>
              <a:t>　</a:t>
            </a:r>
            <a:r>
              <a:rPr lang="en-US" altLang="ja-JP" sz="1600" dirty="0"/>
              <a:t>If we could predict demand in advance, wouldn't that enable efficient and stable power supply?</a:t>
            </a:r>
            <a:endParaRPr kumimoji="1" lang="ja-JP" altLang="en-US" sz="1600" dirty="0"/>
          </a:p>
        </p:txBody>
      </p:sp>
      <p:sp>
        <p:nvSpPr>
          <p:cNvPr id="4" name="矢印: 下 3">
            <a:extLst>
              <a:ext uri="{FF2B5EF4-FFF2-40B4-BE49-F238E27FC236}">
                <a16:creationId xmlns:a16="http://schemas.microsoft.com/office/drawing/2014/main" id="{54223198-842B-BC52-5C72-2230DD321721}"/>
              </a:ext>
            </a:extLst>
          </p:cNvPr>
          <p:cNvSpPr/>
          <p:nvPr/>
        </p:nvSpPr>
        <p:spPr>
          <a:xfrm>
            <a:off x="4240161" y="3736259"/>
            <a:ext cx="3711678" cy="1052050"/>
          </a:xfrm>
          <a:prstGeom prst="down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3600" dirty="0"/>
              <a:t>そこで</a:t>
            </a:r>
          </a:p>
        </p:txBody>
      </p:sp>
      <p:sp>
        <p:nvSpPr>
          <p:cNvPr id="5" name="テキスト ボックス 4">
            <a:extLst>
              <a:ext uri="{FF2B5EF4-FFF2-40B4-BE49-F238E27FC236}">
                <a16:creationId xmlns:a16="http://schemas.microsoft.com/office/drawing/2014/main" id="{B2BD7D6D-7D6A-2DB9-5DAE-ACD264586ADA}"/>
              </a:ext>
            </a:extLst>
          </p:cNvPr>
          <p:cNvSpPr txBox="1"/>
          <p:nvPr/>
        </p:nvSpPr>
        <p:spPr>
          <a:xfrm>
            <a:off x="5532512" y="4262284"/>
            <a:ext cx="1126975" cy="369332"/>
          </a:xfrm>
          <a:prstGeom prst="rect">
            <a:avLst/>
          </a:prstGeom>
          <a:noFill/>
        </p:spPr>
        <p:txBody>
          <a:bodyPr wrap="none" rtlCol="0">
            <a:spAutoFit/>
          </a:bodyPr>
          <a:lstStyle/>
          <a:p>
            <a:r>
              <a:rPr kumimoji="1" lang="en-US" altLang="ja-JP" dirty="0"/>
              <a:t>Therefore</a:t>
            </a:r>
            <a:endParaRPr kumimoji="1" lang="ja-JP" altLang="en-US" dirty="0"/>
          </a:p>
        </p:txBody>
      </p:sp>
    </p:spTree>
    <p:extLst>
      <p:ext uri="{BB962C8B-B14F-4D97-AF65-F5344CB8AC3E}">
        <p14:creationId xmlns:p14="http://schemas.microsoft.com/office/powerpoint/2010/main" val="1075367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ABBE807-37F4-5416-507C-2DDC88CD8B5F}"/>
              </a:ext>
            </a:extLst>
          </p:cNvPr>
          <p:cNvSpPr>
            <a:spLocks noGrp="1"/>
          </p:cNvSpPr>
          <p:nvPr>
            <p:ph type="title"/>
          </p:nvPr>
        </p:nvSpPr>
        <p:spPr/>
        <p:txBody>
          <a:bodyPr>
            <a:normAutofit/>
          </a:bodyPr>
          <a:lstStyle/>
          <a:p>
            <a:r>
              <a:rPr kumimoji="1" lang="ja-JP" altLang="en-US" dirty="0"/>
              <a:t>目標</a:t>
            </a:r>
            <a:br>
              <a:rPr kumimoji="1" lang="en-US" altLang="ja-JP" dirty="0"/>
            </a:br>
            <a:r>
              <a:rPr lang="en-US" altLang="ja-JP" sz="2200" dirty="0"/>
              <a:t>purpose</a:t>
            </a:r>
            <a:br>
              <a:rPr lang="en-US" altLang="ja-JP" sz="2200" dirty="0"/>
            </a:br>
            <a:endParaRPr kumimoji="1" lang="ja-JP" altLang="en-US" sz="2200" dirty="0"/>
          </a:p>
        </p:txBody>
      </p:sp>
      <p:sp>
        <p:nvSpPr>
          <p:cNvPr id="3" name="コンテンツ プレースホルダー 2">
            <a:extLst>
              <a:ext uri="{FF2B5EF4-FFF2-40B4-BE49-F238E27FC236}">
                <a16:creationId xmlns:a16="http://schemas.microsoft.com/office/drawing/2014/main" id="{B479D596-60B7-14BA-87C0-AD0EA8AD6978}"/>
              </a:ext>
            </a:extLst>
          </p:cNvPr>
          <p:cNvSpPr>
            <a:spLocks noGrp="1"/>
          </p:cNvSpPr>
          <p:nvPr>
            <p:ph idx="1"/>
          </p:nvPr>
        </p:nvSpPr>
        <p:spPr>
          <a:xfrm>
            <a:off x="1251678" y="1874517"/>
            <a:ext cx="10178322" cy="4005075"/>
          </a:xfrm>
        </p:spPr>
        <p:txBody>
          <a:bodyPr>
            <a:normAutofit fontScale="92500" lnSpcReduction="20000"/>
          </a:bodyPr>
          <a:lstStyle/>
          <a:p>
            <a:pPr marL="0" indent="0" algn="ctr">
              <a:buNone/>
            </a:pPr>
            <a:r>
              <a:rPr lang="ja-JP" altLang="en-US" sz="3200" dirty="0"/>
              <a:t>天気・気温・曜日から電力需要を予測し，</a:t>
            </a:r>
            <a:endParaRPr lang="en-US" altLang="ja-JP" sz="3200" dirty="0"/>
          </a:p>
          <a:p>
            <a:pPr marL="0" indent="0" algn="ctr">
              <a:buNone/>
            </a:pPr>
            <a:r>
              <a:rPr lang="en-US" altLang="ja-JP" sz="1700" dirty="0"/>
              <a:t>Predict electricity demand based on weather, temperature, and day of the week, </a:t>
            </a:r>
            <a:br>
              <a:rPr lang="ja-JP" altLang="en-US" sz="3200" dirty="0"/>
            </a:br>
            <a:r>
              <a:rPr lang="ja-JP" altLang="en-US" sz="3200" dirty="0"/>
              <a:t>どの要素が需要に影響を与えているかを明らかにする</a:t>
            </a:r>
            <a:endParaRPr lang="en-US" altLang="ja-JP" sz="3200" dirty="0"/>
          </a:p>
          <a:p>
            <a:pPr marL="0" indent="0" algn="ctr">
              <a:buNone/>
            </a:pPr>
            <a:r>
              <a:rPr lang="en-US" altLang="ja-JP" sz="1700" dirty="0"/>
              <a:t>and clarify which factors influence demand.</a:t>
            </a:r>
          </a:p>
          <a:p>
            <a:endParaRPr kumimoji="1" lang="en-US" altLang="ja-JP" sz="3200" dirty="0"/>
          </a:p>
          <a:p>
            <a:endParaRPr lang="en-US" altLang="ja-JP" sz="3200" dirty="0"/>
          </a:p>
          <a:p>
            <a:endParaRPr kumimoji="1" lang="en-US" altLang="ja-JP" sz="3200" dirty="0"/>
          </a:p>
          <a:p>
            <a:pPr marL="0" indent="0" algn="ctr">
              <a:buNone/>
            </a:pPr>
            <a:r>
              <a:rPr lang="ja-JP" altLang="en-US" sz="3200" dirty="0"/>
              <a:t>効率の良い電力供給の手がかりとする</a:t>
            </a:r>
            <a:endParaRPr lang="en-US" altLang="ja-JP" sz="3200" dirty="0"/>
          </a:p>
          <a:p>
            <a:pPr marL="0" indent="0" algn="ctr">
              <a:buNone/>
            </a:pPr>
            <a:r>
              <a:rPr lang="en-US" altLang="ja-JP" sz="1900" dirty="0"/>
              <a:t>As a clue to efficient power supply</a:t>
            </a:r>
            <a:endParaRPr kumimoji="1" lang="ja-JP" altLang="en-US" sz="1900" dirty="0"/>
          </a:p>
        </p:txBody>
      </p:sp>
      <p:sp>
        <p:nvSpPr>
          <p:cNvPr id="4" name="矢印: 下 3">
            <a:extLst>
              <a:ext uri="{FF2B5EF4-FFF2-40B4-BE49-F238E27FC236}">
                <a16:creationId xmlns:a16="http://schemas.microsoft.com/office/drawing/2014/main" id="{9C68C28B-A1CA-55EC-06AF-EC05CA3715A8}"/>
              </a:ext>
            </a:extLst>
          </p:cNvPr>
          <p:cNvSpPr/>
          <p:nvPr/>
        </p:nvSpPr>
        <p:spPr>
          <a:xfrm>
            <a:off x="5962297" y="3500284"/>
            <a:ext cx="757084" cy="101272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6099202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5695423-B060-4DB0-0165-CF3D0F206AFD}"/>
              </a:ext>
            </a:extLst>
          </p:cNvPr>
          <p:cNvSpPr>
            <a:spLocks noGrp="1"/>
          </p:cNvSpPr>
          <p:nvPr>
            <p:ph type="title"/>
          </p:nvPr>
        </p:nvSpPr>
        <p:spPr/>
        <p:txBody>
          <a:bodyPr/>
          <a:lstStyle/>
          <a:p>
            <a:r>
              <a:rPr kumimoji="1" lang="ja-JP" altLang="en-US" dirty="0"/>
              <a:t>使用データ</a:t>
            </a:r>
            <a:br>
              <a:rPr lang="en-US" altLang="ja-JP" dirty="0"/>
            </a:br>
            <a:r>
              <a:rPr lang="en-US" altLang="ja-JP" sz="2000" dirty="0"/>
              <a:t>Usage Data</a:t>
            </a:r>
            <a:endParaRPr kumimoji="1" lang="ja-JP" altLang="en-US" sz="2000" dirty="0"/>
          </a:p>
        </p:txBody>
      </p:sp>
      <p:sp>
        <p:nvSpPr>
          <p:cNvPr id="3" name="コンテンツ プレースホルダー 2">
            <a:extLst>
              <a:ext uri="{FF2B5EF4-FFF2-40B4-BE49-F238E27FC236}">
                <a16:creationId xmlns:a16="http://schemas.microsoft.com/office/drawing/2014/main" id="{031626A9-5117-A9A0-58C4-69F4C308C890}"/>
              </a:ext>
            </a:extLst>
          </p:cNvPr>
          <p:cNvSpPr>
            <a:spLocks noGrp="1"/>
          </p:cNvSpPr>
          <p:nvPr>
            <p:ph idx="1"/>
          </p:nvPr>
        </p:nvSpPr>
        <p:spPr>
          <a:xfrm>
            <a:off x="1251678" y="1563329"/>
            <a:ext cx="10178322" cy="4768646"/>
          </a:xfrm>
        </p:spPr>
        <p:txBody>
          <a:bodyPr>
            <a:normAutofit/>
          </a:bodyPr>
          <a:lstStyle/>
          <a:p>
            <a:r>
              <a:rPr kumimoji="1" lang="ja-JP" altLang="en-US" sz="2800" dirty="0"/>
              <a:t>旭川市の</a:t>
            </a:r>
            <a:r>
              <a:rPr kumimoji="1" lang="en-US" altLang="ja-JP" sz="2800" dirty="0"/>
              <a:t>1</a:t>
            </a:r>
            <a:r>
              <a:rPr kumimoji="1" lang="ja-JP" altLang="en-US" sz="2800" dirty="0"/>
              <a:t>年分の気温データ・天気データ</a:t>
            </a:r>
            <a:endParaRPr kumimoji="1" lang="en-US" altLang="ja-JP" sz="2800" dirty="0"/>
          </a:p>
          <a:p>
            <a:pPr marL="0" indent="0">
              <a:buNone/>
            </a:pPr>
            <a:r>
              <a:rPr lang="ja-JP" altLang="en-US" sz="2800" dirty="0"/>
              <a:t>　</a:t>
            </a:r>
            <a:r>
              <a:rPr lang="en-US" altLang="ja-JP" sz="1700" dirty="0"/>
              <a:t>Annual Temperature and Weather Data for Asahikawa City</a:t>
            </a:r>
            <a:endParaRPr kumimoji="1" lang="en-US" altLang="ja-JP" sz="1700" dirty="0"/>
          </a:p>
          <a:p>
            <a:pPr marL="0" indent="0">
              <a:buNone/>
            </a:pPr>
            <a:r>
              <a:rPr lang="ja-JP" altLang="en-US" sz="2800" dirty="0"/>
              <a:t>　気象庁の公式サイトより抜粋</a:t>
            </a:r>
            <a:endParaRPr lang="en-US" altLang="ja-JP" sz="2800" dirty="0"/>
          </a:p>
          <a:p>
            <a:pPr marL="0" indent="0">
              <a:buNone/>
            </a:pPr>
            <a:r>
              <a:rPr lang="ja-JP" altLang="en-US" sz="2800" dirty="0"/>
              <a:t>　</a:t>
            </a:r>
            <a:r>
              <a:rPr lang="en-US" altLang="ja-JP" sz="2800" dirty="0"/>
              <a:t> </a:t>
            </a:r>
            <a:r>
              <a:rPr lang="en-US" altLang="ja-JP" sz="1700" dirty="0"/>
              <a:t>Excerpt from the official website of Asahikawa City</a:t>
            </a:r>
          </a:p>
          <a:p>
            <a:pPr marL="0" indent="0">
              <a:buNone/>
            </a:pPr>
            <a:r>
              <a:rPr lang="ja-JP" altLang="en-US" sz="1600" dirty="0"/>
              <a:t>　　</a:t>
            </a:r>
            <a:r>
              <a:rPr lang="en-US" altLang="ja-JP" sz="1600" dirty="0">
                <a:hlinkClick r:id="rId2"/>
              </a:rPr>
              <a:t>https://www.data.jma.go.jp/risk/obsdl/index.php</a:t>
            </a:r>
            <a:endParaRPr lang="en-US" altLang="ja-JP" sz="1600" dirty="0"/>
          </a:p>
          <a:p>
            <a:r>
              <a:rPr lang="ja-JP" altLang="en-US" sz="2800" dirty="0"/>
              <a:t>北海道の</a:t>
            </a:r>
            <a:r>
              <a:rPr lang="en-US" altLang="ja-JP" sz="2800" dirty="0"/>
              <a:t>1</a:t>
            </a:r>
            <a:r>
              <a:rPr lang="ja-JP" altLang="en-US" sz="2800" dirty="0"/>
              <a:t>年分の電力需要</a:t>
            </a:r>
            <a:endParaRPr lang="en-US" altLang="ja-JP" sz="2800" dirty="0"/>
          </a:p>
          <a:p>
            <a:pPr marL="0" indent="0">
              <a:buNone/>
            </a:pPr>
            <a:r>
              <a:rPr lang="ja-JP" altLang="en-US" sz="1600" dirty="0"/>
              <a:t>　　</a:t>
            </a:r>
            <a:r>
              <a:rPr lang="en-US" altLang="ja-JP" sz="1600" dirty="0"/>
              <a:t>Hokkaido's annual electricity demand</a:t>
            </a:r>
          </a:p>
          <a:p>
            <a:pPr marL="0" indent="0">
              <a:buNone/>
            </a:pPr>
            <a:r>
              <a:rPr lang="ja-JP" altLang="en-US" sz="2400" dirty="0"/>
              <a:t>　</a:t>
            </a:r>
            <a:r>
              <a:rPr lang="ja-JP" altLang="en-US" sz="2800" dirty="0"/>
              <a:t>ほくでん公式サイトより抜粋</a:t>
            </a:r>
            <a:endParaRPr lang="en-US" altLang="ja-JP" sz="2800" dirty="0"/>
          </a:p>
          <a:p>
            <a:pPr marL="0" indent="0">
              <a:buNone/>
            </a:pPr>
            <a:r>
              <a:rPr lang="ja-JP" altLang="en-US" sz="1400" dirty="0"/>
              <a:t>　</a:t>
            </a:r>
            <a:r>
              <a:rPr lang="ja-JP" altLang="en-US" sz="1600" dirty="0"/>
              <a:t>　</a:t>
            </a:r>
            <a:r>
              <a:rPr lang="en-US" altLang="ja-JP" sz="1600" dirty="0"/>
              <a:t>Excerpt from the Hokuden official website</a:t>
            </a:r>
          </a:p>
          <a:p>
            <a:pPr marL="0" indent="0">
              <a:buNone/>
            </a:pPr>
            <a:r>
              <a:rPr lang="ja-JP" altLang="en-US" sz="1400" dirty="0"/>
              <a:t>　　</a:t>
            </a:r>
            <a:r>
              <a:rPr lang="en-US" altLang="ja-JP" sz="1400" dirty="0">
                <a:hlinkClick r:id="rId3"/>
              </a:rPr>
              <a:t>https://denkiyoho.hepco.co.jp/area_download.html</a:t>
            </a:r>
            <a:endParaRPr lang="en-US" altLang="ja-JP" sz="1400" dirty="0"/>
          </a:p>
          <a:p>
            <a:pPr marL="0" indent="0">
              <a:buNone/>
            </a:pPr>
            <a:endParaRPr lang="en-US" altLang="ja-JP" sz="1600" dirty="0"/>
          </a:p>
          <a:p>
            <a:pPr marL="0" indent="0">
              <a:buNone/>
            </a:pPr>
            <a:endParaRPr lang="en-US" altLang="ja-JP" sz="1600" dirty="0"/>
          </a:p>
        </p:txBody>
      </p:sp>
    </p:spTree>
    <p:extLst>
      <p:ext uri="{BB962C8B-B14F-4D97-AF65-F5344CB8AC3E}">
        <p14:creationId xmlns:p14="http://schemas.microsoft.com/office/powerpoint/2010/main" val="32828862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A24FA39-BE87-3739-EF33-14A65303952F}"/>
              </a:ext>
            </a:extLst>
          </p:cNvPr>
          <p:cNvSpPr>
            <a:spLocks noGrp="1"/>
          </p:cNvSpPr>
          <p:nvPr>
            <p:ph type="title"/>
          </p:nvPr>
        </p:nvSpPr>
        <p:spPr/>
        <p:txBody>
          <a:bodyPr/>
          <a:lstStyle/>
          <a:p>
            <a:r>
              <a:rPr kumimoji="1" lang="ja-JP" altLang="en-US" dirty="0"/>
              <a:t>前処理</a:t>
            </a:r>
            <a:br>
              <a:rPr lang="en-US" altLang="ja-JP" dirty="0"/>
            </a:br>
            <a:r>
              <a:rPr lang="en-US" altLang="ja-JP" sz="2000" dirty="0"/>
              <a:t>Preprocess</a:t>
            </a:r>
            <a:endParaRPr kumimoji="1" lang="ja-JP" altLang="en-US" sz="2000" dirty="0"/>
          </a:p>
        </p:txBody>
      </p:sp>
      <p:sp>
        <p:nvSpPr>
          <p:cNvPr id="3" name="コンテンツ プレースホルダー 2">
            <a:extLst>
              <a:ext uri="{FF2B5EF4-FFF2-40B4-BE49-F238E27FC236}">
                <a16:creationId xmlns:a16="http://schemas.microsoft.com/office/drawing/2014/main" id="{1322C80C-B714-2587-A926-E8959668A0B1}"/>
              </a:ext>
            </a:extLst>
          </p:cNvPr>
          <p:cNvSpPr>
            <a:spLocks noGrp="1"/>
          </p:cNvSpPr>
          <p:nvPr>
            <p:ph idx="1"/>
          </p:nvPr>
        </p:nvSpPr>
        <p:spPr>
          <a:xfrm>
            <a:off x="1251678" y="1632205"/>
            <a:ext cx="10178322" cy="4473628"/>
          </a:xfrm>
        </p:spPr>
        <p:txBody>
          <a:bodyPr>
            <a:normAutofit lnSpcReduction="10000"/>
          </a:bodyPr>
          <a:lstStyle/>
          <a:p>
            <a:r>
              <a:rPr kumimoji="1" lang="ja-JP" altLang="en-US" sz="2800" dirty="0"/>
              <a:t>電力量データから最大消費電力量を抽出</a:t>
            </a:r>
            <a:endParaRPr kumimoji="1" lang="en-US" altLang="ja-JP" sz="2800" dirty="0"/>
          </a:p>
          <a:p>
            <a:pPr marL="0" indent="0">
              <a:buNone/>
            </a:pPr>
            <a:r>
              <a:rPr lang="ja-JP" altLang="en-US" sz="1600" dirty="0"/>
              <a:t>　</a:t>
            </a:r>
            <a:r>
              <a:rPr lang="en-US" altLang="ja-JP" sz="1600" dirty="0"/>
              <a:t>Extract maximum power consumption from electricity usage data</a:t>
            </a:r>
            <a:endParaRPr kumimoji="1" lang="en-US" altLang="ja-JP" sz="1600" dirty="0"/>
          </a:p>
          <a:p>
            <a:r>
              <a:rPr kumimoji="1" lang="ja-JP" altLang="en-US" sz="2800" dirty="0"/>
              <a:t>天気を簡易カテゴリ化</a:t>
            </a:r>
            <a:endParaRPr kumimoji="1" lang="en-US" altLang="ja-JP" sz="2800" dirty="0"/>
          </a:p>
          <a:p>
            <a:pPr marL="0" indent="0">
              <a:buNone/>
            </a:pPr>
            <a:r>
              <a:rPr lang="ja-JP" altLang="en-US" sz="1700" dirty="0"/>
              <a:t>　</a:t>
            </a:r>
            <a:r>
              <a:rPr lang="en-US" altLang="ja-JP" sz="1700" dirty="0"/>
              <a:t>Weather Simplified Categorization</a:t>
            </a:r>
            <a:endParaRPr kumimoji="1" lang="en-US" altLang="ja-JP" sz="1700" dirty="0"/>
          </a:p>
          <a:p>
            <a:pPr marL="0" indent="0">
              <a:buNone/>
            </a:pPr>
            <a:r>
              <a:rPr lang="ja-JP" altLang="en-US" sz="2800" dirty="0"/>
              <a:t>　データ内の「晴」「雨」「雪」の文字を検知しラベリング</a:t>
            </a:r>
            <a:endParaRPr lang="en-US" altLang="ja-JP" sz="2800" dirty="0"/>
          </a:p>
          <a:p>
            <a:pPr marL="0" indent="0">
              <a:buNone/>
            </a:pPr>
            <a:r>
              <a:rPr lang="ja-JP" altLang="en-US" sz="1600" dirty="0"/>
              <a:t>　　</a:t>
            </a:r>
            <a:r>
              <a:rPr lang="en-US" altLang="ja-JP" sz="1600" dirty="0"/>
              <a:t>Detect and label the characters “sunny,” “rain,” and “snow” within the data</a:t>
            </a:r>
          </a:p>
          <a:p>
            <a:pPr marL="0" indent="0">
              <a:buNone/>
            </a:pPr>
            <a:r>
              <a:rPr kumimoji="1" lang="ja-JP" altLang="en-US" sz="2800" dirty="0"/>
              <a:t>　検知されなかった場合は曇りと判定する</a:t>
            </a:r>
            <a:endParaRPr kumimoji="1" lang="en-US" altLang="ja-JP" sz="2800" dirty="0"/>
          </a:p>
          <a:p>
            <a:pPr marL="0" indent="0">
              <a:buNone/>
            </a:pPr>
            <a:r>
              <a:rPr lang="ja-JP" altLang="en-US" sz="2800" dirty="0"/>
              <a:t>　</a:t>
            </a:r>
            <a:r>
              <a:rPr lang="en-US" altLang="ja-JP" sz="1600" dirty="0"/>
              <a:t>If not detected, it is considered cloudy</a:t>
            </a:r>
            <a:endParaRPr kumimoji="1" lang="en-US" altLang="ja-JP" sz="1600" dirty="0"/>
          </a:p>
          <a:p>
            <a:r>
              <a:rPr lang="ja-JP" altLang="en-US" sz="2800" dirty="0"/>
              <a:t>天気データと電力データを同一</a:t>
            </a:r>
            <a:r>
              <a:rPr lang="en-US" altLang="ja-JP" sz="2800" dirty="0"/>
              <a:t>CSV</a:t>
            </a:r>
            <a:r>
              <a:rPr lang="ja-JP" altLang="en-US" sz="2800" dirty="0"/>
              <a:t>に統合</a:t>
            </a:r>
            <a:endParaRPr lang="en-US" altLang="ja-JP" sz="2800" dirty="0"/>
          </a:p>
          <a:p>
            <a:pPr marL="0" indent="0">
              <a:buNone/>
            </a:pPr>
            <a:r>
              <a:rPr lang="ja-JP" altLang="en-US" sz="1700" dirty="0"/>
              <a:t>　</a:t>
            </a:r>
            <a:r>
              <a:rPr lang="en-US" altLang="ja-JP" sz="1700" dirty="0"/>
              <a:t>Integrate weather data and power data into the same CSV file</a:t>
            </a:r>
          </a:p>
        </p:txBody>
      </p:sp>
    </p:spTree>
    <p:extLst>
      <p:ext uri="{BB962C8B-B14F-4D97-AF65-F5344CB8AC3E}">
        <p14:creationId xmlns:p14="http://schemas.microsoft.com/office/powerpoint/2010/main" val="932145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E9136B8-2E9B-337E-66F1-FA7C3F91F2AD}"/>
              </a:ext>
            </a:extLst>
          </p:cNvPr>
          <p:cNvSpPr>
            <a:spLocks noGrp="1"/>
          </p:cNvSpPr>
          <p:nvPr>
            <p:ph type="title"/>
          </p:nvPr>
        </p:nvSpPr>
        <p:spPr/>
        <p:txBody>
          <a:bodyPr/>
          <a:lstStyle/>
          <a:p>
            <a:r>
              <a:rPr kumimoji="1" lang="ja-JP" altLang="en-US" dirty="0"/>
              <a:t>使用した</a:t>
            </a:r>
            <a:r>
              <a:rPr kumimoji="1" lang="en-US" altLang="ja-JP" dirty="0"/>
              <a:t>CSV</a:t>
            </a:r>
            <a:r>
              <a:rPr kumimoji="1" lang="ja-JP" altLang="en-US" dirty="0"/>
              <a:t>ファイル</a:t>
            </a:r>
            <a:br>
              <a:rPr lang="en-US" altLang="ja-JP" dirty="0"/>
            </a:br>
            <a:r>
              <a:rPr lang="en-US" altLang="ja-JP" sz="2000" dirty="0"/>
              <a:t>CSV file used</a:t>
            </a:r>
            <a:endParaRPr kumimoji="1" lang="ja-JP" altLang="en-US" sz="2000" dirty="0"/>
          </a:p>
        </p:txBody>
      </p:sp>
      <p:pic>
        <p:nvPicPr>
          <p:cNvPr id="5" name="コンテンツ プレースホルダー 4" descr="グラフィカル ユーザー インターフェイス, アプリケーション, テーブル, Excel&#10;&#10;AI 生成コンテンツは誤りを含む可能性があります。">
            <a:extLst>
              <a:ext uri="{FF2B5EF4-FFF2-40B4-BE49-F238E27FC236}">
                <a16:creationId xmlns:a16="http://schemas.microsoft.com/office/drawing/2014/main" id="{A21A953E-AAEE-25BA-D362-98D3BA4A2221}"/>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1548" t="29408" r="39669" b="6030"/>
          <a:stretch>
            <a:fillRect/>
          </a:stretch>
        </p:blipFill>
        <p:spPr>
          <a:xfrm>
            <a:off x="2212259" y="1523999"/>
            <a:ext cx="8243682" cy="5092955"/>
          </a:xfrm>
        </p:spPr>
      </p:pic>
    </p:spTree>
    <p:extLst>
      <p:ext uri="{BB962C8B-B14F-4D97-AF65-F5344CB8AC3E}">
        <p14:creationId xmlns:p14="http://schemas.microsoft.com/office/powerpoint/2010/main" val="8773808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6FB7D5D-A01B-E703-DC21-C4D99FF1BC77}"/>
              </a:ext>
            </a:extLst>
          </p:cNvPr>
          <p:cNvSpPr>
            <a:spLocks noGrp="1"/>
          </p:cNvSpPr>
          <p:nvPr>
            <p:ph type="title"/>
          </p:nvPr>
        </p:nvSpPr>
        <p:spPr/>
        <p:txBody>
          <a:bodyPr>
            <a:normAutofit/>
          </a:bodyPr>
          <a:lstStyle/>
          <a:p>
            <a:r>
              <a:rPr lang="ja-JP" altLang="en-US" dirty="0"/>
              <a:t>使用した機械学習技術</a:t>
            </a:r>
            <a:br>
              <a:rPr lang="en-US" altLang="ja-JP" dirty="0"/>
            </a:br>
            <a:r>
              <a:rPr lang="en-US" altLang="ja-JP" sz="2200" dirty="0"/>
              <a:t>Machine Learning Techniques Used</a:t>
            </a:r>
            <a:endParaRPr kumimoji="1" lang="ja-JP" altLang="en-US" sz="2200" dirty="0"/>
          </a:p>
        </p:txBody>
      </p:sp>
      <p:sp>
        <p:nvSpPr>
          <p:cNvPr id="3" name="コンテンツ プレースホルダー 2">
            <a:extLst>
              <a:ext uri="{FF2B5EF4-FFF2-40B4-BE49-F238E27FC236}">
                <a16:creationId xmlns:a16="http://schemas.microsoft.com/office/drawing/2014/main" id="{B496BD68-1D48-5258-D14A-D7F097C294E0}"/>
              </a:ext>
            </a:extLst>
          </p:cNvPr>
          <p:cNvSpPr>
            <a:spLocks noGrp="1"/>
          </p:cNvSpPr>
          <p:nvPr>
            <p:ph idx="1"/>
          </p:nvPr>
        </p:nvSpPr>
        <p:spPr/>
        <p:txBody>
          <a:bodyPr/>
          <a:lstStyle/>
          <a:p>
            <a:r>
              <a:rPr lang="ja-JP" altLang="en-US" sz="2800" dirty="0"/>
              <a:t>重回帰分析</a:t>
            </a:r>
            <a:endParaRPr lang="en-US" altLang="ja-JP" sz="2800" dirty="0"/>
          </a:p>
          <a:p>
            <a:pPr marL="0" indent="0">
              <a:buNone/>
            </a:pPr>
            <a:r>
              <a:rPr lang="ja-JP" altLang="en-US" sz="1600" dirty="0"/>
              <a:t>　</a:t>
            </a:r>
            <a:r>
              <a:rPr lang="en-US" altLang="ja-JP" sz="1600" dirty="0"/>
              <a:t>Linear Regression</a:t>
            </a:r>
          </a:p>
          <a:p>
            <a:r>
              <a:rPr lang="ja-JP" altLang="en-US" sz="2800" dirty="0"/>
              <a:t>ランダムフォレスト</a:t>
            </a:r>
            <a:endParaRPr lang="en-US" altLang="ja-JP" sz="2800" dirty="0"/>
          </a:p>
          <a:p>
            <a:pPr marL="0" indent="0">
              <a:buNone/>
            </a:pPr>
            <a:r>
              <a:rPr lang="ja-JP" altLang="en-US" sz="1600" dirty="0"/>
              <a:t>　</a:t>
            </a:r>
            <a:r>
              <a:rPr lang="en-US" altLang="ja-JP" sz="1600" dirty="0"/>
              <a:t>Random Forest</a:t>
            </a:r>
          </a:p>
          <a:p>
            <a:endParaRPr kumimoji="1" lang="ja-JP" altLang="en-US" dirty="0"/>
          </a:p>
        </p:txBody>
      </p:sp>
    </p:spTree>
    <p:extLst>
      <p:ext uri="{BB962C8B-B14F-4D97-AF65-F5344CB8AC3E}">
        <p14:creationId xmlns:p14="http://schemas.microsoft.com/office/powerpoint/2010/main" val="33937443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890DB75-E213-7E3F-536A-90E84CD0C3D2}"/>
              </a:ext>
            </a:extLst>
          </p:cNvPr>
          <p:cNvSpPr>
            <a:spLocks noGrp="1"/>
          </p:cNvSpPr>
          <p:nvPr>
            <p:ph type="title"/>
          </p:nvPr>
        </p:nvSpPr>
        <p:spPr>
          <a:xfrm>
            <a:off x="1251678" y="382385"/>
            <a:ext cx="10178322" cy="1492132"/>
          </a:xfrm>
        </p:spPr>
        <p:txBody>
          <a:bodyPr>
            <a:normAutofit/>
          </a:bodyPr>
          <a:lstStyle/>
          <a:p>
            <a:r>
              <a:rPr lang="ja-JP" altLang="en-US" dirty="0"/>
              <a:t>電力需要と気温の関係</a:t>
            </a:r>
            <a:br>
              <a:rPr lang="en-US" altLang="ja-JP" dirty="0"/>
            </a:br>
            <a:r>
              <a:rPr lang="en-US" altLang="ja-JP" sz="2200" dirty="0"/>
              <a:t>Relationship Between Electricity Demand and Temperature</a:t>
            </a:r>
            <a:endParaRPr lang="ja-JP" altLang="en-US" sz="2200" dirty="0"/>
          </a:p>
        </p:txBody>
      </p:sp>
      <p:sp>
        <p:nvSpPr>
          <p:cNvPr id="3" name="コンテンツ プレースホルダー 2">
            <a:extLst>
              <a:ext uri="{FF2B5EF4-FFF2-40B4-BE49-F238E27FC236}">
                <a16:creationId xmlns:a16="http://schemas.microsoft.com/office/drawing/2014/main" id="{ED37A404-83D8-2CAC-DBF4-F76D27552481}"/>
              </a:ext>
            </a:extLst>
          </p:cNvPr>
          <p:cNvSpPr>
            <a:spLocks noGrp="1"/>
          </p:cNvSpPr>
          <p:nvPr>
            <p:ph idx="1"/>
          </p:nvPr>
        </p:nvSpPr>
        <p:spPr>
          <a:xfrm>
            <a:off x="1103467" y="4834653"/>
            <a:ext cx="10179050" cy="3594100"/>
          </a:xfrm>
        </p:spPr>
        <p:txBody>
          <a:bodyPr>
            <a:normAutofit/>
          </a:bodyPr>
          <a:lstStyle/>
          <a:p>
            <a:r>
              <a:rPr lang="ja-JP" altLang="en-US" sz="2800" dirty="0">
                <a:solidFill>
                  <a:srgbClr val="FF0000"/>
                </a:solidFill>
              </a:rPr>
              <a:t>赤</a:t>
            </a:r>
            <a:r>
              <a:rPr lang="ja-JP" altLang="en-US" sz="2800" dirty="0"/>
              <a:t>：電力需要</a:t>
            </a:r>
            <a:r>
              <a:rPr lang="ja-JP" altLang="en-US" sz="2800" dirty="0">
                <a:solidFill>
                  <a:srgbClr val="FF0000"/>
                </a:solidFill>
              </a:rPr>
              <a:t>　</a:t>
            </a:r>
            <a:r>
              <a:rPr lang="en-US" altLang="ja-JP" sz="1600" dirty="0">
                <a:solidFill>
                  <a:srgbClr val="FF0000"/>
                </a:solidFill>
              </a:rPr>
              <a:t>Red</a:t>
            </a:r>
            <a:r>
              <a:rPr lang="en-US" altLang="ja-JP" sz="1600" dirty="0"/>
              <a:t>: Electricity demand</a:t>
            </a:r>
          </a:p>
          <a:p>
            <a:r>
              <a:rPr lang="ja-JP" altLang="en-US" sz="2800" dirty="0">
                <a:solidFill>
                  <a:srgbClr val="0070C0"/>
                </a:solidFill>
              </a:rPr>
              <a:t>青</a:t>
            </a:r>
            <a:r>
              <a:rPr lang="ja-JP" altLang="en-US" sz="2800" dirty="0"/>
              <a:t>：気温　</a:t>
            </a:r>
            <a:r>
              <a:rPr lang="en-US" altLang="ja-JP" sz="1600" dirty="0">
                <a:solidFill>
                  <a:srgbClr val="0070C0"/>
                </a:solidFill>
              </a:rPr>
              <a:t>Blue</a:t>
            </a:r>
            <a:r>
              <a:rPr lang="en-US" altLang="ja-JP" sz="1600" dirty="0"/>
              <a:t>: Temperature</a:t>
            </a:r>
          </a:p>
          <a:p>
            <a:r>
              <a:rPr lang="ja-JP" altLang="en-US" sz="2800" dirty="0"/>
              <a:t>気温が下がると電力需要が増している</a:t>
            </a:r>
            <a:endParaRPr lang="en-US" altLang="ja-JP" sz="2800" dirty="0"/>
          </a:p>
          <a:p>
            <a:pPr marL="0" indent="0">
              <a:buNone/>
            </a:pPr>
            <a:r>
              <a:rPr lang="ja-JP" altLang="en-US" sz="1600" dirty="0"/>
              <a:t>　</a:t>
            </a:r>
            <a:r>
              <a:rPr lang="en-US" altLang="ja-JP" sz="1600" dirty="0"/>
              <a:t>Electricity demand increases as temperatures drop.</a:t>
            </a:r>
            <a:endParaRPr lang="ja-JP" altLang="en-US" sz="1600" dirty="0"/>
          </a:p>
        </p:txBody>
      </p:sp>
      <p:pic>
        <p:nvPicPr>
          <p:cNvPr id="9" name="図 8" descr="グラフィカル ユーザー インターフェイス, グラフ&#10;&#10;AI 生成コンテンツは誤りを含む可能性があります。">
            <a:extLst>
              <a:ext uri="{FF2B5EF4-FFF2-40B4-BE49-F238E27FC236}">
                <a16:creationId xmlns:a16="http://schemas.microsoft.com/office/drawing/2014/main" id="{248D519A-2C97-5298-C9C9-E6FBD2AF3531}"/>
              </a:ext>
            </a:extLst>
          </p:cNvPr>
          <p:cNvPicPr>
            <a:picLocks noChangeAspect="1"/>
          </p:cNvPicPr>
          <p:nvPr/>
        </p:nvPicPr>
        <p:blipFill>
          <a:blip r:embed="rId2">
            <a:extLst>
              <a:ext uri="{28A0092B-C50C-407E-A947-70E740481C1C}">
                <a14:useLocalDpi xmlns:a14="http://schemas.microsoft.com/office/drawing/2010/main" val="0"/>
              </a:ext>
            </a:extLst>
          </a:blip>
          <a:srcRect l="24107" t="26082" r="18839" b="23474"/>
          <a:stretch>
            <a:fillRect/>
          </a:stretch>
        </p:blipFill>
        <p:spPr>
          <a:xfrm>
            <a:off x="2757755" y="1514168"/>
            <a:ext cx="6676489" cy="3320485"/>
          </a:xfrm>
          <a:prstGeom prst="rect">
            <a:avLst/>
          </a:prstGeom>
        </p:spPr>
      </p:pic>
    </p:spTree>
    <p:extLst>
      <p:ext uri="{BB962C8B-B14F-4D97-AF65-F5344CB8AC3E}">
        <p14:creationId xmlns:p14="http://schemas.microsoft.com/office/powerpoint/2010/main" val="20995947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B0BB409-1682-4BD5-F5BB-AEDB317CFC77}"/>
              </a:ext>
            </a:extLst>
          </p:cNvPr>
          <p:cNvSpPr>
            <a:spLocks noGrp="1"/>
          </p:cNvSpPr>
          <p:nvPr>
            <p:ph type="title"/>
          </p:nvPr>
        </p:nvSpPr>
        <p:spPr/>
        <p:txBody>
          <a:bodyPr/>
          <a:lstStyle/>
          <a:p>
            <a:r>
              <a:rPr lang="ja-JP" altLang="en-US" dirty="0"/>
              <a:t>天気別の散布図</a:t>
            </a:r>
            <a:br>
              <a:rPr lang="en-US" altLang="ja-JP" dirty="0"/>
            </a:br>
            <a:r>
              <a:rPr lang="en-US" altLang="ja-JP" sz="2000" dirty="0"/>
              <a:t>Scatter Plot by Weather</a:t>
            </a:r>
            <a:endParaRPr kumimoji="1" lang="ja-JP" altLang="en-US" sz="2000" dirty="0"/>
          </a:p>
        </p:txBody>
      </p:sp>
      <p:sp>
        <p:nvSpPr>
          <p:cNvPr id="3" name="コンテンツ プレースホルダー 2">
            <a:extLst>
              <a:ext uri="{FF2B5EF4-FFF2-40B4-BE49-F238E27FC236}">
                <a16:creationId xmlns:a16="http://schemas.microsoft.com/office/drawing/2014/main" id="{27B2B6E9-8857-D30C-AB6A-EED084B9735E}"/>
              </a:ext>
            </a:extLst>
          </p:cNvPr>
          <p:cNvSpPr>
            <a:spLocks noGrp="1"/>
          </p:cNvSpPr>
          <p:nvPr>
            <p:ph idx="1"/>
          </p:nvPr>
        </p:nvSpPr>
        <p:spPr>
          <a:xfrm>
            <a:off x="1251678" y="4242621"/>
            <a:ext cx="10178322" cy="3593591"/>
          </a:xfrm>
        </p:spPr>
        <p:txBody>
          <a:bodyPr/>
          <a:lstStyle/>
          <a:p>
            <a:r>
              <a:rPr kumimoji="1" lang="ja-JP" altLang="en-US" sz="2800" dirty="0">
                <a:solidFill>
                  <a:srgbClr val="0070C0"/>
                </a:solidFill>
              </a:rPr>
              <a:t>青</a:t>
            </a:r>
            <a:r>
              <a:rPr kumimoji="1" lang="ja-JP" altLang="en-US" sz="2800" dirty="0"/>
              <a:t>：雪　</a:t>
            </a:r>
            <a:r>
              <a:rPr kumimoji="1" lang="ja-JP" altLang="en-US" sz="2800" dirty="0">
                <a:solidFill>
                  <a:srgbClr val="FFFF00"/>
                </a:solidFill>
                <a:highlight>
                  <a:srgbClr val="000000"/>
                </a:highlight>
              </a:rPr>
              <a:t>黄</a:t>
            </a:r>
            <a:r>
              <a:rPr kumimoji="1" lang="ja-JP" altLang="en-US" sz="2800" dirty="0"/>
              <a:t>：晴れ　</a:t>
            </a:r>
            <a:r>
              <a:rPr lang="en-US" altLang="ja-JP" sz="1600" dirty="0">
                <a:solidFill>
                  <a:srgbClr val="0070C0"/>
                </a:solidFill>
              </a:rPr>
              <a:t>Blue:</a:t>
            </a:r>
            <a:r>
              <a:rPr lang="en-US" altLang="ja-JP" sz="1600" dirty="0"/>
              <a:t> Snow</a:t>
            </a:r>
            <a:r>
              <a:rPr lang="ja-JP" altLang="en-US" sz="1600" dirty="0"/>
              <a:t>　</a:t>
            </a:r>
            <a:r>
              <a:rPr lang="en-US" altLang="ja-JP" sz="1600" dirty="0">
                <a:solidFill>
                  <a:srgbClr val="FFFF00"/>
                </a:solidFill>
                <a:highlight>
                  <a:srgbClr val="000000"/>
                </a:highlight>
              </a:rPr>
              <a:t>Yellow</a:t>
            </a:r>
            <a:r>
              <a:rPr lang="en-US" altLang="ja-JP" sz="1600" dirty="0">
                <a:solidFill>
                  <a:schemeClr val="tx1"/>
                </a:solidFill>
                <a:highlight>
                  <a:srgbClr val="000000"/>
                </a:highlight>
              </a:rPr>
              <a:t>:</a:t>
            </a:r>
            <a:r>
              <a:rPr lang="en-US" altLang="ja-JP" sz="1600" dirty="0"/>
              <a:t> Sunny</a:t>
            </a:r>
            <a:endParaRPr kumimoji="1" lang="en-US" altLang="ja-JP" sz="1600" dirty="0"/>
          </a:p>
          <a:p>
            <a:r>
              <a:rPr lang="ja-JP" altLang="en-US" sz="2800" dirty="0">
                <a:solidFill>
                  <a:srgbClr val="00B050"/>
                </a:solidFill>
              </a:rPr>
              <a:t>緑</a:t>
            </a:r>
            <a:r>
              <a:rPr lang="ja-JP" altLang="en-US" sz="2800" dirty="0"/>
              <a:t>：雨　</a:t>
            </a:r>
            <a:r>
              <a:rPr lang="ja-JP" altLang="en-US" sz="2800" dirty="0">
                <a:solidFill>
                  <a:srgbClr val="FF0000"/>
                </a:solidFill>
              </a:rPr>
              <a:t>赤</a:t>
            </a:r>
            <a:r>
              <a:rPr lang="ja-JP" altLang="en-US" sz="2800" dirty="0"/>
              <a:t>：曇り　</a:t>
            </a:r>
            <a:r>
              <a:rPr lang="en-US" altLang="ja-JP" sz="1600" dirty="0">
                <a:solidFill>
                  <a:srgbClr val="00B050"/>
                </a:solidFill>
              </a:rPr>
              <a:t>Green</a:t>
            </a:r>
            <a:r>
              <a:rPr lang="en-US" altLang="ja-JP" sz="1600" dirty="0"/>
              <a:t>: Rain</a:t>
            </a:r>
            <a:r>
              <a:rPr lang="ja-JP" altLang="en-US" sz="1600" dirty="0"/>
              <a:t>　</a:t>
            </a:r>
            <a:r>
              <a:rPr lang="en-US" altLang="ja-JP" sz="1600" dirty="0">
                <a:solidFill>
                  <a:srgbClr val="FF0000"/>
                </a:solidFill>
              </a:rPr>
              <a:t>Red</a:t>
            </a:r>
            <a:r>
              <a:rPr lang="en-US" altLang="ja-JP" sz="1600" dirty="0"/>
              <a:t>: Cloudy</a:t>
            </a:r>
          </a:p>
          <a:p>
            <a:r>
              <a:rPr kumimoji="1" lang="ja-JP" altLang="en-US" sz="2800" dirty="0"/>
              <a:t>同じ気温でも雪の日のほうが消費電力が多い</a:t>
            </a:r>
            <a:endParaRPr kumimoji="1" lang="en-US" altLang="ja-JP" sz="2800" dirty="0"/>
          </a:p>
          <a:p>
            <a:r>
              <a:rPr lang="en-US" altLang="ja-JP" sz="1600" dirty="0"/>
              <a:t>Even at the same temperature, snowy days consume more electricity.</a:t>
            </a:r>
          </a:p>
          <a:p>
            <a:r>
              <a:rPr lang="ja-JP" altLang="en-US" sz="2800" dirty="0"/>
              <a:t>気温が高い日は晴れのほうが消費電力が多い</a:t>
            </a:r>
            <a:endParaRPr lang="en-US" altLang="ja-JP" sz="2800" dirty="0"/>
          </a:p>
          <a:p>
            <a:r>
              <a:rPr lang="en-US" altLang="ja-JP" sz="1600" dirty="0"/>
              <a:t>On warmer days, sunny weather consumes more electricity.</a:t>
            </a:r>
            <a:endParaRPr kumimoji="1" lang="ja-JP" altLang="en-US" sz="1600" dirty="0"/>
          </a:p>
        </p:txBody>
      </p:sp>
      <p:pic>
        <p:nvPicPr>
          <p:cNvPr id="5" name="図 4" descr="グラフ, 散布図&#10;&#10;AI 生成コンテンツは誤りを含む可能性があります。">
            <a:extLst>
              <a:ext uri="{FF2B5EF4-FFF2-40B4-BE49-F238E27FC236}">
                <a16:creationId xmlns:a16="http://schemas.microsoft.com/office/drawing/2014/main" id="{41187DC0-DDC5-0561-5728-BAD29AB96F52}"/>
              </a:ext>
            </a:extLst>
          </p:cNvPr>
          <p:cNvPicPr>
            <a:picLocks noChangeAspect="1"/>
          </p:cNvPicPr>
          <p:nvPr/>
        </p:nvPicPr>
        <p:blipFill>
          <a:blip r:embed="rId3">
            <a:extLst>
              <a:ext uri="{28A0092B-C50C-407E-A947-70E740481C1C}">
                <a14:useLocalDpi xmlns:a14="http://schemas.microsoft.com/office/drawing/2010/main" val="0"/>
              </a:ext>
            </a:extLst>
          </a:blip>
          <a:srcRect l="23065" t="32857" r="27947" b="14743"/>
          <a:stretch>
            <a:fillRect/>
          </a:stretch>
        </p:blipFill>
        <p:spPr>
          <a:xfrm>
            <a:off x="3693813" y="1351998"/>
            <a:ext cx="4804373" cy="2890623"/>
          </a:xfrm>
          <a:prstGeom prst="rect">
            <a:avLst/>
          </a:prstGeom>
        </p:spPr>
      </p:pic>
    </p:spTree>
    <p:extLst>
      <p:ext uri="{BB962C8B-B14F-4D97-AF65-F5344CB8AC3E}">
        <p14:creationId xmlns:p14="http://schemas.microsoft.com/office/powerpoint/2010/main" val="15459602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CA61023-4288-4CB6-78CF-62BBD7432BAF}"/>
              </a:ext>
            </a:extLst>
          </p:cNvPr>
          <p:cNvSpPr>
            <a:spLocks noGrp="1"/>
          </p:cNvSpPr>
          <p:nvPr>
            <p:ph type="title"/>
          </p:nvPr>
        </p:nvSpPr>
        <p:spPr/>
        <p:txBody>
          <a:bodyPr>
            <a:normAutofit/>
          </a:bodyPr>
          <a:lstStyle/>
          <a:p>
            <a:r>
              <a:rPr lang="ja-JP" altLang="en-US" dirty="0"/>
              <a:t>モデルの予測結果比較</a:t>
            </a:r>
            <a:br>
              <a:rPr lang="en-US" altLang="ja-JP" dirty="0"/>
            </a:br>
            <a:r>
              <a:rPr lang="en-US" altLang="ja-JP" sz="2200" dirty="0"/>
              <a:t>Comparison of Model Prediction Results</a:t>
            </a:r>
            <a:endParaRPr kumimoji="1" lang="ja-JP" altLang="en-US" sz="2200" dirty="0"/>
          </a:p>
        </p:txBody>
      </p:sp>
      <p:sp>
        <p:nvSpPr>
          <p:cNvPr id="3" name="コンテンツ プレースホルダー 2">
            <a:extLst>
              <a:ext uri="{FF2B5EF4-FFF2-40B4-BE49-F238E27FC236}">
                <a16:creationId xmlns:a16="http://schemas.microsoft.com/office/drawing/2014/main" id="{F360AA75-7508-2826-3B47-917BD57E413C}"/>
              </a:ext>
            </a:extLst>
          </p:cNvPr>
          <p:cNvSpPr>
            <a:spLocks noGrp="1"/>
          </p:cNvSpPr>
          <p:nvPr>
            <p:ph idx="1"/>
          </p:nvPr>
        </p:nvSpPr>
        <p:spPr>
          <a:xfrm>
            <a:off x="1084529" y="4753898"/>
            <a:ext cx="10178322" cy="3593591"/>
          </a:xfrm>
        </p:spPr>
        <p:txBody>
          <a:bodyPr>
            <a:normAutofit/>
          </a:bodyPr>
          <a:lstStyle/>
          <a:p>
            <a:r>
              <a:rPr kumimoji="1" lang="ja-JP" altLang="en-US" sz="2800" dirty="0">
                <a:solidFill>
                  <a:srgbClr val="0070C0"/>
                </a:solidFill>
              </a:rPr>
              <a:t>青</a:t>
            </a:r>
            <a:r>
              <a:rPr kumimoji="1" lang="ja-JP" altLang="en-US" sz="2800" dirty="0"/>
              <a:t>：テストデータ　</a:t>
            </a:r>
            <a:r>
              <a:rPr lang="en-US" altLang="ja-JP" sz="1600" dirty="0">
                <a:solidFill>
                  <a:srgbClr val="0070C0"/>
                </a:solidFill>
              </a:rPr>
              <a:t>Blue</a:t>
            </a:r>
            <a:r>
              <a:rPr lang="en-US" altLang="ja-JP" sz="1600" dirty="0"/>
              <a:t>: Test data</a:t>
            </a:r>
            <a:r>
              <a:rPr lang="ja-JP" altLang="en-US" sz="1600" dirty="0"/>
              <a:t>　</a:t>
            </a:r>
            <a:r>
              <a:rPr kumimoji="1" lang="ja-JP" altLang="en-US" sz="2800" dirty="0">
                <a:solidFill>
                  <a:srgbClr val="FFFF00"/>
                </a:solidFill>
                <a:highlight>
                  <a:srgbClr val="000000"/>
                </a:highlight>
              </a:rPr>
              <a:t>黄</a:t>
            </a:r>
            <a:r>
              <a:rPr kumimoji="1" lang="ja-JP" altLang="en-US" sz="2800" dirty="0"/>
              <a:t>：重回帰分析　</a:t>
            </a:r>
            <a:r>
              <a:rPr kumimoji="1" lang="en-US" altLang="ja-JP" sz="1600" dirty="0">
                <a:solidFill>
                  <a:srgbClr val="FFFF00"/>
                </a:solidFill>
                <a:highlight>
                  <a:srgbClr val="000000"/>
                </a:highlight>
              </a:rPr>
              <a:t>Yellow</a:t>
            </a:r>
            <a:r>
              <a:rPr lang="en-US" altLang="ja-JP" sz="1600" dirty="0"/>
              <a:t>: Multiple regression</a:t>
            </a:r>
            <a:endParaRPr kumimoji="1" lang="en-US" altLang="ja-JP" sz="1600" dirty="0"/>
          </a:p>
          <a:p>
            <a:r>
              <a:rPr lang="ja-JP" altLang="en-US" sz="2800" dirty="0">
                <a:solidFill>
                  <a:srgbClr val="00B050"/>
                </a:solidFill>
              </a:rPr>
              <a:t>緑</a:t>
            </a:r>
            <a:r>
              <a:rPr lang="ja-JP" altLang="en-US" sz="2800" dirty="0"/>
              <a:t>：ランダムフォレスト　</a:t>
            </a:r>
            <a:r>
              <a:rPr lang="en-US" altLang="ja-JP" sz="1600" dirty="0">
                <a:solidFill>
                  <a:srgbClr val="00B050"/>
                </a:solidFill>
              </a:rPr>
              <a:t>Green</a:t>
            </a:r>
            <a:r>
              <a:rPr lang="en-US" altLang="ja-JP" sz="1600" dirty="0"/>
              <a:t>: Random forest</a:t>
            </a:r>
          </a:p>
          <a:p>
            <a:r>
              <a:rPr kumimoji="1" lang="ja-JP" altLang="en-US" sz="2800" dirty="0"/>
              <a:t>ランダムフォレストのほうが精度がよい</a:t>
            </a:r>
            <a:endParaRPr kumimoji="1" lang="en-US" altLang="ja-JP" sz="2800" dirty="0"/>
          </a:p>
          <a:p>
            <a:pPr marL="0" indent="0">
              <a:buNone/>
            </a:pPr>
            <a:r>
              <a:rPr lang="ja-JP" altLang="en-US" sz="1600" dirty="0"/>
              <a:t>　</a:t>
            </a:r>
            <a:r>
              <a:rPr lang="en-US" altLang="ja-JP" sz="1600" dirty="0"/>
              <a:t>Random Forest achieves higher accuracy.</a:t>
            </a:r>
            <a:endParaRPr kumimoji="1" lang="ja-JP" altLang="en-US" sz="1600" dirty="0"/>
          </a:p>
        </p:txBody>
      </p:sp>
      <p:pic>
        <p:nvPicPr>
          <p:cNvPr id="5" name="図 4" descr="グラフィカル ユーザー インターフェイス, アプリケーション&#10;&#10;AI 生成コンテンツは誤りを含む可能性があります。">
            <a:extLst>
              <a:ext uri="{FF2B5EF4-FFF2-40B4-BE49-F238E27FC236}">
                <a16:creationId xmlns:a16="http://schemas.microsoft.com/office/drawing/2014/main" id="{2D41263D-848F-600F-92D4-FBF1884805CC}"/>
              </a:ext>
            </a:extLst>
          </p:cNvPr>
          <p:cNvPicPr>
            <a:picLocks noChangeAspect="1"/>
          </p:cNvPicPr>
          <p:nvPr/>
        </p:nvPicPr>
        <p:blipFill>
          <a:blip r:embed="rId3">
            <a:extLst>
              <a:ext uri="{28A0092B-C50C-407E-A947-70E740481C1C}">
                <a14:useLocalDpi xmlns:a14="http://schemas.microsoft.com/office/drawing/2010/main" val="0"/>
              </a:ext>
            </a:extLst>
          </a:blip>
          <a:srcRect l="24274" t="34982" r="30322" b="15125"/>
          <a:stretch>
            <a:fillRect/>
          </a:stretch>
        </p:blipFill>
        <p:spPr>
          <a:xfrm>
            <a:off x="3383768" y="1400944"/>
            <a:ext cx="5424463" cy="3352954"/>
          </a:xfrm>
          <a:prstGeom prst="rect">
            <a:avLst/>
          </a:prstGeom>
        </p:spPr>
      </p:pic>
    </p:spTree>
    <p:extLst>
      <p:ext uri="{BB962C8B-B14F-4D97-AF65-F5344CB8AC3E}">
        <p14:creationId xmlns:p14="http://schemas.microsoft.com/office/powerpoint/2010/main" val="3351360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199AB5D-4EA6-068D-3679-391DC040CCE4}"/>
              </a:ext>
            </a:extLst>
          </p:cNvPr>
          <p:cNvSpPr>
            <a:spLocks noGrp="1"/>
          </p:cNvSpPr>
          <p:nvPr>
            <p:ph type="title"/>
          </p:nvPr>
        </p:nvSpPr>
        <p:spPr/>
        <p:txBody>
          <a:bodyPr/>
          <a:lstStyle/>
          <a:p>
            <a:r>
              <a:rPr kumimoji="1" lang="ja-JP" altLang="en-US" dirty="0"/>
              <a:t>考察・まとめ</a:t>
            </a:r>
            <a:br>
              <a:rPr lang="en-US" altLang="ja-JP" dirty="0"/>
            </a:br>
            <a:r>
              <a:rPr lang="en-US" altLang="ja-JP" sz="2000" dirty="0"/>
              <a:t>Analysis and Summary</a:t>
            </a:r>
            <a:endParaRPr kumimoji="1" lang="ja-JP" altLang="en-US" sz="2000" dirty="0"/>
          </a:p>
        </p:txBody>
      </p:sp>
      <p:sp>
        <p:nvSpPr>
          <p:cNvPr id="3" name="コンテンツ プレースホルダー 2">
            <a:extLst>
              <a:ext uri="{FF2B5EF4-FFF2-40B4-BE49-F238E27FC236}">
                <a16:creationId xmlns:a16="http://schemas.microsoft.com/office/drawing/2014/main" id="{BD7B3285-E9E2-F21D-73D3-FA33C7EF8F97}"/>
              </a:ext>
            </a:extLst>
          </p:cNvPr>
          <p:cNvSpPr>
            <a:spLocks noGrp="1"/>
          </p:cNvSpPr>
          <p:nvPr>
            <p:ph idx="1"/>
          </p:nvPr>
        </p:nvSpPr>
        <p:spPr>
          <a:xfrm>
            <a:off x="1251678" y="2286001"/>
            <a:ext cx="10178322" cy="3918154"/>
          </a:xfrm>
        </p:spPr>
        <p:txBody>
          <a:bodyPr>
            <a:normAutofit/>
          </a:bodyPr>
          <a:lstStyle/>
          <a:p>
            <a:r>
              <a:rPr lang="ja-JP" altLang="en-US" sz="2800" dirty="0"/>
              <a:t>電力需要は気温と天気に強く依存</a:t>
            </a:r>
            <a:endParaRPr lang="en-US" altLang="ja-JP" sz="2800" dirty="0"/>
          </a:p>
          <a:p>
            <a:pPr marL="0" indent="0">
              <a:buNone/>
            </a:pPr>
            <a:r>
              <a:rPr lang="ja-JP" altLang="en-US" dirty="0"/>
              <a:t>　</a:t>
            </a:r>
            <a:r>
              <a:rPr lang="en-US" altLang="ja-JP" sz="1600" dirty="0"/>
              <a:t>Electricity demand is strongly dependent on temperature and weather</a:t>
            </a:r>
          </a:p>
          <a:p>
            <a:r>
              <a:rPr lang="ja-JP" altLang="en-US" sz="2800" dirty="0"/>
              <a:t>需要は非線形な現象</a:t>
            </a:r>
            <a:endParaRPr lang="en-US" altLang="ja-JP" sz="2800" dirty="0"/>
          </a:p>
          <a:p>
            <a:pPr marL="0" indent="0">
              <a:buNone/>
            </a:pPr>
            <a:r>
              <a:rPr lang="ja-JP" altLang="en-US" dirty="0"/>
              <a:t>　</a:t>
            </a:r>
            <a:r>
              <a:rPr lang="en-US" altLang="ja-JP" sz="1600" dirty="0"/>
              <a:t>Demand is a nonlinear phenomenon</a:t>
            </a:r>
          </a:p>
          <a:p>
            <a:pPr>
              <a:buFont typeface="Wingdings" panose="05000000000000000000" pitchFamily="2" charset="2"/>
              <a:buChar char="u"/>
            </a:pPr>
            <a:r>
              <a:rPr lang="ja-JP" altLang="en-US" sz="2800" dirty="0"/>
              <a:t>気温・天気・曜日から電力需要を高精度に予測可能であることが分かった</a:t>
            </a:r>
            <a:endParaRPr lang="en-US" altLang="ja-JP" sz="2800" dirty="0"/>
          </a:p>
          <a:p>
            <a:pPr marL="0" indent="0">
              <a:buNone/>
            </a:pPr>
            <a:r>
              <a:rPr lang="ja-JP" altLang="en-US" dirty="0"/>
              <a:t>　</a:t>
            </a:r>
            <a:r>
              <a:rPr lang="en-US" altLang="ja-JP" sz="1600" dirty="0"/>
              <a:t>It has been found that electricity demand can be predicted with high accuracy based on temperature, weather, and day of the week</a:t>
            </a:r>
            <a:endParaRPr kumimoji="1" lang="ja-JP" altLang="en-US" sz="1600" dirty="0"/>
          </a:p>
        </p:txBody>
      </p:sp>
    </p:spTree>
    <p:extLst>
      <p:ext uri="{BB962C8B-B14F-4D97-AF65-F5344CB8AC3E}">
        <p14:creationId xmlns:p14="http://schemas.microsoft.com/office/powerpoint/2010/main" val="2276344791"/>
      </p:ext>
    </p:extLst>
  </p:cSld>
  <p:clrMapOvr>
    <a:masterClrMapping/>
  </p:clrMapOvr>
</p:sld>
</file>

<file path=ppt/theme/theme1.xml><?xml version="1.0" encoding="utf-8"?>
<a:theme xmlns:a="http://schemas.openxmlformats.org/drawingml/2006/main" name="HDOfficeLightV0">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バッジ">
  <a:themeElements>
    <a:clrScheme name="バッジ">
      <a:dk1>
        <a:sysClr val="windowText" lastClr="000000"/>
      </a:dk1>
      <a:lt1>
        <a:sysClr val="window" lastClr="FFFFFF"/>
      </a:lt1>
      <a:dk2>
        <a:srgbClr val="2A1A00"/>
      </a:dk2>
      <a:lt2>
        <a:srgbClr val="F3F3F2"/>
      </a:lt2>
      <a:accent1>
        <a:srgbClr val="F8B323"/>
      </a:accent1>
      <a:accent2>
        <a:srgbClr val="656A59"/>
      </a:accent2>
      <a:accent3>
        <a:srgbClr val="46B2B5"/>
      </a:accent3>
      <a:accent4>
        <a:srgbClr val="8CAA7E"/>
      </a:accent4>
      <a:accent5>
        <a:srgbClr val="D36F68"/>
      </a:accent5>
      <a:accent6>
        <a:srgbClr val="826276"/>
      </a:accent6>
      <a:hlink>
        <a:srgbClr val="46B2B5"/>
      </a:hlink>
      <a:folHlink>
        <a:srgbClr val="A46694"/>
      </a:folHlink>
    </a:clrScheme>
    <a:fontScheme name="バッジ">
      <a:majorFont>
        <a:latin typeface="Impact" panose="020B080603090205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ill Sans MT" panose="020B0502020104020203"/>
        <a:ea typeface=""/>
        <a:cs typeface=""/>
        <a:font script="Grek" typeface="Corbel"/>
        <a:font script="Cyrl" typeface="Corbel"/>
        <a:font script="Jpan" typeface="メイリオ"/>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バッジ">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dge" id="{71A07785-5930-41D4-9A83-E23602B48E98}" vid="{771EA782-DFA6-45B1-AEA3-661F1715B310}"/>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ウィスプ</Template>
  <TotalTime>529</TotalTime>
  <Words>673</Words>
  <Application>Microsoft Office PowerPoint</Application>
  <PresentationFormat>ワイド画面</PresentationFormat>
  <Paragraphs>75</Paragraphs>
  <Slides>11</Slides>
  <Notes>2</Notes>
  <HiddenSlides>0</HiddenSlides>
  <MMClips>0</MMClips>
  <ScaleCrop>false</ScaleCrop>
  <HeadingPairs>
    <vt:vector size="6" baseType="variant">
      <vt:variant>
        <vt:lpstr>使用されているフォント</vt:lpstr>
      </vt:variant>
      <vt:variant>
        <vt:i4>8</vt:i4>
      </vt:variant>
      <vt:variant>
        <vt:lpstr>テーマ</vt:lpstr>
      </vt:variant>
      <vt:variant>
        <vt:i4>2</vt:i4>
      </vt:variant>
      <vt:variant>
        <vt:lpstr>スライド タイトル</vt:lpstr>
      </vt:variant>
      <vt:variant>
        <vt:i4>11</vt:i4>
      </vt:variant>
    </vt:vector>
  </HeadingPairs>
  <TitlesOfParts>
    <vt:vector size="21" baseType="lpstr">
      <vt:lpstr>游ゴシック</vt:lpstr>
      <vt:lpstr>Arial</vt:lpstr>
      <vt:lpstr>Calibri</vt:lpstr>
      <vt:lpstr>Calibri Light</vt:lpstr>
      <vt:lpstr>Gill Sans MT</vt:lpstr>
      <vt:lpstr>Impact</vt:lpstr>
      <vt:lpstr>Wingdings</vt:lpstr>
      <vt:lpstr>Wingdings 2</vt:lpstr>
      <vt:lpstr>HDOfficeLightV0</vt:lpstr>
      <vt:lpstr>バッジ</vt:lpstr>
      <vt:lpstr>天気・気温・曜日を用いた電力需要予測 Electricity Demand Forecasting Using Weather, Temperature, and Day of the Week</vt:lpstr>
      <vt:lpstr>背景 Introduction</vt:lpstr>
      <vt:lpstr>目標 purpose </vt:lpstr>
      <vt:lpstr>使用データ Usage Data</vt:lpstr>
      <vt:lpstr>前処理 Preprocess</vt:lpstr>
      <vt:lpstr>使用したCSVファイル CSV file used</vt:lpstr>
      <vt:lpstr>使用した機械学習技術 Machine Learning Techniques Used</vt:lpstr>
      <vt:lpstr>電力需要と気温の関係 Relationship Between Electricity Demand and Temperature</vt:lpstr>
      <vt:lpstr>天気別の散布図 Scatter Plot by Weather</vt:lpstr>
      <vt:lpstr>モデルの予測結果比較 Comparison of Model Prediction Results</vt:lpstr>
      <vt:lpstr>考察・まとめ Analysis and 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天気・気温・曜日を用いた電力需要予測 Electricity Demand Forecasting Using Weather, Temperature, and Day of the Week</dc:title>
  <dc:creator>進太 杉原</dc:creator>
  <cp:lastModifiedBy>進太 杉原</cp:lastModifiedBy>
  <cp:revision>8</cp:revision>
  <dcterms:created xsi:type="dcterms:W3CDTF">2026-02-01T15:34:09Z</dcterms:created>
  <dcterms:modified xsi:type="dcterms:W3CDTF">2026-02-02T02:44:05Z</dcterms:modified>
</cp:coreProperties>
</file>