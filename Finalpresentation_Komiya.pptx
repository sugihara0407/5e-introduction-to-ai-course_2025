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" d="100"/>
          <a:sy n="30" d="100"/>
        </p:scale>
        <p:origin x="2174" y="8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57D8F-D9B8-4B1D-A7F6-1AC7FAE75EEE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76E53-3545-4591-9FCF-F49B151AB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787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39156" y="-360775"/>
            <a:ext cx="2619613" cy="19583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78018" y="600385"/>
            <a:ext cx="925028" cy="91785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4395657" y="931754"/>
            <a:ext cx="985377" cy="97773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3411188" y="0"/>
            <a:ext cx="4064012" cy="210607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32759" y="8697601"/>
            <a:ext cx="2142136" cy="1055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図 6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AB4B9FC-8C73-4F0D-C078-26663DC0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123" y="993606"/>
            <a:ext cx="12324953" cy="8442592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899181" y="9177803"/>
            <a:ext cx="1168027" cy="57579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4E7E36-0F0B-1567-BB0C-7390AFAB8E2E}"/>
              </a:ext>
            </a:extLst>
          </p:cNvPr>
          <p:cNvSpPr txBox="1"/>
          <p:nvPr/>
        </p:nvSpPr>
        <p:spPr>
          <a:xfrm>
            <a:off x="1740532" y="203537"/>
            <a:ext cx="87413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0" b="1" u="sng" dirty="0">
                <a:latin typeface="+mj-ea"/>
                <a:ea typeface="+mj-ea"/>
                <a:cs typeface="Sanskrit Text" panose="020B0502040204020203" pitchFamily="18" charset="0"/>
              </a:rPr>
              <a:t>Introduction</a:t>
            </a:r>
            <a:endParaRPr lang="ja-JP" altLang="en-US" sz="6000" b="1" u="sng" dirty="0">
              <a:latin typeface="+mj-ea"/>
              <a:ea typeface="+mj-ea"/>
              <a:cs typeface="Sanskrit Text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4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2BB50D-B627-C45C-AA40-0B0B679542E5}"/>
              </a:ext>
            </a:extLst>
          </p:cNvPr>
          <p:cNvSpPr txBox="1"/>
          <p:nvPr/>
        </p:nvSpPr>
        <p:spPr>
          <a:xfrm>
            <a:off x="2946400" y="304860"/>
            <a:ext cx="6705600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import </a:t>
            </a:r>
            <a:r>
              <a:rPr lang="en-US" altLang="ja-JP" sz="1600" dirty="0" err="1"/>
              <a:t>yfinance</a:t>
            </a:r>
            <a:r>
              <a:rPr lang="en-US" altLang="ja-JP" sz="1600" dirty="0"/>
              <a:t> as </a:t>
            </a:r>
            <a:r>
              <a:rPr lang="en-US" altLang="ja-JP" sz="1600" dirty="0" err="1"/>
              <a:t>yf</a:t>
            </a:r>
            <a:endParaRPr lang="en-US" altLang="ja-JP" sz="1600" dirty="0"/>
          </a:p>
          <a:p>
            <a:r>
              <a:rPr lang="en-US" altLang="ja-JP" sz="1600" dirty="0"/>
              <a:t>import </a:t>
            </a:r>
            <a:r>
              <a:rPr lang="en-US" altLang="ja-JP" sz="1600" dirty="0" err="1"/>
              <a:t>numpy</a:t>
            </a:r>
            <a:r>
              <a:rPr lang="en-US" altLang="ja-JP" sz="1600" dirty="0"/>
              <a:t> as np</a:t>
            </a:r>
          </a:p>
          <a:p>
            <a:r>
              <a:rPr lang="en-US" altLang="ja-JP" sz="1600" dirty="0"/>
              <a:t>import pandas as pd</a:t>
            </a:r>
          </a:p>
          <a:p>
            <a:r>
              <a:rPr lang="en-US" altLang="ja-JP" sz="1600" dirty="0"/>
              <a:t>from </a:t>
            </a:r>
            <a:r>
              <a:rPr lang="en-US" altLang="ja-JP" sz="1600" dirty="0" err="1"/>
              <a:t>sklearn.preprocessing</a:t>
            </a:r>
            <a:r>
              <a:rPr lang="en-US" altLang="ja-JP" sz="1600" dirty="0"/>
              <a:t> import </a:t>
            </a:r>
            <a:r>
              <a:rPr lang="en-US" altLang="ja-JP" sz="1600" dirty="0" err="1"/>
              <a:t>MinMaxScaler</a:t>
            </a:r>
            <a:endParaRPr lang="en-US" altLang="ja-JP" sz="1600" dirty="0"/>
          </a:p>
          <a:p>
            <a:r>
              <a:rPr lang="en-US" altLang="ja-JP" sz="1600" dirty="0"/>
              <a:t>from </a:t>
            </a:r>
            <a:r>
              <a:rPr lang="en-US" altLang="ja-JP" sz="1600" dirty="0" err="1"/>
              <a:t>tensorflow.keras.models</a:t>
            </a:r>
            <a:r>
              <a:rPr lang="en-US" altLang="ja-JP" sz="1600" dirty="0"/>
              <a:t> import Sequential</a:t>
            </a:r>
          </a:p>
          <a:p>
            <a:r>
              <a:rPr lang="en-US" altLang="ja-JP" sz="1600" dirty="0"/>
              <a:t>from </a:t>
            </a:r>
            <a:r>
              <a:rPr lang="en-US" altLang="ja-JP" sz="1600" dirty="0" err="1"/>
              <a:t>tensorflow.keras.layers</a:t>
            </a:r>
            <a:r>
              <a:rPr lang="en-US" altLang="ja-JP" sz="1600" dirty="0"/>
              <a:t> import LSTM, Dense, Dropout</a:t>
            </a:r>
          </a:p>
          <a:p>
            <a:r>
              <a:rPr lang="en-US" altLang="ja-JP" sz="1600" dirty="0"/>
              <a:t>import </a:t>
            </a:r>
            <a:r>
              <a:rPr lang="en-US" altLang="ja-JP" sz="1600" dirty="0" err="1"/>
              <a:t>matplotlib.pyplot</a:t>
            </a:r>
            <a:r>
              <a:rPr lang="en-US" altLang="ja-JP" sz="1600" dirty="0"/>
              <a:t> as </a:t>
            </a:r>
            <a:r>
              <a:rPr lang="en-US" altLang="ja-JP" sz="1600" dirty="0" err="1"/>
              <a:t>plt</a:t>
            </a:r>
            <a:endParaRPr lang="en-US" altLang="ja-JP" sz="1600" dirty="0"/>
          </a:p>
          <a:p>
            <a:br>
              <a:rPr lang="en-US" altLang="ja-JP" sz="1600" dirty="0"/>
            </a:br>
            <a:endParaRPr lang="en-US" altLang="ja-JP" sz="1600" dirty="0"/>
          </a:p>
          <a:p>
            <a:r>
              <a:rPr lang="en-US" altLang="ja-JP" sz="1600" dirty="0"/>
              <a:t># </a:t>
            </a:r>
            <a:r>
              <a:rPr lang="ja-JP" altLang="en-US" sz="1600" dirty="0"/>
              <a:t>データ取得（</a:t>
            </a:r>
            <a:r>
              <a:rPr lang="en-US" altLang="ja-JP" sz="1600" dirty="0"/>
              <a:t>Apple</a:t>
            </a:r>
            <a:r>
              <a:rPr lang="ja-JP" altLang="en-US" sz="1600" dirty="0"/>
              <a:t>株、</a:t>
            </a:r>
            <a:r>
              <a:rPr lang="en-US" altLang="ja-JP" sz="1600" dirty="0"/>
              <a:t>5</a:t>
            </a:r>
            <a:r>
              <a:rPr lang="ja-JP" altLang="en-US" sz="1600" dirty="0"/>
              <a:t>年分）</a:t>
            </a:r>
          </a:p>
          <a:p>
            <a:r>
              <a:rPr lang="en-US" altLang="ja-JP" sz="1600" dirty="0"/>
              <a:t>ticker = 'AAPL'</a:t>
            </a:r>
          </a:p>
          <a:p>
            <a:r>
              <a:rPr lang="en-US" altLang="ja-JP" sz="1600" dirty="0"/>
              <a:t>data = </a:t>
            </a:r>
            <a:r>
              <a:rPr lang="en-US" altLang="ja-JP" sz="1600" dirty="0" err="1"/>
              <a:t>yf.download</a:t>
            </a:r>
            <a:r>
              <a:rPr lang="en-US" altLang="ja-JP" sz="1600" dirty="0"/>
              <a:t>(ticker, period='5y')['Close'].</a:t>
            </a:r>
            <a:r>
              <a:rPr lang="en-US" altLang="ja-JP" sz="1600" dirty="0" err="1"/>
              <a:t>values.reshape</a:t>
            </a:r>
            <a:r>
              <a:rPr lang="en-US" altLang="ja-JP" sz="1600" dirty="0"/>
              <a:t>(-1,1)</a:t>
            </a:r>
          </a:p>
          <a:p>
            <a:br>
              <a:rPr lang="en-US" altLang="ja-JP" sz="1600" dirty="0"/>
            </a:br>
            <a:endParaRPr lang="en-US" altLang="ja-JP" sz="1600" dirty="0"/>
          </a:p>
          <a:p>
            <a:r>
              <a:rPr lang="en-US" altLang="ja-JP" sz="1600" dirty="0"/>
              <a:t># </a:t>
            </a:r>
            <a:r>
              <a:rPr lang="ja-JP" altLang="en-US" sz="1600" dirty="0"/>
              <a:t>正規化とウィンドウ作成（過去</a:t>
            </a:r>
            <a:r>
              <a:rPr lang="en-US" altLang="ja-JP" sz="1600" dirty="0"/>
              <a:t>60</a:t>
            </a:r>
            <a:r>
              <a:rPr lang="ja-JP" altLang="en-US" sz="1600" dirty="0"/>
              <a:t>日→次日）</a:t>
            </a:r>
          </a:p>
          <a:p>
            <a:r>
              <a:rPr lang="en-US" altLang="ja-JP" sz="1600" dirty="0"/>
              <a:t>scaler = </a:t>
            </a:r>
            <a:r>
              <a:rPr lang="en-US" altLang="ja-JP" sz="1600" dirty="0" err="1"/>
              <a:t>MinMaxScaler</a:t>
            </a:r>
            <a:r>
              <a:rPr lang="en-US" altLang="ja-JP" sz="1600" dirty="0"/>
              <a:t>()</a:t>
            </a:r>
          </a:p>
          <a:p>
            <a:r>
              <a:rPr lang="en-US" altLang="ja-JP" sz="1600" dirty="0" err="1"/>
              <a:t>data_scaled</a:t>
            </a:r>
            <a:r>
              <a:rPr lang="en-US" altLang="ja-JP" sz="1600" dirty="0"/>
              <a:t> = </a:t>
            </a:r>
            <a:r>
              <a:rPr lang="en-US" altLang="ja-JP" sz="1600" dirty="0" err="1"/>
              <a:t>scaler.fit_transform</a:t>
            </a:r>
            <a:r>
              <a:rPr lang="en-US" altLang="ja-JP" sz="1600" dirty="0"/>
              <a:t>(data)</a:t>
            </a:r>
          </a:p>
          <a:p>
            <a:br>
              <a:rPr lang="en-US" altLang="ja-JP" sz="1600" dirty="0"/>
            </a:br>
            <a:endParaRPr lang="en-US" altLang="ja-JP" sz="1600" dirty="0"/>
          </a:p>
          <a:p>
            <a:r>
              <a:rPr lang="en-US" altLang="ja-JP" sz="1600" dirty="0"/>
              <a:t>def </a:t>
            </a:r>
            <a:r>
              <a:rPr lang="en-US" altLang="ja-JP" sz="1600" dirty="0" err="1"/>
              <a:t>create_dataset</a:t>
            </a:r>
            <a:r>
              <a:rPr lang="en-US" altLang="ja-JP" sz="1600" dirty="0"/>
              <a:t>(data, </a:t>
            </a:r>
            <a:r>
              <a:rPr lang="en-US" altLang="ja-JP" sz="1600" dirty="0" err="1"/>
              <a:t>time_step</a:t>
            </a:r>
            <a:r>
              <a:rPr lang="en-US" altLang="ja-JP" sz="1600" dirty="0"/>
              <a:t>=60):</a:t>
            </a:r>
          </a:p>
          <a:p>
            <a:r>
              <a:rPr lang="en-US" altLang="ja-JP" sz="1600" dirty="0"/>
              <a:t>    X, y = [], []</a:t>
            </a:r>
          </a:p>
          <a:p>
            <a:r>
              <a:rPr lang="en-US" altLang="ja-JP" sz="1600" dirty="0"/>
              <a:t>    for </a:t>
            </a:r>
            <a:r>
              <a:rPr lang="en-US" altLang="ja-JP" sz="1600" dirty="0" err="1"/>
              <a:t>i</a:t>
            </a:r>
            <a:r>
              <a:rPr lang="en-US" altLang="ja-JP" sz="1600" dirty="0"/>
              <a:t> in range(</a:t>
            </a:r>
            <a:r>
              <a:rPr lang="en-US" altLang="ja-JP" sz="1600" dirty="0" err="1"/>
              <a:t>len</a:t>
            </a:r>
            <a:r>
              <a:rPr lang="en-US" altLang="ja-JP" sz="1600" dirty="0"/>
              <a:t>(data)-time_step-1):</a:t>
            </a:r>
          </a:p>
          <a:p>
            <a:r>
              <a:rPr lang="en-US" altLang="ja-JP" sz="1600" dirty="0"/>
              <a:t>        </a:t>
            </a:r>
            <a:r>
              <a:rPr lang="en-US" altLang="ja-JP" sz="1600" dirty="0" err="1"/>
              <a:t>X.append</a:t>
            </a:r>
            <a:r>
              <a:rPr lang="en-US" altLang="ja-JP" sz="1600" dirty="0"/>
              <a:t>(data[</a:t>
            </a:r>
            <a:r>
              <a:rPr lang="en-US" altLang="ja-JP" sz="1600" dirty="0" err="1"/>
              <a:t>i</a:t>
            </a:r>
            <a:r>
              <a:rPr lang="en-US" altLang="ja-JP" sz="1600" dirty="0"/>
              <a:t>:(</a:t>
            </a:r>
            <a:r>
              <a:rPr lang="en-US" altLang="ja-JP" sz="1600" dirty="0" err="1"/>
              <a:t>i+time_step</a:t>
            </a:r>
            <a:r>
              <a:rPr lang="en-US" altLang="ja-JP" sz="1600" dirty="0"/>
              <a:t>), 0])</a:t>
            </a:r>
          </a:p>
          <a:p>
            <a:r>
              <a:rPr lang="en-US" altLang="ja-JP" sz="1600" dirty="0"/>
              <a:t>        </a:t>
            </a:r>
            <a:r>
              <a:rPr lang="en-US" altLang="ja-JP" sz="1600" dirty="0" err="1"/>
              <a:t>y.append</a:t>
            </a:r>
            <a:r>
              <a:rPr lang="en-US" altLang="ja-JP" sz="1600" dirty="0"/>
              <a:t>(data[</a:t>
            </a:r>
            <a:r>
              <a:rPr lang="en-US" altLang="ja-JP" sz="1600" dirty="0" err="1"/>
              <a:t>i+time_step</a:t>
            </a:r>
            <a:r>
              <a:rPr lang="en-US" altLang="ja-JP" sz="1600" dirty="0"/>
              <a:t>, 0])</a:t>
            </a:r>
          </a:p>
          <a:p>
            <a:r>
              <a:rPr lang="en-US" altLang="ja-JP" sz="1600" dirty="0"/>
              <a:t>    return </a:t>
            </a:r>
            <a:r>
              <a:rPr lang="en-US" altLang="ja-JP" sz="1600" dirty="0" err="1"/>
              <a:t>np.array</a:t>
            </a:r>
            <a:r>
              <a:rPr lang="en-US" altLang="ja-JP" sz="1600" dirty="0"/>
              <a:t>(X), </a:t>
            </a:r>
            <a:r>
              <a:rPr lang="en-US" altLang="ja-JP" sz="1600" dirty="0" err="1"/>
              <a:t>np.array</a:t>
            </a:r>
            <a:r>
              <a:rPr lang="en-US" altLang="ja-JP" sz="1600" dirty="0"/>
              <a:t>(y)</a:t>
            </a:r>
          </a:p>
          <a:p>
            <a:br>
              <a:rPr lang="en-US" altLang="ja-JP" sz="1600" dirty="0"/>
            </a:br>
            <a:endParaRPr lang="en-US" altLang="ja-JP" sz="1600" dirty="0"/>
          </a:p>
          <a:p>
            <a:r>
              <a:rPr lang="en-US" altLang="ja-JP" sz="1600" dirty="0" err="1"/>
              <a:t>time_step</a:t>
            </a:r>
            <a:r>
              <a:rPr lang="en-US" altLang="ja-JP" sz="1600" dirty="0"/>
              <a:t> = 60</a:t>
            </a:r>
          </a:p>
          <a:p>
            <a:r>
              <a:rPr lang="en-US" altLang="ja-JP" sz="1600" dirty="0"/>
              <a:t>X, y = </a:t>
            </a:r>
            <a:r>
              <a:rPr lang="en-US" altLang="ja-JP" sz="1600" dirty="0" err="1"/>
              <a:t>create_dataset</a:t>
            </a:r>
            <a:r>
              <a:rPr lang="en-US" altLang="ja-JP" sz="1600" dirty="0"/>
              <a:t>(</a:t>
            </a:r>
            <a:r>
              <a:rPr lang="en-US" altLang="ja-JP" sz="1600" dirty="0" err="1"/>
              <a:t>data_scaled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time_step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X = </a:t>
            </a:r>
            <a:r>
              <a:rPr lang="en-US" altLang="ja-JP" sz="1600" dirty="0" err="1"/>
              <a:t>X.reshape</a:t>
            </a:r>
            <a:r>
              <a:rPr lang="en-US" altLang="ja-JP" sz="1600" dirty="0"/>
              <a:t>(</a:t>
            </a:r>
            <a:r>
              <a:rPr lang="en-US" altLang="ja-JP" sz="1600" dirty="0" err="1"/>
              <a:t>X.shape</a:t>
            </a:r>
            <a:r>
              <a:rPr lang="en-US" altLang="ja-JP" sz="1600" dirty="0"/>
              <a:t>[0], </a:t>
            </a:r>
            <a:r>
              <a:rPr lang="en-US" altLang="ja-JP" sz="1600" dirty="0" err="1"/>
              <a:t>X.shape</a:t>
            </a:r>
            <a:r>
              <a:rPr lang="en-US" altLang="ja-JP" sz="1600" dirty="0"/>
              <a:t>[1], 1)</a:t>
            </a:r>
          </a:p>
          <a:p>
            <a:br>
              <a:rPr lang="en-US" altLang="ja-JP" sz="1600" dirty="0"/>
            </a:br>
            <a:endParaRPr lang="en-US" altLang="ja-JP" sz="1600" dirty="0"/>
          </a:p>
          <a:p>
            <a:r>
              <a:rPr lang="en-US" altLang="ja-JP" sz="1600" dirty="0"/>
              <a:t># </a:t>
            </a:r>
            <a:r>
              <a:rPr lang="ja-JP" altLang="en-US" sz="1600" dirty="0"/>
              <a:t>訓練</a:t>
            </a:r>
            <a:r>
              <a:rPr lang="en-US" altLang="ja-JP" sz="1600" dirty="0"/>
              <a:t>/</a:t>
            </a:r>
            <a:r>
              <a:rPr lang="ja-JP" altLang="en-US" sz="1600" dirty="0"/>
              <a:t>テスト分割（</a:t>
            </a:r>
            <a:r>
              <a:rPr lang="en-US" altLang="ja-JP" sz="1600" dirty="0"/>
              <a:t>80%</a:t>
            </a:r>
            <a:r>
              <a:rPr lang="ja-JP" altLang="en-US" sz="1600" dirty="0"/>
              <a:t>）</a:t>
            </a:r>
          </a:p>
          <a:p>
            <a:r>
              <a:rPr lang="en-US" altLang="ja-JP" sz="1600" dirty="0"/>
              <a:t>split = int(0.8 * </a:t>
            </a:r>
            <a:r>
              <a:rPr lang="en-US" altLang="ja-JP" sz="1600" dirty="0" err="1"/>
              <a:t>len</a:t>
            </a:r>
            <a:r>
              <a:rPr lang="en-US" altLang="ja-JP" sz="1600" dirty="0"/>
              <a:t>(X))</a:t>
            </a:r>
          </a:p>
          <a:p>
            <a:r>
              <a:rPr lang="en-US" altLang="ja-JP" sz="1600" dirty="0" err="1"/>
              <a:t>X_train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X_test</a:t>
            </a:r>
            <a:r>
              <a:rPr lang="en-US" altLang="ja-JP" sz="1600" dirty="0"/>
              <a:t> = X[:split], X[split:]</a:t>
            </a:r>
          </a:p>
          <a:p>
            <a:r>
              <a:rPr lang="en-US" altLang="ja-JP" sz="1600" dirty="0" err="1"/>
              <a:t>y_train</a:t>
            </a:r>
            <a:r>
              <a:rPr lang="en-US" altLang="ja-JP" sz="1600" dirty="0"/>
              <a:t>, </a:t>
            </a:r>
            <a:r>
              <a:rPr lang="en-US" altLang="ja-JP" sz="1600" dirty="0" err="1"/>
              <a:t>y_test</a:t>
            </a:r>
            <a:r>
              <a:rPr lang="en-US" altLang="ja-JP" sz="1600" dirty="0"/>
              <a:t> = y[:split], y[split:]</a:t>
            </a:r>
          </a:p>
          <a:p>
            <a:br>
              <a:rPr lang="en-US" altLang="ja-JP" sz="1600" dirty="0"/>
            </a:br>
            <a:endParaRPr lang="en-US" altLang="ja-JP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57849FA-B1D3-FA4F-18E2-38D9DF2F0DBB}"/>
              </a:ext>
            </a:extLst>
          </p:cNvPr>
          <p:cNvSpPr txBox="1"/>
          <p:nvPr/>
        </p:nvSpPr>
        <p:spPr>
          <a:xfrm>
            <a:off x="9677400" y="274082"/>
            <a:ext cx="6680200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/>
              <a:t># LSTM</a:t>
            </a:r>
            <a:r>
              <a:rPr lang="ja-JP" altLang="en-US" sz="1800" dirty="0"/>
              <a:t>モデル（多層</a:t>
            </a:r>
            <a:r>
              <a:rPr lang="en-US" altLang="ja-JP" sz="1800" dirty="0"/>
              <a:t>+Dropout</a:t>
            </a:r>
            <a:r>
              <a:rPr lang="ja-JP" altLang="en-US" sz="1800" dirty="0"/>
              <a:t>で過学習防止）</a:t>
            </a:r>
          </a:p>
          <a:p>
            <a:r>
              <a:rPr lang="en-US" altLang="ja-JP" sz="1800" dirty="0"/>
              <a:t>model = Sequential([</a:t>
            </a:r>
          </a:p>
          <a:p>
            <a:r>
              <a:rPr lang="en-US" altLang="ja-JP" sz="1800" dirty="0"/>
              <a:t>    LSTM(50, </a:t>
            </a:r>
            <a:r>
              <a:rPr lang="en-US" altLang="ja-JP" sz="1800" dirty="0" err="1"/>
              <a:t>return_sequences</a:t>
            </a:r>
            <a:r>
              <a:rPr lang="en-US" altLang="ja-JP" sz="1800" dirty="0"/>
              <a:t>=True, </a:t>
            </a:r>
            <a:r>
              <a:rPr lang="en-US" altLang="ja-JP" sz="1800" dirty="0" err="1"/>
              <a:t>input_shape</a:t>
            </a:r>
            <a:r>
              <a:rPr lang="en-US" altLang="ja-JP" sz="1800" dirty="0"/>
              <a:t>=(</a:t>
            </a:r>
            <a:r>
              <a:rPr lang="en-US" altLang="ja-JP" sz="1800" dirty="0" err="1"/>
              <a:t>time_step</a:t>
            </a:r>
            <a:r>
              <a:rPr lang="en-US" altLang="ja-JP" sz="1800" dirty="0"/>
              <a:t>, 1)),</a:t>
            </a:r>
          </a:p>
          <a:p>
            <a:r>
              <a:rPr lang="en-US" altLang="ja-JP" sz="1800" dirty="0"/>
              <a:t>    Dropout(0.2),</a:t>
            </a:r>
          </a:p>
          <a:p>
            <a:r>
              <a:rPr lang="en-US" altLang="ja-JP" sz="1800" dirty="0"/>
              <a:t>    LSTM(50, </a:t>
            </a:r>
            <a:r>
              <a:rPr lang="en-US" altLang="ja-JP" sz="1800" dirty="0" err="1"/>
              <a:t>return_sequences</a:t>
            </a:r>
            <a:r>
              <a:rPr lang="en-US" altLang="ja-JP" sz="1800" dirty="0"/>
              <a:t>=False),</a:t>
            </a:r>
          </a:p>
          <a:p>
            <a:r>
              <a:rPr lang="en-US" altLang="ja-JP" sz="1800" dirty="0"/>
              <a:t>    Dropout(0.2),</a:t>
            </a:r>
          </a:p>
          <a:p>
            <a:r>
              <a:rPr lang="en-US" altLang="ja-JP" sz="1800" dirty="0"/>
              <a:t>    Dense(25),</a:t>
            </a:r>
          </a:p>
          <a:p>
            <a:r>
              <a:rPr lang="en-US" altLang="ja-JP" sz="1800" dirty="0"/>
              <a:t>    Dense(1)</a:t>
            </a:r>
          </a:p>
          <a:p>
            <a:r>
              <a:rPr lang="en-US" altLang="ja-JP" sz="1800" dirty="0"/>
              <a:t>])</a:t>
            </a:r>
          </a:p>
          <a:p>
            <a:r>
              <a:rPr lang="en-US" altLang="ja-JP" sz="1800" dirty="0" err="1"/>
              <a:t>model.compile</a:t>
            </a:r>
            <a:r>
              <a:rPr lang="en-US" altLang="ja-JP" sz="1800" dirty="0"/>
              <a:t>(optimizer='</a:t>
            </a:r>
            <a:r>
              <a:rPr lang="en-US" altLang="ja-JP" sz="1800" dirty="0" err="1"/>
              <a:t>adam</a:t>
            </a:r>
            <a:r>
              <a:rPr lang="en-US" altLang="ja-JP" sz="1800" dirty="0"/>
              <a:t>', loss='</a:t>
            </a:r>
            <a:r>
              <a:rPr lang="en-US" altLang="ja-JP" sz="1800" dirty="0" err="1"/>
              <a:t>mean_squared_error</a:t>
            </a:r>
            <a:r>
              <a:rPr lang="en-US" altLang="ja-JP" sz="1800" dirty="0"/>
              <a:t>')</a:t>
            </a:r>
          </a:p>
          <a:p>
            <a:r>
              <a:rPr lang="en-US" altLang="ja-JP" sz="1800" dirty="0" err="1"/>
              <a:t>model.fit</a:t>
            </a:r>
            <a:r>
              <a:rPr lang="en-US" altLang="ja-JP" sz="1800" dirty="0"/>
              <a:t>(</a:t>
            </a:r>
            <a:r>
              <a:rPr lang="en-US" altLang="ja-JP" sz="1800" dirty="0" err="1"/>
              <a:t>X_train</a:t>
            </a:r>
            <a:r>
              <a:rPr lang="en-US" altLang="ja-JP" sz="1800" dirty="0"/>
              <a:t>, </a:t>
            </a:r>
            <a:r>
              <a:rPr lang="en-US" altLang="ja-JP" sz="1800" dirty="0" err="1"/>
              <a:t>y_train</a:t>
            </a:r>
            <a:r>
              <a:rPr lang="en-US" altLang="ja-JP" sz="1800" dirty="0"/>
              <a:t>, </a:t>
            </a:r>
            <a:r>
              <a:rPr lang="en-US" altLang="ja-JP" sz="1800" dirty="0" err="1"/>
              <a:t>batch_size</a:t>
            </a:r>
            <a:r>
              <a:rPr lang="en-US" altLang="ja-JP" sz="1800" dirty="0"/>
              <a:t>=32, epochs=20, </a:t>
            </a:r>
            <a:r>
              <a:rPr lang="en-US" altLang="ja-JP" sz="1800" dirty="0" err="1"/>
              <a:t>validation_data</a:t>
            </a:r>
            <a:r>
              <a:rPr lang="en-US" altLang="ja-JP" sz="1800" dirty="0"/>
              <a:t>=(</a:t>
            </a:r>
            <a:r>
              <a:rPr lang="en-US" altLang="ja-JP" sz="1800" dirty="0" err="1"/>
              <a:t>X_test</a:t>
            </a:r>
            <a:r>
              <a:rPr lang="en-US" altLang="ja-JP" sz="1800" dirty="0"/>
              <a:t>, </a:t>
            </a:r>
            <a:r>
              <a:rPr lang="en-US" altLang="ja-JP" sz="1800" dirty="0" err="1"/>
              <a:t>y_test</a:t>
            </a:r>
            <a:r>
              <a:rPr lang="en-US" altLang="ja-JP" sz="1800" dirty="0"/>
              <a:t>), verbose=1)</a:t>
            </a:r>
          </a:p>
          <a:p>
            <a:br>
              <a:rPr lang="en-US" altLang="ja-JP" sz="1800" dirty="0"/>
            </a:br>
            <a:endParaRPr lang="en-US" altLang="ja-JP" sz="1800" dirty="0"/>
          </a:p>
          <a:p>
            <a:r>
              <a:rPr lang="en-US" altLang="ja-JP" sz="1800" dirty="0"/>
              <a:t># </a:t>
            </a:r>
            <a:r>
              <a:rPr lang="ja-JP" altLang="en-US" sz="1800" dirty="0"/>
              <a:t>予測と逆正規化</a:t>
            </a:r>
          </a:p>
          <a:p>
            <a:r>
              <a:rPr lang="en-US" altLang="ja-JP" sz="1800" dirty="0" err="1"/>
              <a:t>y_pred</a:t>
            </a:r>
            <a:r>
              <a:rPr lang="en-US" altLang="ja-JP" sz="1800" dirty="0"/>
              <a:t> = </a:t>
            </a:r>
            <a:r>
              <a:rPr lang="en-US" altLang="ja-JP" sz="1800" dirty="0" err="1"/>
              <a:t>model.predict</a:t>
            </a:r>
            <a:r>
              <a:rPr lang="en-US" altLang="ja-JP" sz="1800" dirty="0"/>
              <a:t>(</a:t>
            </a:r>
            <a:r>
              <a:rPr lang="en-US" altLang="ja-JP" sz="1800" dirty="0" err="1"/>
              <a:t>X_test</a:t>
            </a:r>
            <a:r>
              <a:rPr lang="en-US" altLang="ja-JP" sz="1800" dirty="0"/>
              <a:t>)</a:t>
            </a:r>
          </a:p>
          <a:p>
            <a:r>
              <a:rPr lang="en-US" altLang="ja-JP" sz="1800" dirty="0" err="1"/>
              <a:t>y_pred</a:t>
            </a:r>
            <a:r>
              <a:rPr lang="en-US" altLang="ja-JP" sz="1800" dirty="0"/>
              <a:t> = </a:t>
            </a:r>
            <a:r>
              <a:rPr lang="en-US" altLang="ja-JP" sz="1800" dirty="0" err="1"/>
              <a:t>scaler.inverse_transform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y_pred.reshape</a:t>
            </a:r>
            <a:r>
              <a:rPr lang="en-US" altLang="ja-JP" sz="1800" dirty="0"/>
              <a:t>(-1,1))</a:t>
            </a:r>
          </a:p>
          <a:p>
            <a:r>
              <a:rPr lang="en-US" altLang="ja-JP" sz="1800" dirty="0" err="1"/>
              <a:t>y_test_inv</a:t>
            </a:r>
            <a:r>
              <a:rPr lang="en-US" altLang="ja-JP" sz="1800" dirty="0"/>
              <a:t> = </a:t>
            </a:r>
            <a:r>
              <a:rPr lang="en-US" altLang="ja-JP" sz="1800" dirty="0" err="1"/>
              <a:t>scaler.inverse_transform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y_test.reshape</a:t>
            </a:r>
            <a:r>
              <a:rPr lang="en-US" altLang="ja-JP" sz="1800" dirty="0"/>
              <a:t>(-1,1))</a:t>
            </a:r>
          </a:p>
          <a:p>
            <a:br>
              <a:rPr lang="en-US" altLang="ja-JP" sz="1800" dirty="0"/>
            </a:br>
            <a:endParaRPr lang="en-US" altLang="ja-JP" sz="1800" dirty="0"/>
          </a:p>
          <a:p>
            <a:r>
              <a:rPr lang="en-US" altLang="ja-JP" sz="1800" dirty="0"/>
              <a:t># </a:t>
            </a:r>
            <a:r>
              <a:rPr lang="ja-JP" altLang="en-US" sz="1800" dirty="0"/>
              <a:t>可視化（実測</a:t>
            </a:r>
            <a:r>
              <a:rPr lang="en-US" altLang="ja-JP" sz="1800" dirty="0"/>
              <a:t>vs</a:t>
            </a:r>
            <a:r>
              <a:rPr lang="ja-JP" altLang="en-US" sz="1800" dirty="0"/>
              <a:t>予測）</a:t>
            </a:r>
          </a:p>
          <a:p>
            <a:r>
              <a:rPr lang="en-US" altLang="ja-JP" sz="1800" dirty="0" err="1"/>
              <a:t>plt.figure</a:t>
            </a:r>
            <a:r>
              <a:rPr lang="en-US" altLang="ja-JP" sz="1800" dirty="0"/>
              <a:t>(</a:t>
            </a:r>
            <a:r>
              <a:rPr lang="en-US" altLang="ja-JP" sz="1800" dirty="0" err="1"/>
              <a:t>figsize</a:t>
            </a:r>
            <a:r>
              <a:rPr lang="en-US" altLang="ja-JP" sz="1800" dirty="0"/>
              <a:t>=(12,6))</a:t>
            </a:r>
          </a:p>
          <a:p>
            <a:r>
              <a:rPr lang="en-US" altLang="ja-JP" sz="1800" dirty="0" err="1"/>
              <a:t>plt.plot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y_test_inv</a:t>
            </a:r>
            <a:r>
              <a:rPr lang="en-US" altLang="ja-JP" sz="1800" dirty="0"/>
              <a:t>, label='</a:t>
            </a:r>
            <a:r>
              <a:rPr lang="ja-JP" altLang="en-US" sz="1800" dirty="0"/>
              <a:t>実測</a:t>
            </a:r>
            <a:r>
              <a:rPr lang="en-US" altLang="ja-JP" sz="1800" dirty="0"/>
              <a:t>')</a:t>
            </a:r>
            <a:endParaRPr lang="ja-JP" altLang="en-US" sz="1800" dirty="0"/>
          </a:p>
          <a:p>
            <a:r>
              <a:rPr lang="en-US" altLang="ja-JP" sz="1800" dirty="0" err="1"/>
              <a:t>plt.plot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y_pred</a:t>
            </a:r>
            <a:r>
              <a:rPr lang="en-US" altLang="ja-JP" sz="1800" dirty="0"/>
              <a:t>, label='</a:t>
            </a:r>
            <a:r>
              <a:rPr lang="ja-JP" altLang="en-US" sz="1800" dirty="0"/>
              <a:t>予測</a:t>
            </a:r>
            <a:r>
              <a:rPr lang="en-US" altLang="ja-JP" sz="1800" dirty="0"/>
              <a:t>')</a:t>
            </a:r>
            <a:endParaRPr lang="ja-JP" altLang="en-US" sz="1800" dirty="0"/>
          </a:p>
          <a:p>
            <a:r>
              <a:rPr lang="en-US" altLang="ja-JP" sz="1800" dirty="0" err="1"/>
              <a:t>plt.title</a:t>
            </a:r>
            <a:r>
              <a:rPr lang="en-US" altLang="ja-JP" sz="1800" dirty="0"/>
              <a:t>(f'{ticker} Next day closing price forecast')</a:t>
            </a:r>
          </a:p>
          <a:p>
            <a:r>
              <a:rPr lang="en-US" altLang="ja-JP" sz="1800" dirty="0" err="1"/>
              <a:t>plt.legend</a:t>
            </a:r>
            <a:r>
              <a:rPr lang="en-US" altLang="ja-JP" sz="1800" dirty="0"/>
              <a:t>()</a:t>
            </a:r>
          </a:p>
          <a:p>
            <a:r>
              <a:rPr lang="en-US" altLang="ja-JP" sz="1800" dirty="0" err="1"/>
              <a:t>plt.show</a:t>
            </a:r>
            <a:r>
              <a:rPr lang="en-US" altLang="ja-JP" sz="1800" dirty="0"/>
              <a:t>()</a:t>
            </a:r>
          </a:p>
          <a:p>
            <a:br>
              <a:rPr lang="en-US" altLang="ja-JP" sz="1800" dirty="0"/>
            </a:br>
            <a:endParaRPr lang="en-US" altLang="ja-JP" sz="1800" dirty="0"/>
          </a:p>
          <a:p>
            <a:r>
              <a:rPr lang="en-US" altLang="ja-JP" sz="1800" dirty="0"/>
              <a:t># </a:t>
            </a:r>
            <a:r>
              <a:rPr lang="ja-JP" altLang="en-US" sz="1800" dirty="0"/>
              <a:t>方向的中率計算</a:t>
            </a:r>
          </a:p>
          <a:p>
            <a:r>
              <a:rPr lang="en-US" altLang="ja-JP" sz="1800" dirty="0" err="1"/>
              <a:t>direction_acc</a:t>
            </a:r>
            <a:r>
              <a:rPr lang="en-US" altLang="ja-JP" sz="1800" dirty="0"/>
              <a:t> = </a:t>
            </a:r>
            <a:r>
              <a:rPr lang="en-US" altLang="ja-JP" sz="1800" dirty="0" err="1"/>
              <a:t>np.mean</a:t>
            </a:r>
            <a:r>
              <a:rPr lang="en-US" altLang="ja-JP" sz="1800" dirty="0"/>
              <a:t>(</a:t>
            </a:r>
            <a:r>
              <a:rPr lang="en-US" altLang="ja-JP" sz="1800" dirty="0" err="1"/>
              <a:t>np.sign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y_test_inv</a:t>
            </a:r>
            <a:r>
              <a:rPr lang="en-US" altLang="ja-JP" sz="1800" dirty="0"/>
              <a:t>[1:] - </a:t>
            </a:r>
            <a:r>
              <a:rPr lang="en-US" altLang="ja-JP" sz="1800" dirty="0" err="1"/>
              <a:t>y_test_inv</a:t>
            </a:r>
            <a:r>
              <a:rPr lang="en-US" altLang="ja-JP" sz="1800" dirty="0"/>
              <a:t>[:-1]) == </a:t>
            </a:r>
            <a:r>
              <a:rPr lang="en-US" altLang="ja-JP" sz="1800" dirty="0" err="1"/>
              <a:t>np.sign</a:t>
            </a:r>
            <a:r>
              <a:rPr lang="en-US" altLang="ja-JP" sz="1800" dirty="0"/>
              <a:t>(</a:t>
            </a:r>
            <a:r>
              <a:rPr lang="en-US" altLang="ja-JP" sz="1800" dirty="0" err="1"/>
              <a:t>y_pred</a:t>
            </a:r>
            <a:r>
              <a:rPr lang="en-US" altLang="ja-JP" sz="1800" dirty="0"/>
              <a:t>[1:] - </a:t>
            </a:r>
            <a:r>
              <a:rPr lang="en-US" altLang="ja-JP" sz="1800" dirty="0" err="1"/>
              <a:t>y_pred</a:t>
            </a:r>
            <a:r>
              <a:rPr lang="en-US" altLang="ja-JP" sz="1800" dirty="0"/>
              <a:t>[:-1]))</a:t>
            </a:r>
          </a:p>
          <a:p>
            <a:r>
              <a:rPr lang="en-US" altLang="ja-JP" sz="1800" dirty="0"/>
              <a:t>print(f"</a:t>
            </a:r>
            <a:r>
              <a:rPr lang="ja-JP" altLang="en-US" sz="1800" dirty="0"/>
              <a:t>方向的中率</a:t>
            </a:r>
            <a:r>
              <a:rPr lang="en-US" altLang="ja-JP" sz="1800" dirty="0"/>
              <a:t>: {direction_acc:.2%}")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4E720F-5CE1-9D13-71F6-2BEA0FCEC564}"/>
              </a:ext>
            </a:extLst>
          </p:cNvPr>
          <p:cNvSpPr txBox="1"/>
          <p:nvPr/>
        </p:nvSpPr>
        <p:spPr>
          <a:xfrm>
            <a:off x="279400" y="304860"/>
            <a:ext cx="873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0" b="1" u="sng" dirty="0">
                <a:latin typeface="+mj-lt"/>
                <a:ea typeface="+mj-ea"/>
                <a:cs typeface="Sanskrit Text" panose="020B0502040204020203" pitchFamily="18" charset="0"/>
              </a:rPr>
              <a:t>Code</a:t>
            </a:r>
            <a:endParaRPr lang="ja-JP" altLang="en-US" sz="6000" b="1" u="sng" dirty="0">
              <a:latin typeface="+mj-lt"/>
              <a:ea typeface="+mj-ea"/>
              <a:cs typeface="Sanskrit Text" panose="020B0502040204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36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A1E5B6-76F2-4BA9-D363-5CD74B7E908A}"/>
              </a:ext>
            </a:extLst>
          </p:cNvPr>
          <p:cNvSpPr txBox="1"/>
          <p:nvPr/>
        </p:nvSpPr>
        <p:spPr>
          <a:xfrm>
            <a:off x="1346200" y="2895600"/>
            <a:ext cx="149446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ja-JP" sz="2800" b="0" i="0" dirty="0">
                <a:effectLst/>
                <a:latin typeface="fkGroteskNeue"/>
              </a:rPr>
              <a:t>Hochreiter, S. &amp; </a:t>
            </a:r>
            <a:r>
              <a:rPr lang="en-US" altLang="ja-JP" sz="2800" b="0" i="0" dirty="0" err="1">
                <a:effectLst/>
                <a:latin typeface="fkGroteskNeue"/>
              </a:rPr>
              <a:t>Schmidhuber</a:t>
            </a:r>
            <a:r>
              <a:rPr lang="en-US" altLang="ja-JP" sz="2800" b="0" i="0" dirty="0">
                <a:effectLst/>
                <a:latin typeface="fkGroteskNeue"/>
              </a:rPr>
              <a:t>, J. (1997). </a:t>
            </a:r>
            <a:r>
              <a:rPr lang="en-US" altLang="ja-JP" sz="2800" b="0" i="1" dirty="0">
                <a:effectLst/>
                <a:latin typeface="fkGroteskNeue"/>
              </a:rPr>
              <a:t>Long Short-Term Memory</a:t>
            </a:r>
            <a:r>
              <a:rPr lang="en-US" altLang="ja-JP" sz="2800" b="0" i="0" dirty="0">
                <a:effectLst/>
                <a:latin typeface="fkGroteskNeue"/>
              </a:rPr>
              <a:t>. Neural Computation, 9(8), 1735–1780.</a:t>
            </a:r>
          </a:p>
          <a:p>
            <a:pPr algn="l">
              <a:buFont typeface="+mj-lt"/>
              <a:buAutoNum type="arabicPeriod"/>
            </a:pPr>
            <a:endParaRPr lang="en-US" altLang="ja-JP" sz="2800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US" altLang="ja-JP" sz="2800" b="0" i="0" dirty="0">
                <a:effectLst/>
                <a:latin typeface="fkGroteskNeue"/>
              </a:rPr>
              <a:t>Chollet, F. </a:t>
            </a:r>
            <a:r>
              <a:rPr lang="en-US" altLang="ja-JP" sz="2800" b="0" i="1" dirty="0">
                <a:effectLst/>
                <a:latin typeface="fkGroteskNeue"/>
              </a:rPr>
              <a:t>Deep Learning with Python.</a:t>
            </a:r>
            <a:r>
              <a:rPr lang="en-US" altLang="ja-JP" sz="2800" b="0" i="0" dirty="0">
                <a:effectLst/>
                <a:latin typeface="fkGroteskNeue"/>
              </a:rPr>
              <a:t> Manning Publications, 2018.</a:t>
            </a:r>
          </a:p>
          <a:p>
            <a:pPr algn="l">
              <a:buFont typeface="+mj-lt"/>
              <a:buAutoNum type="arabicPeriod"/>
            </a:pPr>
            <a:endParaRPr lang="en-US" altLang="ja-JP" sz="2800" b="0" i="0" dirty="0">
              <a:effectLst/>
              <a:latin typeface="fkGroteskNeue"/>
            </a:endParaRPr>
          </a:p>
          <a:p>
            <a:pPr algn="l">
              <a:buFont typeface="+mj-lt"/>
              <a:buAutoNum type="arabicPeriod"/>
            </a:pPr>
            <a:r>
              <a:rPr lang="en-US" altLang="ja-JP" sz="2800" b="0" i="0" dirty="0">
                <a:effectLst/>
                <a:latin typeface="fkGroteskNeue"/>
              </a:rPr>
              <a:t>Yahoo Finance API, </a:t>
            </a:r>
            <a:r>
              <a:rPr lang="en-US" altLang="ja-JP" sz="2800" b="0" i="0" dirty="0" err="1">
                <a:effectLst/>
                <a:latin typeface="fkGroteskNeue"/>
              </a:rPr>
              <a:t>yfinance</a:t>
            </a:r>
            <a:r>
              <a:rPr lang="en-US" altLang="ja-JP" sz="2800" b="0" i="0" dirty="0">
                <a:effectLst/>
                <a:latin typeface="fkGroteskNeue"/>
              </a:rPr>
              <a:t> Python library documentation.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2A4D74-99D4-EAE9-CEEF-2A16AC5E3C8B}"/>
              </a:ext>
            </a:extLst>
          </p:cNvPr>
          <p:cNvSpPr txBox="1"/>
          <p:nvPr/>
        </p:nvSpPr>
        <p:spPr>
          <a:xfrm>
            <a:off x="1346200" y="1371600"/>
            <a:ext cx="8734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55390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642</Words>
  <Application>Microsoft Office PowerPoint</Application>
  <PresentationFormat>ユーザー設定</PresentationFormat>
  <Paragraphs>68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fkGroteskNeue</vt:lpstr>
      <vt:lpstr>游ゴシック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E21_小宮惇寛_旭川</cp:lastModifiedBy>
  <cp:revision>2</cp:revision>
  <dcterms:created xsi:type="dcterms:W3CDTF">2026-02-01T15:13:37Z</dcterms:created>
  <dcterms:modified xsi:type="dcterms:W3CDTF">2026-02-01T17:03:54Z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LastSaved">
    <vt:filetime>2026-02-01T00:00:00Z</vt:filetime>
  </property>
  <property fmtid="{D5CDD505-2E9C-101B-9397-08002B2CF9AE}" pid="4" name="Producer">
    <vt:lpwstr>3-Heights(TM) PDF Security Shell 4.8.25.2 (http://www.pdf-tools.com)</vt:lpwstr>
  </property>
</Properties>
</file>